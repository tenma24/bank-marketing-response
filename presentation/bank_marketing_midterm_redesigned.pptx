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3d45e171c0f4d1d" /><Relationship Type="http://schemas.openxmlformats.org/officeDocument/2006/relationships/extended-properties" Target="/docProps/app.xml" Id="Ra634c4c6985b4a4f" /><Relationship Type="http://schemas.openxmlformats.org/officeDocument/2006/relationships/officeDocument" Target="/ppt/presentation.xml" Id="R2d830e7863ea4e50" /></Relationships>
</file>

<file path=ppt/presentation.xml><?xml version="1.0" encoding="utf-8"?>
<p:presentation xmlns:p="http://schemas.openxmlformats.org/presentationml/2006/main">
  <p:sldMasterIdLst>
    <p:sldMasterId xmlns:r="http://schemas.openxmlformats.org/officeDocument/2006/relationships" id="2147483648" r:id="Rb00652fb434c44d1"/>
  </p:sldMasterIdLst>
  <p:notesMasterIdLst>
    <p:notesMasterId xmlns:r="http://schemas.openxmlformats.org/officeDocument/2006/relationships" r:id="R37eb0140ebc442b0"/>
  </p:notesMasterIdLst>
  <p:sldIdLst>
    <p:sldId xmlns:r="http://schemas.openxmlformats.org/officeDocument/2006/relationships" id="256" r:id="R8caa4580ca6b4bce"/>
    <p:sldId xmlns:r="http://schemas.openxmlformats.org/officeDocument/2006/relationships" id="257" r:id="Ra25053e8728b44db"/>
    <p:sldId xmlns:r="http://schemas.openxmlformats.org/officeDocument/2006/relationships" id="258" r:id="Raaa906ebc207448c"/>
    <p:sldId xmlns:r="http://schemas.openxmlformats.org/officeDocument/2006/relationships" id="259" r:id="R2a7e18fa9cc943ba"/>
    <p:sldId xmlns:r="http://schemas.openxmlformats.org/officeDocument/2006/relationships" id="260" r:id="R7d33539a86584ffe"/>
    <p:sldId xmlns:r="http://schemas.openxmlformats.org/officeDocument/2006/relationships" id="261" r:id="R933a6c755d804289"/>
    <p:sldId xmlns:r="http://schemas.openxmlformats.org/officeDocument/2006/relationships" id="262" r:id="Rfe25772853b845b6"/>
    <p:sldId xmlns:r="http://schemas.openxmlformats.org/officeDocument/2006/relationships" id="263" r:id="R22d0124717a1488a"/>
    <p:sldId xmlns:r="http://schemas.openxmlformats.org/officeDocument/2006/relationships" id="264" r:id="R884f66edf1c64a2a"/>
    <p:sldId xmlns:r="http://schemas.openxmlformats.org/officeDocument/2006/relationships" id="265" r:id="R5757ed0b4f7041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c1ed66a6ce4c08" /><Relationship Type="http://schemas.openxmlformats.org/officeDocument/2006/relationships/slideMaster" Target="/ppt/slideMasters/slideMaster1.xml" Id="Rb00652fb434c44d1" /><Relationship Type="http://schemas.openxmlformats.org/officeDocument/2006/relationships/notesMaster" Target="/ppt/notesMasters/notesMaster1.xml" Id="R37eb0140ebc442b0" /><Relationship Type="http://schemas.openxmlformats.org/officeDocument/2006/relationships/presProps" Target="/ppt/presProps.xml" Id="Ra47ed0254d1446bf" /><Relationship Type="http://schemas.openxmlformats.org/officeDocument/2006/relationships/tableStyles" Target="/ppt/tableStyles.xml" Id="R589377482b324938" /><Relationship Type="http://schemas.openxmlformats.org/officeDocument/2006/relationships/slide" Target="/ppt/slides/slide1.xml" Id="R8caa4580ca6b4bce" /><Relationship Type="http://schemas.openxmlformats.org/officeDocument/2006/relationships/slide" Target="/ppt/slides/slide2.xml" Id="Ra25053e8728b44db" /><Relationship Type="http://schemas.openxmlformats.org/officeDocument/2006/relationships/slide" Target="/ppt/slides/slide3.xml" Id="Raaa906ebc207448c" /><Relationship Type="http://schemas.openxmlformats.org/officeDocument/2006/relationships/slide" Target="/ppt/slides/slide4.xml" Id="R2a7e18fa9cc943ba" /><Relationship Type="http://schemas.openxmlformats.org/officeDocument/2006/relationships/slide" Target="/ppt/slides/slide5.xml" Id="R7d33539a86584ffe" /><Relationship Type="http://schemas.openxmlformats.org/officeDocument/2006/relationships/slide" Target="/ppt/slides/slide6.xml" Id="R933a6c755d804289" /><Relationship Type="http://schemas.openxmlformats.org/officeDocument/2006/relationships/slide" Target="/ppt/slides/slide7.xml" Id="Rfe25772853b845b6" /><Relationship Type="http://schemas.openxmlformats.org/officeDocument/2006/relationships/slide" Target="/ppt/slides/slide8.xml" Id="R22d0124717a1488a" /><Relationship Type="http://schemas.openxmlformats.org/officeDocument/2006/relationships/slide" Target="/ppt/slides/slide9.xml" Id="R884f66edf1c64a2a" /><Relationship Type="http://schemas.openxmlformats.org/officeDocument/2006/relationships/slide" Target="/ppt/slides/slide10.xml" Id="R5757ed0b4f7041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a75428373f49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eec33a602a4360" /><Relationship Type="http://schemas.openxmlformats.org/officeDocument/2006/relationships/notesMaster" Target="/ppt/notesMasters/notesMaster1.xml" Id="Rccbbded2ff5f4a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02e9e992d74941" /><Relationship Type="http://schemas.openxmlformats.org/officeDocument/2006/relationships/notesMaster" Target="/ppt/notesMasters/notesMaster1.xml" Id="Rb7ac6840f07043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a52f7ab3d24d5c" /><Relationship Type="http://schemas.openxmlformats.org/officeDocument/2006/relationships/notesMaster" Target="/ppt/notesMasters/notesMaster1.xml" Id="Re05ed896939c4d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39853b89914d6e" /><Relationship Type="http://schemas.openxmlformats.org/officeDocument/2006/relationships/notesMaster" Target="/ppt/notesMasters/notesMaster1.xml" Id="Rbcaa6d04c1fc42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b66e8ef3de4cee" /><Relationship Type="http://schemas.openxmlformats.org/officeDocument/2006/relationships/notesMaster" Target="/ppt/notesMasters/notesMaster1.xml" Id="R38b94c90458647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7464434e594e9f" /><Relationship Type="http://schemas.openxmlformats.org/officeDocument/2006/relationships/notesMaster" Target="/ppt/notesMasters/notesMaster1.xml" Id="R109af99bb37546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c4f43ea83d466b" /><Relationship Type="http://schemas.openxmlformats.org/officeDocument/2006/relationships/notesMaster" Target="/ppt/notesMasters/notesMaster1.xml" Id="R233b10370ee340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63359317a64ab6" /><Relationship Type="http://schemas.openxmlformats.org/officeDocument/2006/relationships/notesMaster" Target="/ppt/notesMasters/notesMaster1.xml" Id="R07bbd6cae58946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60aefe3d184ead" /><Relationship Type="http://schemas.openxmlformats.org/officeDocument/2006/relationships/notesMaster" Target="/ppt/notesMasters/notesMaster1.xml" Id="Ra6b92b9cb5db40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d3ad74b2d84a0a" /><Relationship Type="http://schemas.openxmlformats.org/officeDocument/2006/relationships/notesMaster" Target="/ppt/notesMasters/notesMaster1.xml" Id="Rc11fab79cb3945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Nurlan Ramazan | 40 seconds</a:t>
            </a:r>
          </a:p>
          <a:p xmlns:a="http://schemas.openxmlformats.org/drawingml/2006/main">
            <a:r>
              <a:t/>
            </a:r>
          </a:p>
          <a:p xmlns:a="http://schemas.openxmlformats.org/drawingml/2006/main">
            <a:r>
              <a:t>Our project studies bank marketing response. The question is whether information available before a scheduled phone call can help predict a term-deposit subscription. We use a binary target: yes means the client subscribed, and no means the client did not. The potential use is to prioritize contacts, but this project evaluates prediction rather than the causal benefit of calling. We compare a simple baseline with three algorithms from the course and select candidates using F1 for the positive class.</a:t>
            </a:r>
          </a:p>
          <a:p xmlns:a="http://schemas.openxmlformats.org/drawingml/2006/main">
            <a:r>
              <a:t/>
            </a:r>
          </a:p>
          <a:p xmlns:a="http://schemas.openxmlformats.org/drawingml/2006/main">
            <a:r>
              <a:t>Sources:</a:t>
            </a:r>
          </a:p>
          <a:p xmlns:a="http://schemas.openxmlformats.org/drawingml/2006/main">
            <a:r>
              <a:t>https://github.com/Tenma24/bank-marketing-response</a:t>
            </a:r>
          </a:p>
          <a:p xmlns:a="http://schemas.openxmlformats.org/drawingml/2006/main">
            <a:r>
              <a:t>https://github.com/Tenma24/bank-marketing-response/blob/main/notebooks/bank_marketing.ipynb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Nurlan Ramazan | 55 seconds</a:t>
            </a:r>
          </a:p>
          <a:p xmlns:a="http://schemas.openxmlformats.org/drawingml/2006/main">
            <a:r>
              <a:t/>
            </a:r>
          </a:p>
          <a:p xmlns:a="http://schemas.openxmlformats.org/drawingml/2006/main">
            <a:r>
              <a:t>The source is the official UCI Bank Marketing dataset. We use the additional-full version, which has 41,188 historical records, 20 original inputs and the response target. We preserve the source file and its license information. The chart uses only the training partition. There are 21,929 negative records and 2,784 positive records, so just 11.27 percent are subscriptions. A model that always answers no looks good on accuracy but identifies no subscribers. That is why positive-class F1, precision and recall matter. Rows are campaign observations, and the lack of client IDs limits our ability to prove independence between clients.</a:t>
            </a:r>
          </a:p>
          <a:p xmlns:a="http://schemas.openxmlformats.org/drawingml/2006/main">
            <a:r>
              <a:t/>
            </a:r>
          </a:p>
          <a:p xmlns:a="http://schemas.openxmlformats.org/drawingml/2006/main">
            <a:r>
              <a:t>Sources:</a:t>
            </a:r>
          </a:p>
          <a:p xmlns:a="http://schemas.openxmlformats.org/drawingml/2006/main">
            <a:r>
              <a:t>https://archive.ics.uci.edu/dataset/222/bank+marketing</a:t>
            </a:r>
          </a:p>
          <a:p xmlns:a="http://schemas.openxmlformats.org/drawingml/2006/main">
            <a:r>
              <a:t>https://doi.org/10.24432/C5K306</a:t>
            </a:r>
          </a:p>
          <a:p xmlns:a="http://schemas.openxmlformats.org/drawingml/2006/main">
            <a:r>
              <a:t>https://github.com/Tenma24/bank-marketing-response/blob/main/data/README.md</a:t>
            </a:r>
          </a:p>
          <a:p xmlns:a="http://schemas.openxmlformats.org/drawingml/2006/main">
            <a:r>
              <a:t>https://github.com/Tenma24/bank-marketing-response/blob/main/results/split_manifest.csv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Nurlan Ramazan | 75 seconds</a:t>
            </a:r>
          </a:p>
          <a:p xmlns:a="http://schemas.openxmlformats.org/drawingml/2006/main">
            <a:r>
              <a:t/>
            </a:r>
          </a:p>
          <a:p xmlns:a="http://schemas.openxmlformats.org/drawingml/2006/main">
            <a:r>
              <a:t>These two charts examine client characteristics using training data only. The age chart shows the fraction of each class within ten-year age bands. Normalizing each class separately makes the smaller positive class visible. The distributions overlap, so age alone is insufficient. The occupation chart shows response rates and group sizes in parentheses. Students have an observed response rate of 31.8 percent, while blue-collar clients have 6.9 percent. The student group is much smaller, with 519 observations compared with 5,510. These associations may reflect the bank’s campaign selection and other correlated attributes. We should not interpret them as proof that occupation or age causes a subscription, or that the pattern will hold in future campaigns.</a:t>
            </a:r>
          </a:p>
          <a:p xmlns:a="http://schemas.openxmlformats.org/drawingml/2006/main">
            <a:r>
              <a:t/>
            </a:r>
          </a:p>
          <a:p xmlns:a="http://schemas.openxmlformats.org/drawingml/2006/main">
            <a:r>
              <a:t>Sources:</a:t>
            </a:r>
          </a:p>
          <a:p xmlns:a="http://schemas.openxmlformats.org/drawingml/2006/main">
            <a:r>
              <a:t>https://github.com/Tenma24/bank-marketing-response/blob/main/results/eda_job_rates.csv</a:t>
            </a:r>
          </a:p>
          <a:p xmlns:a="http://schemas.openxmlformats.org/drawingml/2006/main">
            <a:r>
              <a:t>https://github.com/Tenma24/bank-marketing-response/blob/main/data/raw/bank-additional-full.csv</a:t>
            </a:r>
          </a:p>
          <a:p xmlns:a="http://schemas.openxmlformats.org/drawingml/2006/main">
            <a:r>
              <a:t>https://github.com/Tenma24/bank-marketing-response/blob/main/results/split_manifest.csv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Nurlan Ramazan | 70 seconds</a:t>
            </a:r>
          </a:p>
          <a:p xmlns:a="http://schemas.openxmlformats.org/drawingml/2006/main">
            <a:r>
              <a:t/>
            </a:r>
          </a:p>
          <a:p xmlns:a="http://schemas.openxmlformats.org/drawingml/2006/main">
            <a:r>
              <a:t>The fourth and fifth exploratory plots describe campaign history. Clients with a successful previous campaign have a response rate of 65 percent in training, compared with 8.9 percent when there is no previous campaign outcome. Because this refers to a prior campaign, it precedes the current target. The contact-count chart shows a lower observed response rate for records with many attempts: 12.9 percent for the first recorded contact and 5.6 percent for six or more. Repeated attempts may follow previous non-response, so this does not demonstrate that making another call reduces interest. The plotted count includes the current call. In preprocessing, we subtract that call to represent the number of earlier contacts available beforehand.</a:t>
            </a:r>
          </a:p>
          <a:p xmlns:a="http://schemas.openxmlformats.org/drawingml/2006/main">
            <a:r>
              <a:t/>
            </a:r>
          </a:p>
          <a:p xmlns:a="http://schemas.openxmlformats.org/drawingml/2006/main">
            <a:r>
              <a:t>Sources:</a:t>
            </a:r>
          </a:p>
          <a:p xmlns:a="http://schemas.openxmlformats.org/drawingml/2006/main">
            <a:r>
              <a:t>https://github.com/Tenma24/bank-marketing-response/blob/main/results/eda_previous_campaign_rates.csv</a:t>
            </a:r>
          </a:p>
          <a:p xmlns:a="http://schemas.openxmlformats.org/drawingml/2006/main">
            <a:r>
              <a:t>https://github.com/Tenma24/bank-marketing-response/blob/main/results/eda_campaign_rates.csv</a:t>
            </a:r>
          </a:p>
          <a:p xmlns:a="http://schemas.openxmlformats.org/drawingml/2006/main">
            <a:r>
              <a:t>https://github.com/Tenma24/bank-marketing-response/blob/main/data/raw/bank-additional-names.txt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Nurlan Ramazan | 60 seconds</a:t>
            </a:r>
          </a:p>
          <a:p xmlns:a="http://schemas.openxmlformats.org/drawingml/2006/main">
            <a:r>
              <a:t/>
            </a:r>
          </a:p>
          <a:p xmlns:a="http://schemas.openxmlformats.org/drawingml/2006/main">
            <a:r>
              <a:t>We document data checks and use a reproducible preprocessing pipeline. The most important decision is removing duration because the length of the call is unknown before it occurs. Unknown categories remain explicit rather than causing us to discard records. A pdays value of 999 means no previous contact, so we create an indicator and impute the interval using training data. One-hot encoding handles categories, and we transform contact counts. KNN and SVM also receive scaled numeric variables. The dataset contains 12 exact repeated rows. Without record identifiers we cannot prove they are mistakes, so we retain them but keep identical predictor profiles in one partition. All learned preprocessing is fitted separately inside each CV training fold.</a:t>
            </a:r>
          </a:p>
          <a:p xmlns:a="http://schemas.openxmlformats.org/drawingml/2006/main">
            <a:r>
              <a:t/>
            </a:r>
          </a:p>
          <a:p xmlns:a="http://schemas.openxmlformats.org/drawingml/2006/main">
            <a:r>
              <a:t>Sources:</a:t>
            </a:r>
          </a:p>
          <a:p xmlns:a="http://schemas.openxmlformats.org/drawingml/2006/main">
            <a:r>
              <a:t>https://github.com/Tenma24/bank-marketing-response/blob/main/results/training_data_quality.csv</a:t>
            </a:r>
          </a:p>
          <a:p xmlns:a="http://schemas.openxmlformats.org/drawingml/2006/main">
            <a:r>
              <a:t>https://github.com/Tenma24/bank-marketing-response/blob/main/src/bank_marketing.py</a:t>
            </a:r>
          </a:p>
          <a:p xmlns:a="http://schemas.openxmlformats.org/drawingml/2006/main">
            <a:r>
              <a:t>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Araizhan Tazhimova | 60 seconds</a:t>
            </a:r>
          </a:p>
          <a:p xmlns:a="http://schemas.openxmlformats.org/drawingml/2006/main">
            <a:r>
              <a:t/>
            </a:r>
          </a:p>
          <a:p xmlns:a="http://schemas.openxmlformats.org/drawingml/2006/main">
            <a:r>
              <a:t>The development process uses about 60 percent training, 20 percent validation and 20 percent reserved test data. We group identical predictor profiles before splitting, using the input features after removing duration. This matters because 2,021 predictor rows repeat after that exclusion. The same grouping also applies inside cross-validation. Hyperparameters are selected using five training folds and positive-class F1, while validation compares the selected candidates. We do not score the test partition at midterm. There are two important limitations: clients with changed attributes cannot be linked without IDs, and random splitting mixes historical periods. Therefore our reported results describe a historical random benchmark rather than a forecast of future campaigns.</a:t>
            </a:r>
          </a:p>
          <a:p xmlns:a="http://schemas.openxmlformats.org/drawingml/2006/main">
            <a:r>
              <a:t/>
            </a:r>
          </a:p>
          <a:p xmlns:a="http://schemas.openxmlformats.org/drawingml/2006/main">
            <a:r>
              <a:t>Sources:</a:t>
            </a:r>
          </a:p>
          <a:p xmlns:a="http://schemas.openxmlformats.org/drawingml/2006/main">
            <a:r>
              <a:t>https://github.com/Tenma24/bank-marketing-response/blob/main/results/split_summary.csv</a:t>
            </a:r>
          </a:p>
          <a:p xmlns:a="http://schemas.openxmlformats.org/drawingml/2006/main">
            <a:r>
              <a:t>https://github.com/Tenma24/bank-marketing-response/blob/main/results/cv_fold_manifest.csv</a:t>
            </a:r>
          </a:p>
          <a:p xmlns:a="http://schemas.openxmlformats.org/drawingml/2006/main">
            <a:r>
              <a:t>https://github.com/Tenma24/bank-marketing-response/blob/main/results/summary.json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Araizhan Tazhimova | 65 seconds</a:t>
            </a:r>
          </a:p>
          <a:p xmlns:a="http://schemas.openxmlformats.org/drawingml/2006/main">
            <a:r>
              <a:t/>
            </a:r>
          </a:p>
          <a:p xmlns:a="http://schemas.openxmlformats.org/drawingml/2006/main">
            <a:r>
              <a:t>Our baseline always predicts the majority class. We then compare three course algorithms: a decision tree, K-nearest neighbours and a linear support vector machine. The tree search tests twelve combinations, and KNN and SVM each test six. Each candidate uses the same five training folds. The selected tree has depth ten, a minimum leaf size of twenty and balanced class weights. KNN uses fifteen neighbours with distance weighting. Linear SVM uses C equal to one and balanced weights. Their selected mean CV F1 scores are approximately 0.446, 0.354 and 0.448. The standard deviations describe variation between folds rather than confidence intervals. Since we select hyperparameters on these scores, they contain some selection optimism.</a:t>
            </a:r>
          </a:p>
          <a:p xmlns:a="http://schemas.openxmlformats.org/drawingml/2006/main">
            <a:r>
              <a:t/>
            </a:r>
          </a:p>
          <a:p xmlns:a="http://schemas.openxmlformats.org/drawingml/2006/main">
            <a:r>
              <a:t>Sources:</a:t>
            </a:r>
          </a:p>
          <a:p xmlns:a="http://schemas.openxmlformats.org/drawingml/2006/main">
            <a:r>
              <a:t>https://github.com/Tenma24/bank-marketing-response/blob/main/results/best_parameters.json</a:t>
            </a:r>
          </a:p>
          <a:p xmlns:a="http://schemas.openxmlformats.org/drawingml/2006/main">
            <a:r>
              <a:t>https://github.com/Tenma24/bank-marketing-response/blob/main/results/cv_summary.csv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Araizhan Tazhimova | 70 seconds</a:t>
            </a:r>
          </a:p>
          <a:p xmlns:a="http://schemas.openxmlformats.org/drawingml/2006/main">
            <a:r>
              <a:t/>
            </a:r>
          </a:p>
          <a:p xmlns:a="http://schemas.openxmlformats.org/drawingml/2006/main">
            <a:r>
              <a:t>This table compares all candidates on validation data that were not used to fit their parameters. We selected positive-class F1 before comparing the models. Decision Tree has F1 of 0.450, Linear SVM 0.448, KNN 0.373 and the majority baseline zero. The gap between the tree and SVM is only about 0.002, so we cannot claim a meaningful superiority. Linear SVM actually performs better on ROC-AUC and average precision, which evaluate the continuous ranking scores. KNN has higher precision but much lower recall. Average precision, abbreviated AP, is not the trapezoidal area under the precision-recall curve. Finally, we use validation to choose the candidate, so these results are not an unbiased final test estimate.</a:t>
            </a:r>
          </a:p>
          <a:p xmlns:a="http://schemas.openxmlformats.org/drawingml/2006/main">
            <a:r>
              <a:t/>
            </a:r>
          </a:p>
          <a:p xmlns:a="http://schemas.openxmlformats.org/drawingml/2006/main">
            <a:r>
              <a:t>Sources:</a:t>
            </a:r>
          </a:p>
          <a:p xmlns:a="http://schemas.openxmlformats.org/drawingml/2006/main">
            <a:r>
              <a:t>https://github.com/Tenma24/bank-marketing-response/blob/main/results/metrics.csv</a:t>
            </a:r>
          </a:p>
          <a:p xmlns:a="http://schemas.openxmlformats.org/drawingml/2006/main">
            <a:r>
              <a:t>https://github.com/Tenma24/bank-marketing-response/blob/main/results/validation_predictions.csv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Araizhan Tazhimova | 65 seconds</a:t>
            </a:r>
          </a:p>
          <a:p xmlns:a="http://schemas.openxmlformats.org/drawingml/2006/main">
            <a:r>
              <a:t/>
            </a:r>
          </a:p>
          <a:p xmlns:a="http://schemas.openxmlformats.org/drawingml/2006/main">
            <a:r>
              <a:t>The selected tree identifies 577 actual subscriptions and misses 351. It also predicts a subscription for 1,059 records whose actual outcome is no. This gives recall of 62.2 percent and precision of 35.3 percent. In a targeting scenario, false negatives represent missed positive cases, while false positives can mean unproductive contacts. We have no measured call cost or incremental profit, so we do not claim a financially optimal decision threshold. We also inspect train-versus-validation gaps. KNN has training F1 near 0.972 but validation F1 near 0.373. Its in-sample queries include their own neighbours, so that training score is particularly optimistic. These diagnostics motivate additional validation and threshold analysis at the final stage.</a:t>
            </a:r>
          </a:p>
          <a:p xmlns:a="http://schemas.openxmlformats.org/drawingml/2006/main">
            <a:r>
              <a:t/>
            </a:r>
          </a:p>
          <a:p xmlns:a="http://schemas.openxmlformats.org/drawingml/2006/main">
            <a:r>
              <a:t>Sources:</a:t>
            </a:r>
          </a:p>
          <a:p xmlns:a="http://schemas.openxmlformats.org/drawingml/2006/main">
            <a:r>
              <a:t>https://github.com/Tenma24/bank-marketing-response/blob/main/results/summary.json</a:t>
            </a:r>
          </a:p>
          <a:p xmlns:a="http://schemas.openxmlformats.org/drawingml/2006/main">
            <a:r>
              <a:t>https://github.com/Tenma24/bank-marketing-response/blob/main/results/generalization_gap.csv</a:t>
            </a:r>
          </a:p>
          <a:p xmlns:a="http://schemas.openxmlformats.org/drawingml/2006/main">
            <a:r>
              <a:t>https://github.com/Tenma24/bank-marketing-response/blob/main/results/validation_subgroup_errors.csv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Araizhan Tazhimova | 40 seconds</a:t>
            </a:r>
          </a:p>
          <a:p xmlns:a="http://schemas.openxmlformats.org/drawingml/2006/main">
            <a:r>
              <a:t/>
            </a:r>
          </a:p>
          <a:p xmlns:a="http://schemas.openxmlformats.org/drawingml/2006/main">
            <a:r>
              <a:t>Our conclusion is that the lecture models improve positive-class F1 over a majority baseline without using call duration. Decision Tree and Linear SVM are very close, so we retain both as plausible candidates. This result remains limited to historical data and a grouped random evaluation. For the final stage, we plan to check temporal stability and feature availability, investigate decision thresholds using development data, and freeze the specification before evaluating the reserved test. The repository contains the full notebook, data documentation and all reported results. Thank you. We are ready for questions.</a:t>
            </a:r>
          </a:p>
          <a:p xmlns:a="http://schemas.openxmlformats.org/drawingml/2006/main">
            <a:r>
              <a:t/>
            </a:r>
          </a:p>
          <a:p xmlns:a="http://schemas.openxmlformats.org/drawingml/2006/main">
            <a:r>
              <a:t>Sources:</a:t>
            </a:r>
          </a:p>
          <a:p xmlns:a="http://schemas.openxmlformats.org/drawingml/2006/main">
            <a:r>
              <a:t>https://github.com/Tenma24/bank-marketing-response/blob/main/docs/FINAL_STAGE_PLAN.md</a:t>
            </a:r>
          </a:p>
          <a:p xmlns:a="http://schemas.openxmlformats.org/drawingml/2006/main">
            <a:r>
              <a:t>https://github.com/Tenma24/bank-marketing-response/blob/main/results/summary.json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d9d52bc6a249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7085632c614b1f" /><Relationship Type="http://schemas.openxmlformats.org/officeDocument/2006/relationships/slideLayout" Target="/ppt/slideLayouts/slideLayout1.xml" Id="Refe16ae9f2344d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e16ae9f2344d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5fcad2196a4d43" /><Relationship Type="http://schemas.openxmlformats.org/officeDocument/2006/relationships/image" Target="/ppt/media/image.png" Id="R66d7f4a3c4bf46ec" /><Relationship Type="http://schemas.openxmlformats.org/officeDocument/2006/relationships/notesSlide" Target="/ppt/notesSlides/notesSlide1.xml" Id="R017ac4e24fb642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3ef1afc93e4641" /><Relationship Type="http://schemas.openxmlformats.org/officeDocument/2006/relationships/chart" Target="/ppt/slides/charts/chart1.xml" Id="Rcef4e6671e2144d2" /><Relationship Type="http://schemas.openxmlformats.org/officeDocument/2006/relationships/notesSlide" Target="/ppt/notesSlides/notesSlide2.xml" Id="Ra0445fdda83045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21ba4f80b943e7" /><Relationship Type="http://schemas.openxmlformats.org/officeDocument/2006/relationships/chart" Target="/ppt/slides/charts/chart2.xml" Id="Rb3cbcd526d88471d" /><Relationship Type="http://schemas.openxmlformats.org/officeDocument/2006/relationships/chart" Target="/ppt/slides/charts/chart3.xml" Id="Raf14627eb8bb44c3" /><Relationship Type="http://schemas.openxmlformats.org/officeDocument/2006/relationships/notesSlide" Target="/ppt/notesSlides/notesSlide3.xml" Id="R736a94b4aa844f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c6b2027e77412c" /><Relationship Type="http://schemas.openxmlformats.org/officeDocument/2006/relationships/chart" Target="/ppt/slides/charts/chart4.xml" Id="R0bca27ad2fe04eaa" /><Relationship Type="http://schemas.openxmlformats.org/officeDocument/2006/relationships/chart" Target="/ppt/slides/charts/chart5.xml" Id="Rc067097a41b44b50" /><Relationship Type="http://schemas.openxmlformats.org/officeDocument/2006/relationships/notesSlide" Target="/ppt/notesSlides/notesSlide4.xml" Id="R7ca2a6a8198842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23771548244b70" /><Relationship Type="http://schemas.openxmlformats.org/officeDocument/2006/relationships/notesSlide" Target="/ppt/notesSlides/notesSlide5.xml" Id="R17001cc121a642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f1ab5c1fb12489f" /><Relationship Type="http://schemas.openxmlformats.org/officeDocument/2006/relationships/notesSlide" Target="/ppt/notesSlides/notesSlide6.xml" Id="R621e6c440e9b4a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694695a0945404d" /><Relationship Type="http://schemas.openxmlformats.org/officeDocument/2006/relationships/notesSlide" Target="/ppt/notesSlides/notesSlide7.xml" Id="Rddee62dca00d4a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5554d8632b4c77" /><Relationship Type="http://schemas.openxmlformats.org/officeDocument/2006/relationships/notesSlide" Target="/ppt/notesSlides/notesSlide8.xml" Id="Ra644338838e04f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6719fc900b45e0" /><Relationship Type="http://schemas.openxmlformats.org/officeDocument/2006/relationships/notesSlide" Target="/ppt/notesSlides/notesSlide9.xml" Id="R1fcb77cac15142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2c1b6fe2e24332" /><Relationship Type="http://schemas.openxmlformats.org/officeDocument/2006/relationships/notesSlide" Target="/ppt/notesSlides/notesSlide10.xml" Id="Rc197ff424f5b4e3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3D31"/>
                </a:solidFill>
                <a:latin typeface="Segoe UI"/>
                <a:ea typeface="Segoe UI"/>
                <a:cs typeface="Segoe UI"/>
              </a:rPr>
              <a:t>Training target distribution</a:t>
            </a:r>
          </a:p>
        </c:rich>
      </c:tx>
      <c:overlay val="0"/>
      <c:txPr>
        <a:bodyPr xmlns:a="http://schemas.openxmlformats.org/drawingml/2006/main" anchorCtr="1"/>
        <a:lstStyle xmlns:a="http://schemas.openxmlformats.org/drawingml/2006/main"/>
        <a:p xmlns:a="http://schemas.openxmlformats.org/drawingml/2006/main">
          <a:pPr>
            <a:defRPr sz="1875" b="1">
              <a:solidFill>
                <a:srgbClr val="173D31"/>
              </a:solidFill>
              <a:latin typeface="Segoe UI"/>
              <a:ea typeface="Segoe UI"/>
              <a:cs typeface="Segoe UI"/>
            </a:defRPr>
          </a:pPr>
        </a:p>
      </c:txPr>
    </c:title>
    <c:plotArea>
      <c:barChart>
        <c:barDir val="col"/>
        <c:grouping val="clustered"/>
        <c:varyColors val="0"/>
        <c:ser>
          <c:idx val="0"/>
          <c:order val="0"/>
          <c:tx>
            <c:v>Records</c:v>
          </c:tx>
          <c:spPr>
            <a:solidFill xmlns:a="http://schemas.openxmlformats.org/drawingml/2006/main">
              <a:srgbClr val="397D66"/>
            </a:solidFill>
          </c:spPr>
          <c:dPt>
            <c:idx val="0"/>
            <c:invertIfNegative val="0"/>
            <c:spPr>
              <a:solidFill xmlns:a="http://schemas.openxmlformats.org/drawingml/2006/main">
                <a:srgbClr val="AFBFB0"/>
              </a:solidFill>
            </c:spPr>
          </c:dPt>
          <c:dPt>
            <c:idx val="1"/>
            <c:invertIfNegative val="0"/>
            <c:spPr>
              <a:solidFill xmlns:a="http://schemas.openxmlformats.org/drawingml/2006/main">
                <a:srgbClr val="397D66"/>
              </a:solidFill>
            </c:spPr>
          </c:dPt>
          <c:cat>
            <c:strRef>
              <c:f>'Chart Data'!$A$2:$A$3</c:f>
              <c:strCache>
                <c:ptCount val="2"/>
                <c:pt idx="0">
                  <c:v>No deposit</c:v>
                </c:pt>
                <c:pt idx="1">
                  <c:v>Deposit</c:v>
                </c:pt>
              </c:strCache>
            </c:strRef>
          </c:cat>
          <c:val>
            <c:numRef>
              <c:f>'Chart Data'!$B$2:$B$3</c:f>
              <c:numCache>
                <c:formatCode>#,##0</c:formatCode>
                <c:ptCount val="2"/>
                <c:pt idx="0">
                  <c:v>21929</c:v>
                </c:pt>
                <c:pt idx="1">
                  <c:v>2784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73D31"/>
                  </a:solidFill>
                  <a:latin typeface="Segoe UI"/>
                  <a:ea typeface="Segoe UI"/>
                  <a:cs typeface="Segoe U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6668">
            <a:solidFill>
              <a:srgbClr val="DCE2D7"/>
            </a:solidFill>
          </a:ln>
        </c:spPr>
        <c:txPr>
          <a:bodyPr xmlns:a="http://schemas.openxmlformats.org/drawingml/2006/main" anchorCtr="1"/>
          <a:lstStyle xmlns:a="http://schemas.openxmlformats.org/drawingml/2006/main"/>
          <a:p xmlns:a="http://schemas.openxmlformats.org/drawingml/2006/main">
            <a:pPr>
              <a:defRPr sz="1350">
                <a:solidFill>
                  <a:srgbClr val="65786C"/>
                </a:solidFill>
                <a:latin typeface="Segoe UI"/>
                <a:ea typeface="Segoe UI"/>
                <a:cs typeface="Segoe UI"/>
              </a:defRPr>
            </a:pPr>
          </a:p>
        </c:txPr>
        <c:crossAx val="48672768"/>
      </c:catAx>
      <c:valAx>
        <c:axId val="48672768"/>
        <c:scaling>
          <c:orientation val="minMax"/>
          <c:max val="26000"/>
          <c:min val="0"/>
        </c:scaling>
        <c:delete val="0"/>
        <c:axPos val="l"/>
        <c:majorGridlines>
          <c:spPr>
            <a:ln xmlns:a="http://schemas.openxmlformats.org/drawingml/2006/main" w="6668">
              <a:solidFill>
                <a:srgbClr val="DCE2D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86C"/>
                </a:solidFill>
                <a:latin typeface="Segoe UI"/>
                <a:ea typeface="Segoe UI"/>
                <a:cs typeface="Segoe UI"/>
              </a:defRPr>
            </a:pPr>
          </a:p>
        </c:txPr>
        <c:crossAx val="48650112"/>
        <c:crossBetween val="between"/>
        <c:majorUnit val="5000"/>
      </c:valAx>
      <c:spPr>
        <a:solidFill xmlns:a="http://schemas.openxmlformats.org/drawingml/2006/main">
          <a:srgbClr val="F7F6F0"/>
        </a:solidFill>
      </c:spPr>
    </c:plotArea>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3D31"/>
                </a:solidFill>
                <a:latin typeface="Segoe UI"/>
                <a:ea typeface="Segoe UI"/>
                <a:cs typeface="Segoe UI"/>
              </a:rPr>
              <a:t>Age distribution within each class</a:t>
            </a:r>
          </a:p>
        </c:rich>
      </c:tx>
      <c:overlay val="0"/>
      <c:txPr>
        <a:bodyPr xmlns:a="http://schemas.openxmlformats.org/drawingml/2006/main" anchorCtr="1"/>
        <a:lstStyle xmlns:a="http://schemas.openxmlformats.org/drawingml/2006/main"/>
        <a:p xmlns:a="http://schemas.openxmlformats.org/drawingml/2006/main">
          <a:pPr>
            <a:defRPr sz="1875" b="1">
              <a:solidFill>
                <a:srgbClr val="173D31"/>
              </a:solidFill>
              <a:latin typeface="Segoe UI"/>
              <a:ea typeface="Segoe UI"/>
              <a:cs typeface="Segoe UI"/>
            </a:defRPr>
          </a:pPr>
        </a:p>
      </c:txPr>
    </c:title>
    <c:plotArea>
      <c:barChart>
        <c:barDir val="col"/>
        <c:grouping val="clustered"/>
        <c:varyColors val="0"/>
        <c:ser>
          <c:idx val="0"/>
          <c:order val="0"/>
          <c:tx>
            <c:v>No deposit</c:v>
          </c:tx>
          <c:spPr>
            <a:solidFill xmlns:a="http://schemas.openxmlformats.org/drawingml/2006/main">
              <a:srgbClr val="AFBFB0"/>
            </a:solidFill>
          </c:spPr>
          <c:cat>
            <c:strRef>
              <c:f>'Chart Data'!$A$2:$A$10</c:f>
              <c:strCache>
                <c:ptCount val="9"/>
                <c:pt idx="0">
                  <c:v>15-24</c:v>
                </c:pt>
                <c:pt idx="1">
                  <c:v>25-34</c:v>
                </c:pt>
                <c:pt idx="2">
                  <c:v>35-44</c:v>
                </c:pt>
                <c:pt idx="3">
                  <c:v>45-54</c:v>
                </c:pt>
                <c:pt idx="4">
                  <c:v>55-64</c:v>
                </c:pt>
                <c:pt idx="5">
                  <c:v>65-74</c:v>
                </c:pt>
                <c:pt idx="6">
                  <c:v>75-84</c:v>
                </c:pt>
                <c:pt idx="7">
                  <c:v>85-94</c:v>
                </c:pt>
                <c:pt idx="8">
                  <c:v>95+</c:v>
                </c:pt>
              </c:strCache>
            </c:strRef>
          </c:cat>
          <c:val>
            <c:numRef>
              <c:f>'Chart Data'!$B$2:$B$10</c:f>
              <c:numCache>
                <c:formatCode>0.0%</c:formatCode>
                <c:ptCount val="9"/>
                <c:pt idx="0">
                  <c:v>0.0224816453099</c:v>
                </c:pt>
                <c:pt idx="1">
                  <c:v>0.328241141867</c:v>
                </c:pt>
                <c:pt idx="2">
                  <c:v>0.339048748233</c:v>
                </c:pt>
                <c:pt idx="3">
                  <c:v>0.215650508459</c:v>
                </c:pt>
                <c:pt idx="4">
                  <c:v>0.0854120114916</c:v>
                </c:pt>
                <c:pt idx="5">
                  <c:v>0.00560901089881</c:v>
                </c:pt>
                <c:pt idx="6">
                  <c:v>0.00291850973597</c:v>
                </c:pt>
                <c:pt idx="7">
                  <c:v>0.000592822290118</c:v>
                </c:pt>
                <c:pt idx="8">
                  <c:v>4.56017146245E-05</c:v>
                </c:pt>
              </c:numCache>
            </c:numRef>
          </c:val>
        </c:ser>
        <c:ser>
          <c:idx val="1"/>
          <c:order val="1"/>
          <c:tx>
            <c:v>Deposit</c:v>
          </c:tx>
          <c:spPr>
            <a:solidFill xmlns:a="http://schemas.openxmlformats.org/drawingml/2006/main">
              <a:srgbClr val="397D66"/>
            </a:solidFill>
          </c:spPr>
          <c:cat>
            <c:strRef>
              <c:f>'Chart Data'!$C$2:$C$10</c:f>
              <c:strCache>
                <c:ptCount val="9"/>
                <c:pt idx="0">
                  <c:v>15-24</c:v>
                </c:pt>
                <c:pt idx="1">
                  <c:v>25-34</c:v>
                </c:pt>
                <c:pt idx="2">
                  <c:v>35-44</c:v>
                </c:pt>
                <c:pt idx="3">
                  <c:v>45-54</c:v>
                </c:pt>
                <c:pt idx="4">
                  <c:v>55-64</c:v>
                </c:pt>
                <c:pt idx="5">
                  <c:v>65-74</c:v>
                </c:pt>
                <c:pt idx="6">
                  <c:v>75-84</c:v>
                </c:pt>
                <c:pt idx="7">
                  <c:v>85-94</c:v>
                </c:pt>
                <c:pt idx="8">
                  <c:v>95+</c:v>
                </c:pt>
              </c:strCache>
            </c:strRef>
          </c:cat>
          <c:val>
            <c:numRef>
              <c:f>'Chart Data'!$D$2:$D$10</c:f>
              <c:numCache>
                <c:formatCode>0.0%</c:formatCode>
                <c:ptCount val="9"/>
                <c:pt idx="0">
                  <c:v>0.0531609195402</c:v>
                </c:pt>
                <c:pt idx="1">
                  <c:v>0.357399425287</c:v>
                </c:pt>
                <c:pt idx="2">
                  <c:v>0.253951149425</c:v>
                </c:pt>
                <c:pt idx="3">
                  <c:v>0.164152298851</c:v>
                </c:pt>
                <c:pt idx="4">
                  <c:v>0.101652298851</c:v>
                </c:pt>
                <c:pt idx="5">
                  <c:v>0.0369971264368</c:v>
                </c:pt>
                <c:pt idx="6">
                  <c:v>0.0251436781609</c:v>
                </c:pt>
                <c:pt idx="7">
                  <c:v>0.00718390804598</c:v>
                </c:pt>
                <c:pt idx="8">
                  <c:v>0.000359195402299</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73D31"/>
                  </a:solidFill>
                  <a:latin typeface="Segoe UI"/>
                  <a:ea typeface="Segoe UI"/>
                  <a:cs typeface="Segoe UI"/>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6668">
            <a:solidFill>
              <a:srgbClr val="DCE2D7"/>
            </a:solidFill>
          </a:ln>
        </c:spPr>
        <c:txPr>
          <a:bodyPr xmlns:a="http://schemas.openxmlformats.org/drawingml/2006/main" anchorCtr="1"/>
          <a:lstStyle xmlns:a="http://schemas.openxmlformats.org/drawingml/2006/main"/>
          <a:p xmlns:a="http://schemas.openxmlformats.org/drawingml/2006/main">
            <a:pPr>
              <a:defRPr sz="1350">
                <a:solidFill>
                  <a:srgbClr val="65786C"/>
                </a:solidFill>
                <a:latin typeface="Segoe UI"/>
                <a:ea typeface="Segoe UI"/>
                <a:cs typeface="Segoe UI"/>
              </a:defRPr>
            </a:pPr>
          </a:p>
        </c:txPr>
        <c:crossAx val="48672768"/>
      </c:catAx>
      <c:valAx>
        <c:axId val="48672768"/>
        <c:scaling>
          <c:orientation val="minMax"/>
          <c:max val="0.5"/>
          <c:min val="0"/>
        </c:scaling>
        <c:delete val="0"/>
        <c:axPos val="l"/>
        <c:majorGridlines>
          <c:spPr>
            <a:ln xmlns:a="http://schemas.openxmlformats.org/drawingml/2006/main" w="6668">
              <a:solidFill>
                <a:srgbClr val="DCE2D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86C"/>
                </a:solidFill>
                <a:latin typeface="Segoe UI"/>
                <a:ea typeface="Segoe UI"/>
                <a:cs typeface="Segoe UI"/>
              </a:defRPr>
            </a:pPr>
          </a:p>
        </c:txPr>
        <c:crossAx val="48650112"/>
        <c:crossBetween val="between"/>
        <c:majorUnit val="0.1"/>
      </c:valAx>
      <c:spPr>
        <a:solidFill xmlns:a="http://schemas.openxmlformats.org/drawingml/2006/main">
          <a:srgbClr val="F7F6F0"/>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73D31"/>
              </a:solidFill>
              <a:latin typeface="Segoe UI"/>
              <a:ea typeface="Segoe UI"/>
              <a:cs typeface="Segoe UI"/>
            </a:defRPr>
          </a:pPr>
        </a:p>
      </c:txPr>
    </c:legend>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3D31"/>
                </a:solidFill>
                <a:latin typeface="Segoe UI"/>
                <a:ea typeface="Segoe UI"/>
                <a:cs typeface="Segoe UI"/>
              </a:rPr>
              <a:t>Subscription rate by occupation</a:t>
            </a:r>
          </a:p>
        </c:rich>
      </c:tx>
      <c:overlay val="0"/>
      <c:txPr>
        <a:bodyPr xmlns:a="http://schemas.openxmlformats.org/drawingml/2006/main" anchorCtr="1"/>
        <a:lstStyle xmlns:a="http://schemas.openxmlformats.org/drawingml/2006/main"/>
        <a:p xmlns:a="http://schemas.openxmlformats.org/drawingml/2006/main">
          <a:pPr>
            <a:defRPr sz="1875" b="1">
              <a:solidFill>
                <a:srgbClr val="173D31"/>
              </a:solidFill>
              <a:latin typeface="Segoe UI"/>
              <a:ea typeface="Segoe UI"/>
              <a:cs typeface="Segoe UI"/>
            </a:defRPr>
          </a:pPr>
        </a:p>
      </c:txPr>
    </c:title>
    <c:plotArea>
      <c:barChart>
        <c:barDir val="bar"/>
        <c:grouping val="clustered"/>
        <c:varyColors val="0"/>
        <c:ser>
          <c:idx val="0"/>
          <c:order val="0"/>
          <c:tx>
            <c:v>Subscription rate</c:v>
          </c:tx>
          <c:spPr>
            <a:solidFill xmlns:a="http://schemas.openxmlformats.org/drawingml/2006/main">
              <a:srgbClr val="397D66"/>
            </a:solidFill>
          </c:spPr>
          <c:cat>
            <c:strRef>
              <c:f>'Chart Data'!$A$2:$A$13</c:f>
              <c:strCache>
                <c:ptCount val="12"/>
                <c:pt idx="0">
                  <c:v>student (519)</c:v>
                </c:pt>
                <c:pt idx="1">
                  <c:v>retired (1,036)</c:v>
                </c:pt>
                <c:pt idx="2">
                  <c:v>unemployed (613)</c:v>
                </c:pt>
                <c:pt idx="3">
                  <c:v>admin. (6,219)</c:v>
                </c:pt>
                <c:pt idx="4">
                  <c:v>management (1,776)</c:v>
                </c:pt>
                <c:pt idx="5">
                  <c:v>unknown (194)</c:v>
                </c:pt>
                <c:pt idx="6">
                  <c:v>technician (4,062)</c:v>
                </c:pt>
                <c:pt idx="7">
                  <c:v>housemaid (644)</c:v>
                </c:pt>
                <c:pt idx="8">
                  <c:v>self-employed (843)</c:v>
                </c:pt>
                <c:pt idx="9">
                  <c:v>entrepreneur (902)</c:v>
                </c:pt>
                <c:pt idx="10">
                  <c:v>services (2,395)</c:v>
                </c:pt>
                <c:pt idx="11">
                  <c:v>blue-collar (5,510)</c:v>
                </c:pt>
              </c:strCache>
            </c:strRef>
          </c:cat>
          <c:val>
            <c:numRef>
              <c:f>'Chart Data'!$B$2:$B$13</c:f>
              <c:numCache>
                <c:formatCode>0.0%</c:formatCode>
                <c:ptCount val="12"/>
                <c:pt idx="0">
                  <c:v>0.317919075145</c:v>
                </c:pt>
                <c:pt idx="1">
                  <c:v>0.250965250965</c:v>
                </c:pt>
                <c:pt idx="2">
                  <c:v>0.141924959217</c:v>
                </c:pt>
                <c:pt idx="3">
                  <c:v>0.13105000804</c:v>
                </c:pt>
                <c:pt idx="4">
                  <c:v>0.115427927928</c:v>
                </c:pt>
                <c:pt idx="5">
                  <c:v>0.10824742268</c:v>
                </c:pt>
                <c:pt idx="6">
                  <c:v>0.107336287543</c:v>
                </c:pt>
                <c:pt idx="7">
                  <c:v>0.105590062112</c:v>
                </c:pt>
                <c:pt idx="8">
                  <c:v>0.102016607355</c:v>
                </c:pt>
                <c:pt idx="9">
                  <c:v>0.0853658536585</c:v>
                </c:pt>
                <c:pt idx="10">
                  <c:v>0.0764091858038</c:v>
                </c:pt>
                <c:pt idx="11">
                  <c:v>0.0691470054446</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73D31"/>
                  </a:solidFill>
                  <a:latin typeface="Segoe UI"/>
                  <a:ea typeface="Segoe UI"/>
                  <a:cs typeface="Segoe UI"/>
                </a:defRPr>
              </a:pPr>
            </a:p>
          </c:txPr>
          <c:dLblPos val="outEnd"/>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6668">
            <a:solidFill>
              <a:srgbClr val="DCE2D7"/>
            </a:solidFill>
          </a:ln>
        </c:spPr>
        <c:txPr>
          <a:bodyPr xmlns:a="http://schemas.openxmlformats.org/drawingml/2006/main" anchorCtr="1"/>
          <a:lstStyle xmlns:a="http://schemas.openxmlformats.org/drawingml/2006/main"/>
          <a:p xmlns:a="http://schemas.openxmlformats.org/drawingml/2006/main">
            <a:pPr>
              <a:defRPr sz="1275">
                <a:solidFill>
                  <a:srgbClr val="65786C"/>
                </a:solidFill>
                <a:latin typeface="Segoe UI"/>
                <a:ea typeface="Segoe UI"/>
                <a:cs typeface="Segoe UI"/>
              </a:defRPr>
            </a:pPr>
          </a:p>
        </c:txPr>
        <c:crossAx val="48672768"/>
      </c:catAx>
      <c:valAx>
        <c:axId val="48672768"/>
        <c:scaling>
          <c:orientation val="minMax"/>
          <c:max val="0.4"/>
          <c:min val="0"/>
        </c:scaling>
        <c:delete val="0"/>
        <c:axPos val="b"/>
        <c:majorGridlines>
          <c:spPr>
            <a:ln xmlns:a="http://schemas.openxmlformats.org/drawingml/2006/main" w="6668">
              <a:solidFill>
                <a:srgbClr val="DCE2D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86C"/>
                </a:solidFill>
                <a:latin typeface="Segoe UI"/>
                <a:ea typeface="Segoe UI"/>
                <a:cs typeface="Segoe UI"/>
              </a:defRPr>
            </a:pPr>
          </a:p>
        </c:txPr>
        <c:crossAx val="48650112"/>
        <c:crossBetween val="between"/>
        <c:majorUnit val="0.1"/>
      </c:valAx>
      <c:spPr>
        <a:solidFill xmlns:a="http://schemas.openxmlformats.org/drawingml/2006/main">
          <a:srgbClr val="F7F6F0"/>
        </a:solidFill>
      </c:spPr>
    </c:plotArea>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3D31"/>
                </a:solidFill>
                <a:latin typeface="Segoe UI"/>
                <a:ea typeface="Segoe UI"/>
                <a:cs typeface="Segoe UI"/>
              </a:rPr>
              <a:t>Previous campaign outcome</a:t>
            </a:r>
          </a:p>
        </c:rich>
      </c:tx>
      <c:overlay val="0"/>
      <c:txPr>
        <a:bodyPr xmlns:a="http://schemas.openxmlformats.org/drawingml/2006/main" anchorCtr="1"/>
        <a:lstStyle xmlns:a="http://schemas.openxmlformats.org/drawingml/2006/main"/>
        <a:p xmlns:a="http://schemas.openxmlformats.org/drawingml/2006/main">
          <a:pPr>
            <a:defRPr sz="1875" b="1">
              <a:solidFill>
                <a:srgbClr val="173D31"/>
              </a:solidFill>
              <a:latin typeface="Segoe UI"/>
              <a:ea typeface="Segoe UI"/>
              <a:cs typeface="Segoe UI"/>
            </a:defRPr>
          </a:pPr>
        </a:p>
      </c:txPr>
    </c:title>
    <c:plotArea>
      <c:barChart>
        <c:barDir val="col"/>
        <c:grouping val="clustered"/>
        <c:varyColors val="0"/>
        <c:ser>
          <c:idx val="0"/>
          <c:order val="0"/>
          <c:tx>
            <c:v>Subscription rate</c:v>
          </c:tx>
          <c:spPr>
            <a:solidFill xmlns:a="http://schemas.openxmlformats.org/drawingml/2006/main">
              <a:srgbClr val="397D66"/>
            </a:solidFill>
          </c:spPr>
          <c:cat>
            <c:strRef>
              <c:f>'Chart Data'!$A$2:$A$4</c:f>
              <c:strCache>
                <c:ptCount val="3"/>
                <c:pt idx="0">
                  <c:v>nonexistent
(n=21,287)</c:v>
                </c:pt>
                <c:pt idx="1">
                  <c:v>failure
(n=2,594)</c:v>
                </c:pt>
                <c:pt idx="2">
                  <c:v>success
(n=832)</c:v>
                </c:pt>
              </c:strCache>
            </c:strRef>
          </c:cat>
          <c:val>
            <c:numRef>
              <c:f>'Chart Data'!$B$2:$B$4</c:f>
              <c:numCache>
                <c:formatCode>0.0%</c:formatCode>
                <c:ptCount val="3"/>
                <c:pt idx="0">
                  <c:v>0.0885516982196</c:v>
                </c:pt>
                <c:pt idx="1">
                  <c:v>0.13801079414</c:v>
                </c:pt>
                <c:pt idx="2">
                  <c:v>0.650240384615</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73D31"/>
                  </a:solidFill>
                  <a:latin typeface="Segoe UI"/>
                  <a:ea typeface="Segoe UI"/>
                  <a:cs typeface="Segoe U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6668">
            <a:solidFill>
              <a:srgbClr val="DCE2D7"/>
            </a:solidFill>
          </a:ln>
        </c:spPr>
        <c:txPr>
          <a:bodyPr xmlns:a="http://schemas.openxmlformats.org/drawingml/2006/main" anchorCtr="1"/>
          <a:lstStyle xmlns:a="http://schemas.openxmlformats.org/drawingml/2006/main"/>
          <a:p xmlns:a="http://schemas.openxmlformats.org/drawingml/2006/main">
            <a:pPr>
              <a:defRPr sz="1350">
                <a:solidFill>
                  <a:srgbClr val="65786C"/>
                </a:solidFill>
                <a:latin typeface="Segoe UI"/>
                <a:ea typeface="Segoe UI"/>
                <a:cs typeface="Segoe UI"/>
              </a:defRPr>
            </a:pPr>
          </a:p>
        </c:txPr>
        <c:crossAx val="48672768"/>
      </c:catAx>
      <c:valAx>
        <c:axId val="48672768"/>
        <c:scaling>
          <c:orientation val="minMax"/>
          <c:max val="0.8"/>
          <c:min val="0"/>
        </c:scaling>
        <c:delete val="0"/>
        <c:axPos val="l"/>
        <c:majorGridlines>
          <c:spPr>
            <a:ln xmlns:a="http://schemas.openxmlformats.org/drawingml/2006/main" w="6668">
              <a:solidFill>
                <a:srgbClr val="DCE2D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86C"/>
                </a:solidFill>
                <a:latin typeface="Segoe UI"/>
                <a:ea typeface="Segoe UI"/>
                <a:cs typeface="Segoe UI"/>
              </a:defRPr>
            </a:pPr>
          </a:p>
        </c:txPr>
        <c:crossAx val="48650112"/>
        <c:crossBetween val="between"/>
        <c:majorUnit val="0.2"/>
      </c:valAx>
      <c:spPr>
        <a:solidFill xmlns:a="http://schemas.openxmlformats.org/drawingml/2006/main">
          <a:srgbClr val="F7F6F0"/>
        </a:solidFill>
      </c:spPr>
    </c:plotArea>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3D31"/>
                </a:solidFill>
                <a:latin typeface="Segoe UI"/>
                <a:ea typeface="Segoe UI"/>
                <a:cs typeface="Segoe UI"/>
              </a:rPr>
              <a:t>Current campaign contacts</a:t>
            </a:r>
          </a:p>
        </c:rich>
      </c:tx>
      <c:overlay val="0"/>
      <c:txPr>
        <a:bodyPr xmlns:a="http://schemas.openxmlformats.org/drawingml/2006/main" anchorCtr="1"/>
        <a:lstStyle xmlns:a="http://schemas.openxmlformats.org/drawingml/2006/main"/>
        <a:p xmlns:a="http://schemas.openxmlformats.org/drawingml/2006/main">
          <a:pPr>
            <a:defRPr sz="1875" b="1">
              <a:solidFill>
                <a:srgbClr val="173D31"/>
              </a:solidFill>
              <a:latin typeface="Segoe UI"/>
              <a:ea typeface="Segoe UI"/>
              <a:cs typeface="Segoe UI"/>
            </a:defRPr>
          </a:pPr>
        </a:p>
      </c:txPr>
    </c:title>
    <c:plotArea>
      <c:barChart>
        <c:barDir val="col"/>
        <c:grouping val="clustered"/>
        <c:varyColors val="0"/>
        <c:ser>
          <c:idx val="0"/>
          <c:order val="0"/>
          <c:tx>
            <c:v>Subscription rate</c:v>
          </c:tx>
          <c:spPr>
            <a:solidFill xmlns:a="http://schemas.openxmlformats.org/drawingml/2006/main">
              <a:srgbClr val="BD714D"/>
            </a:solidFill>
          </c:spPr>
          <c:cat>
            <c:strRef>
              <c:f>'Chart Data'!$A$2:$A$6</c:f>
              <c:strCache>
                <c:ptCount val="5"/>
                <c:pt idx="0">
                  <c:v>1
(n=10,669)</c:v>
                </c:pt>
                <c:pt idx="1">
                  <c:v>2
(n=6,314)</c:v>
                </c:pt>
                <c:pt idx="2">
                  <c:v>3
(n=3,187)</c:v>
                </c:pt>
                <c:pt idx="3">
                  <c:v>4–5
(n=2,542)</c:v>
                </c:pt>
                <c:pt idx="4">
                  <c:v>6+
(n=2,001)</c:v>
                </c:pt>
              </c:strCache>
            </c:strRef>
          </c:cat>
          <c:val>
            <c:numRef>
              <c:f>'Chart Data'!$B$2:$B$6</c:f>
              <c:numCache>
                <c:formatCode>0.0%</c:formatCode>
                <c:ptCount val="5"/>
                <c:pt idx="0">
                  <c:v>0.129346705408</c:v>
                </c:pt>
                <c:pt idx="1">
                  <c:v>0.114190687361</c:v>
                </c:pt>
                <c:pt idx="2">
                  <c:v>0.111076247254</c:v>
                </c:pt>
                <c:pt idx="3">
                  <c:v>0.0853658536585</c:v>
                </c:pt>
                <c:pt idx="4">
                  <c:v>0.055972013993</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73D31"/>
                  </a:solidFill>
                  <a:latin typeface="Segoe UI"/>
                  <a:ea typeface="Segoe UI"/>
                  <a:cs typeface="Segoe U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6668">
            <a:solidFill>
              <a:srgbClr val="DCE2D7"/>
            </a:solidFill>
          </a:ln>
        </c:spPr>
        <c:txPr>
          <a:bodyPr xmlns:a="http://schemas.openxmlformats.org/drawingml/2006/main" anchorCtr="1"/>
          <a:lstStyle xmlns:a="http://schemas.openxmlformats.org/drawingml/2006/main"/>
          <a:p xmlns:a="http://schemas.openxmlformats.org/drawingml/2006/main">
            <a:pPr>
              <a:defRPr sz="1350">
                <a:solidFill>
                  <a:srgbClr val="65786C"/>
                </a:solidFill>
                <a:latin typeface="Segoe UI"/>
                <a:ea typeface="Segoe UI"/>
                <a:cs typeface="Segoe UI"/>
              </a:defRPr>
            </a:pPr>
          </a:p>
        </c:txPr>
        <c:crossAx val="48672768"/>
      </c:catAx>
      <c:valAx>
        <c:axId val="48672768"/>
        <c:scaling>
          <c:orientation val="minMax"/>
          <c:max val="0.18"/>
          <c:min val="0"/>
        </c:scaling>
        <c:delete val="0"/>
        <c:axPos val="l"/>
        <c:majorGridlines>
          <c:spPr>
            <a:ln xmlns:a="http://schemas.openxmlformats.org/drawingml/2006/main" w="6668">
              <a:solidFill>
                <a:srgbClr val="DCE2D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86C"/>
                </a:solidFill>
                <a:latin typeface="Segoe UI"/>
                <a:ea typeface="Segoe UI"/>
                <a:cs typeface="Segoe UI"/>
              </a:defRPr>
            </a:pPr>
          </a:p>
        </c:txPr>
        <c:crossAx val="48650112"/>
        <c:crossBetween val="between"/>
        <c:majorUnit val="0.06"/>
      </c:valAx>
      <c:spPr>
        <a:solidFill xmlns:a="http://schemas.openxmlformats.org/drawingml/2006/main">
          <a:srgbClr val="F7F6F0"/>
        </a:solidFill>
      </c:spPr>
    </c:plotArea>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F2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6d7f4a3c4bf46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FF6CA2-66C1-4A17-A766-1303CF7C9DCA}"/>
              </a:ext>
            </a:extLst>
          </p:cNvPr>
          <p:cNvSpPr>
            <a:spLocks xmlns:a="http://schemas.openxmlformats.org/drawingml/2006/main" noGrp="1"/>
          </p:cNvSpPr>
          <p:nvPr/>
        </p:nvSpPr>
        <p:spPr>
          <a:xfrm xmlns:a="http://schemas.openxmlformats.org/drawingml/2006/main">
            <a:off x="609600" y="60960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D4E6B3"/>
                </a:solidFill>
                <a:latin typeface="Segoe UI"/>
                <a:ea typeface="Segoe UI"/>
                <a:cs typeface="Segoe UI"/>
              </a:defRPr>
            </a:pPr>
            <a:r>
              <a:rPr sz="1575" b="1">
                <a:solidFill>
                  <a:srgbClr val="D4E6B3"/>
                </a:solidFill>
                <a:latin typeface="Segoe UI"/>
                <a:ea typeface="Segoe UI"/>
                <a:cs typeface="Segoe UI"/>
              </a:rPr>
              <a:t>INTRODUCTION · MIDTERM PROJECT</a:t>
            </a:r>
          </a:p>
        </p:txBody>
      </p:sp>
      <p:sp>
        <p:nvSpPr>
          <p:cNvPr id="3" name="">
            <a:extLst xmlns:a="http://schemas.openxmlformats.org/drawingml/2006/main">
              <a:ext uri="{FF2B5EF4-FFF2-40B4-BE49-F238E27FC236}">
                <a16:creationId xmlns:a16="http://schemas.microsoft.com/office/drawing/2014/main" id="{85626031-B15A-4812-9FD1-B4C7A11275A8}"/>
              </a:ext>
            </a:extLst>
          </p:cNvPr>
          <p:cNvSpPr>
            <a:spLocks xmlns:a="http://schemas.openxmlformats.org/drawingml/2006/main" noGrp="1"/>
          </p:cNvSpPr>
          <p:nvPr/>
        </p:nvSpPr>
        <p:spPr>
          <a:xfrm xmlns:a="http://schemas.openxmlformats.org/drawingml/2006/main">
            <a:off x="552450" y="1752600"/>
            <a:ext cx="6762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150" b="1">
                <a:solidFill>
                  <a:srgbClr val="F4F2E8"/>
                </a:solidFill>
                <a:latin typeface="Segoe UI"/>
                <a:ea typeface="Segoe UI"/>
                <a:cs typeface="Segoe UI"/>
              </a:defRPr>
            </a:pPr>
            <a:r>
              <a:rPr sz="6150" b="1">
                <a:solidFill>
                  <a:srgbClr val="F4F2E8"/>
                </a:solidFill>
                <a:latin typeface="Segoe UI"/>
                <a:ea typeface="Segoe UI"/>
                <a:cs typeface="Segoe UI"/>
              </a:rPr>
              <a:t>Bank Marketing</a:t>
            </a:r>
          </a:p>
          <a:p xmlns:a="http://schemas.openxmlformats.org/drawingml/2006/main">
            <a:pPr algn="l">
              <a:defRPr sz="6150" b="1">
                <a:solidFill>
                  <a:srgbClr val="F4F2E8"/>
                </a:solidFill>
                <a:latin typeface="Segoe UI"/>
                <a:ea typeface="Segoe UI"/>
                <a:cs typeface="Segoe UI"/>
              </a:defRPr>
            </a:pPr>
            <a:r>
              <a:rPr sz="6150" b="1">
                <a:solidFill>
                  <a:srgbClr val="F4F2E8"/>
                </a:solidFill>
                <a:latin typeface="Segoe UI"/>
                <a:ea typeface="Segoe UI"/>
                <a:cs typeface="Segoe UI"/>
              </a:rPr>
              <a:t>Response</a:t>
            </a:r>
          </a:p>
        </p:txBody>
      </p:sp>
      <p:sp>
        <p:nvSpPr>
          <p:cNvPr id="4" name="">
            <a:extLst xmlns:a="http://schemas.openxmlformats.org/drawingml/2006/main">
              <a:ext uri="{FF2B5EF4-FFF2-40B4-BE49-F238E27FC236}">
                <a16:creationId xmlns:a16="http://schemas.microsoft.com/office/drawing/2014/main" id="{79E281BD-2B97-4CC3-9F91-55C93C5E2574}"/>
              </a:ext>
            </a:extLst>
          </p:cNvPr>
          <p:cNvSpPr>
            <a:spLocks xmlns:a="http://schemas.openxmlformats.org/drawingml/2006/main" noGrp="1"/>
          </p:cNvSpPr>
          <p:nvPr/>
        </p:nvSpPr>
        <p:spPr>
          <a:xfrm xmlns:a="http://schemas.openxmlformats.org/drawingml/2006/main">
            <a:off x="609600" y="4219575"/>
            <a:ext cx="647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4F2E8"/>
                </a:solidFill>
                <a:latin typeface="Segoe UI"/>
                <a:ea typeface="Segoe UI"/>
                <a:cs typeface="Segoe UI"/>
              </a:defRPr>
            </a:pPr>
            <a:r>
              <a:rPr sz="2175" b="0">
                <a:solidFill>
                  <a:srgbClr val="F4F2E8"/>
                </a:solidFill>
                <a:latin typeface="Segoe UI"/>
                <a:ea typeface="Segoe UI"/>
                <a:cs typeface="Segoe UI"/>
              </a:rPr>
              <a:t>Can we predict a term-deposit subscription</a:t>
            </a:r>
          </a:p>
          <a:p xmlns:a="http://schemas.openxmlformats.org/drawingml/2006/main">
            <a:pPr algn="l">
              <a:defRPr sz="2175" b="0">
                <a:solidFill>
                  <a:srgbClr val="F4F2E8"/>
                </a:solidFill>
                <a:latin typeface="Segoe UI"/>
                <a:ea typeface="Segoe UI"/>
                <a:cs typeface="Segoe UI"/>
              </a:defRPr>
            </a:pPr>
            <a:r>
              <a:rPr sz="2175" b="0">
                <a:solidFill>
                  <a:srgbClr val="F4F2E8"/>
                </a:solidFill>
                <a:latin typeface="Segoe UI"/>
                <a:ea typeface="Segoe UI"/>
                <a:cs typeface="Segoe UI"/>
              </a:rPr>
              <a:t>before a scheduled phone call?</a:t>
            </a:r>
          </a:p>
        </p:txBody>
      </p:sp>
      <p:sp>
        <p:nvSpPr>
          <p:cNvPr id="5" name="">
            <a:extLst xmlns:a="http://schemas.openxmlformats.org/drawingml/2006/main">
              <a:ext uri="{FF2B5EF4-FFF2-40B4-BE49-F238E27FC236}">
                <a16:creationId xmlns:a16="http://schemas.microsoft.com/office/drawing/2014/main" id="{7AA1B877-D2E5-4F19-A167-B6ED1EEFD13F}"/>
              </a:ext>
            </a:extLst>
          </p:cNvPr>
          <p:cNvSpPr>
            <a:spLocks xmlns:a="http://schemas.openxmlformats.org/drawingml/2006/main" noGrp="1"/>
          </p:cNvSpPr>
          <p:nvPr/>
        </p:nvSpPr>
        <p:spPr>
          <a:xfrm xmlns:a="http://schemas.openxmlformats.org/drawingml/2006/main">
            <a:off x="609600" y="5715000"/>
            <a:ext cx="666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8D3C5"/>
                </a:solidFill>
                <a:latin typeface="Segoe UI"/>
                <a:ea typeface="Segoe UI"/>
                <a:cs typeface="Segoe UI"/>
              </a:defRPr>
            </a:pPr>
            <a:r>
              <a:rPr sz="1800" b="0">
                <a:solidFill>
                  <a:srgbClr val="C8D3C5"/>
                </a:solidFill>
                <a:latin typeface="Segoe UI"/>
                <a:ea typeface="Segoe UI"/>
                <a:cs typeface="Segoe UI"/>
              </a:rPr>
              <a:t>Nurlan Ramazan</a:t>
            </a:r>
          </a:p>
          <a:p xmlns:a="http://schemas.openxmlformats.org/drawingml/2006/main">
            <a:pPr algn="l">
              <a:defRPr sz="1800" b="0">
                <a:solidFill>
                  <a:srgbClr val="C8D3C5"/>
                </a:solidFill>
                <a:latin typeface="Segoe UI"/>
                <a:ea typeface="Segoe UI"/>
                <a:cs typeface="Segoe UI"/>
              </a:defRPr>
            </a:pPr>
            <a:r>
              <a:rPr sz="1800" b="0">
                <a:solidFill>
                  <a:srgbClr val="C8D3C5"/>
                </a:solidFill>
                <a:latin typeface="Segoe UI"/>
                <a:ea typeface="Segoe UI"/>
                <a:cs typeface="Segoe UI"/>
              </a:rPr>
              <a:t>Araizhan Tazhimova</a:t>
            </a:r>
          </a:p>
        </p:txBody>
      </p:sp>
    </p:spTree>
    <p:extLst>
      <p:ext uri="{BB962C8B-B14F-4D97-AF65-F5344CB8AC3E}">
        <p14:creationId xmlns:p14="http://schemas.microsoft.com/office/powerpoint/2010/main" val="1650108157"/>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36457E-2848-4482-9502-62CE591484F0}"/>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3D31"/>
                </a:solidFill>
                <a:latin typeface="Segoe UI"/>
                <a:ea typeface="Segoe UI"/>
                <a:cs typeface="Segoe UI"/>
              </a:defRPr>
            </a:pPr>
            <a:r>
              <a:rPr sz="3900" b="1">
                <a:solidFill>
                  <a:srgbClr val="173D31"/>
                </a:solidFill>
                <a:latin typeface="Segoe UI"/>
                <a:ea typeface="Segoe UI"/>
                <a:cs typeface="Segoe UI"/>
              </a:rPr>
              <a:t>Dataset and target</a:t>
            </a:r>
          </a:p>
        </p:txBody>
      </p:sp>
      <p:sp>
        <p:nvSpPr>
          <p:cNvPr id="2" name="">
            <a:extLst xmlns:a="http://schemas.openxmlformats.org/drawingml/2006/main">
              <a:ext uri="{FF2B5EF4-FFF2-40B4-BE49-F238E27FC236}">
                <a16:creationId xmlns:a16="http://schemas.microsoft.com/office/drawing/2014/main" id="{5B8DB74C-1782-4EAF-BEF9-CFB243F78E31}"/>
              </a:ext>
            </a:extLst>
          </p:cNvPr>
          <p:cNvSpPr>
            <a:spLocks xmlns:a="http://schemas.openxmlformats.org/drawingml/2006/main" noGrp="1"/>
          </p:cNvSpPr>
          <p:nvPr/>
        </p:nvSpPr>
        <p:spPr>
          <a:xfrm xmlns:a="http://schemas.openxmlformats.org/drawingml/2006/main">
            <a:off x="628650" y="11715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UCI Bank Marketing · bank-additional-full.csv</a:t>
            </a:r>
          </a:p>
        </p:txBody>
      </p:sp>
      <p:sp>
        <p:nvSpPr>
          <p:cNvPr id="3" name="">
            <a:extLst xmlns:a="http://schemas.openxmlformats.org/drawingml/2006/main">
              <a:ext uri="{FF2B5EF4-FFF2-40B4-BE49-F238E27FC236}">
                <a16:creationId xmlns:a16="http://schemas.microsoft.com/office/drawing/2014/main" id="{946AAAB3-C742-4472-8571-1285479C378A}"/>
              </a:ext>
            </a:extLst>
          </p:cNvPr>
          <p:cNvSpPr>
            <a:spLocks xmlns:a="http://schemas.openxmlformats.org/drawingml/2006/main" noGrp="1"/>
          </p:cNvSpPr>
          <p:nvPr/>
        </p:nvSpPr>
        <p:spPr>
          <a:xfrm xmlns:a="http://schemas.openxmlformats.org/drawingml/2006/main">
            <a:off x="11153775"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86C"/>
                </a:solidFill>
                <a:latin typeface="Segoe UI"/>
                <a:ea typeface="Segoe UI"/>
                <a:cs typeface="Segoe UI"/>
              </a:defRPr>
            </a:pPr>
            <a:r>
              <a:rPr sz="1350" b="0">
                <a:solidFill>
                  <a:srgbClr val="65786C"/>
                </a:solidFill>
                <a:latin typeface="Segoe UI"/>
                <a:ea typeface="Segoe UI"/>
                <a:cs typeface="Segoe UI"/>
              </a:rPr>
              <a:t>02</a:t>
            </a:r>
          </a:p>
        </p:txBody>
      </p:sp>
      <p:sp>
        <p:nvSpPr>
          <p:cNvPr id="4" name="">
            <a:extLst xmlns:a="http://schemas.openxmlformats.org/drawingml/2006/main">
              <a:ext uri="{FF2B5EF4-FFF2-40B4-BE49-F238E27FC236}">
                <a16:creationId xmlns:a16="http://schemas.microsoft.com/office/drawing/2014/main" id="{171CFBD1-163A-4532-BA11-AB4DCC9CE099}"/>
              </a:ext>
            </a:extLst>
          </p:cNvPr>
          <p:cNvSpPr>
            <a:spLocks xmlns:a="http://schemas.openxmlformats.org/drawingml/2006/main" noGrp="1"/>
          </p:cNvSpPr>
          <p:nvPr/>
        </p:nvSpPr>
        <p:spPr>
          <a:xfrm xmlns:a="http://schemas.openxmlformats.org/drawingml/2006/main">
            <a:off x="609600" y="1895475"/>
            <a:ext cx="46386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525" b="1">
                <a:solidFill>
                  <a:srgbClr val="173D31"/>
                </a:solidFill>
                <a:latin typeface="Segoe UI"/>
                <a:ea typeface="Segoe UI"/>
                <a:cs typeface="Segoe UI"/>
              </a:defRPr>
            </a:pPr>
            <a:r>
              <a:rPr sz="6525" b="1">
                <a:solidFill>
                  <a:srgbClr val="173D31"/>
                </a:solidFill>
                <a:latin typeface="Segoe UI"/>
                <a:ea typeface="Segoe UI"/>
                <a:cs typeface="Segoe UI"/>
              </a:rPr>
              <a:t>41,188</a:t>
            </a:r>
          </a:p>
        </p:txBody>
      </p:sp>
      <p:sp>
        <p:nvSpPr>
          <p:cNvPr id="5" name="">
            <a:extLst xmlns:a="http://schemas.openxmlformats.org/drawingml/2006/main">
              <a:ext uri="{FF2B5EF4-FFF2-40B4-BE49-F238E27FC236}">
                <a16:creationId xmlns:a16="http://schemas.microsoft.com/office/drawing/2014/main" id="{7F26FFB6-707E-4A80-9338-1F23646131AA}"/>
              </a:ext>
            </a:extLst>
          </p:cNvPr>
          <p:cNvSpPr>
            <a:spLocks xmlns:a="http://schemas.openxmlformats.org/drawingml/2006/main" noGrp="1"/>
          </p:cNvSpPr>
          <p:nvPr/>
        </p:nvSpPr>
        <p:spPr>
          <a:xfrm xmlns:a="http://schemas.openxmlformats.org/drawingml/2006/main">
            <a:off x="638175" y="3000375"/>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D31"/>
                </a:solidFill>
                <a:latin typeface="Segoe UI"/>
                <a:ea typeface="Segoe UI"/>
                <a:cs typeface="Segoe UI"/>
              </a:defRPr>
            </a:pPr>
            <a:r>
              <a:rPr sz="2100" b="0">
                <a:solidFill>
                  <a:srgbClr val="173D31"/>
                </a:solidFill>
                <a:latin typeface="Segoe UI"/>
                <a:ea typeface="Segoe UI"/>
                <a:cs typeface="Segoe UI"/>
              </a:rPr>
              <a:t>historical campaign records</a:t>
            </a:r>
          </a:p>
        </p:txBody>
      </p:sp>
      <p:sp>
        <p:nvSpPr>
          <p:cNvPr id="6" name="">
            <a:extLst xmlns:a="http://schemas.openxmlformats.org/drawingml/2006/main">
              <a:ext uri="{FF2B5EF4-FFF2-40B4-BE49-F238E27FC236}">
                <a16:creationId xmlns:a16="http://schemas.microsoft.com/office/drawing/2014/main" id="{6991A9ED-ADF9-4D89-8F28-FD7B37CC76EA}"/>
              </a:ext>
            </a:extLst>
          </p:cNvPr>
          <p:cNvSpPr>
            <a:spLocks xmlns:a="http://schemas.openxmlformats.org/drawingml/2006/main" noGrp="1"/>
          </p:cNvSpPr>
          <p:nvPr/>
        </p:nvSpPr>
        <p:spPr>
          <a:xfrm xmlns:a="http://schemas.openxmlformats.org/drawingml/2006/main">
            <a:off x="638175" y="3714750"/>
            <a:ext cx="45243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86C"/>
                </a:solidFill>
                <a:latin typeface="Segoe UI"/>
                <a:ea typeface="Segoe UI"/>
                <a:cs typeface="Segoe UI"/>
              </a:defRPr>
            </a:pPr>
            <a:r>
              <a:rPr sz="1875" b="0">
                <a:solidFill>
                  <a:srgbClr val="65786C"/>
                </a:solidFill>
                <a:latin typeface="Segoe UI"/>
                <a:ea typeface="Segoe UI"/>
                <a:cs typeface="Segoe UI"/>
              </a:rPr>
              <a:t>20 inputs + target y</a:t>
            </a:r>
          </a:p>
          <a:p xmlns:a="http://schemas.openxmlformats.org/drawingml/2006/main">
            <a:pPr algn="l">
              <a:defRPr sz="1875" b="0">
                <a:solidFill>
                  <a:srgbClr val="65786C"/>
                </a:solidFill>
                <a:latin typeface="Segoe UI"/>
                <a:ea typeface="Segoe UI"/>
                <a:cs typeface="Segoe UI"/>
              </a:defRPr>
            </a:pPr>
            <a:r>
              <a:rPr sz="1875" b="0">
                <a:solidFill>
                  <a:srgbClr val="65786C"/>
                </a:solidFill>
                <a:latin typeface="Segoe UI"/>
                <a:ea typeface="Segoe UI"/>
                <a:cs typeface="Segoe UI"/>
              </a:rPr>
              <a:t>Portuguese bank · 2008–2010</a:t>
            </a:r>
          </a:p>
          <a:p xmlns:a="http://schemas.openxmlformats.org/drawingml/2006/main">
            <a:pPr algn="l">
              <a:defRPr sz="1875" b="0">
                <a:solidFill>
                  <a:srgbClr val="65786C"/>
                </a:solidFill>
                <a:latin typeface="Segoe UI"/>
                <a:ea typeface="Segoe UI"/>
                <a:cs typeface="Segoe UI"/>
              </a:defRPr>
            </a:pPr>
            <a:r>
              <a:rPr sz="1875" b="0">
                <a:solidFill>
                  <a:srgbClr val="65786C"/>
                </a:solidFill>
                <a:latin typeface="Segoe UI"/>
                <a:ea typeface="Segoe UI"/>
                <a:cs typeface="Segoe UI"/>
              </a:rPr>
              <a:t>CC BY 4.0</a:t>
            </a:r>
          </a:p>
        </p:txBody>
      </p:sp>
      <p:graphicFrame>
        <p:nvGraphicFramePr>
          <p:cNvPr id="17" name="Chart"/>
          <p:cNvGraphicFramePr/>
          <p:nvPr/>
        </p:nvGraphicFramePr>
        <p:xfrm>
          <a:off xmlns:a="http://schemas.openxmlformats.org/drawingml/2006/main" x="5657850" y="1752600"/>
          <a:ext xmlns:a="http://schemas.openxmlformats.org/drawingml/2006/main" cx="5924550" cy="3438525"/>
        </p:xfrm>
        <a:graphic xmlns:a="http://schemas.openxmlformats.org/drawingml/2006/main">
          <a:graphicData uri="http://schemas.openxmlformats.org/drawingml/2006/chart">
            <c:chart xmlns:r="http://schemas.openxmlformats.org/officeDocument/2006/relationships" xmlns:c="http://schemas.openxmlformats.org/drawingml/2006/chart" r:id="Rcef4e6671e2144d2"/>
          </a:graphicData>
        </a:graphic>
      </p:graphicFrame>
      <p:sp>
        <p:nvSpPr>
          <p:cNvPr id="8" name="">
            <a:extLst xmlns:a="http://schemas.openxmlformats.org/drawingml/2006/main">
              <a:ext uri="{FF2B5EF4-FFF2-40B4-BE49-F238E27FC236}">
                <a16:creationId xmlns:a16="http://schemas.microsoft.com/office/drawing/2014/main" id="{E63D6B9A-AFB4-499A-AE98-B25B8C042F56}"/>
              </a:ext>
            </a:extLst>
          </p:cNvPr>
          <p:cNvSpPr>
            <a:spLocks xmlns:a="http://schemas.openxmlformats.org/drawingml/2006/main" noGrp="1"/>
          </p:cNvSpPr>
          <p:nvPr/>
        </p:nvSpPr>
        <p:spPr>
          <a:xfrm xmlns:a="http://schemas.openxmlformats.org/drawingml/2006/main">
            <a:off x="609600" y="5305425"/>
            <a:ext cx="2876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725" b="1">
                <a:solidFill>
                  <a:srgbClr val="BD714D"/>
                </a:solidFill>
                <a:latin typeface="Segoe UI"/>
                <a:ea typeface="Segoe UI"/>
                <a:cs typeface="Segoe UI"/>
              </a:defRPr>
            </a:pPr>
            <a:r>
              <a:rPr sz="4725" b="1">
                <a:solidFill>
                  <a:srgbClr val="BD714D"/>
                </a:solidFill>
                <a:latin typeface="Segoe UI"/>
                <a:ea typeface="Segoe UI"/>
                <a:cs typeface="Segoe UI"/>
              </a:rPr>
              <a:t>11.27%</a:t>
            </a:r>
          </a:p>
        </p:txBody>
      </p:sp>
      <p:sp>
        <p:nvSpPr>
          <p:cNvPr id="9" name="">
            <a:extLst xmlns:a="http://schemas.openxmlformats.org/drawingml/2006/main">
              <a:ext uri="{FF2B5EF4-FFF2-40B4-BE49-F238E27FC236}">
                <a16:creationId xmlns:a16="http://schemas.microsoft.com/office/drawing/2014/main" id="{C1E00B96-09B8-4817-97C8-5B67BF24E644}"/>
              </a:ext>
            </a:extLst>
          </p:cNvPr>
          <p:cNvSpPr>
            <a:spLocks xmlns:a="http://schemas.openxmlformats.org/drawingml/2006/main" noGrp="1"/>
          </p:cNvSpPr>
          <p:nvPr/>
        </p:nvSpPr>
        <p:spPr>
          <a:xfrm xmlns:a="http://schemas.openxmlformats.org/drawingml/2006/main">
            <a:off x="3590925" y="5457825"/>
            <a:ext cx="7962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D31"/>
                </a:solidFill>
                <a:latin typeface="Segoe UI"/>
                <a:ea typeface="Segoe UI"/>
                <a:cs typeface="Segoe UI"/>
              </a:defRPr>
            </a:pPr>
            <a:r>
              <a:rPr sz="2025" b="0">
                <a:solidFill>
                  <a:srgbClr val="173D31"/>
                </a:solidFill>
                <a:latin typeface="Segoe UI"/>
                <a:ea typeface="Segoe UI"/>
                <a:cs typeface="Segoe UI"/>
              </a:rPr>
              <a:t>subscribe in train. An always-no baseline has</a:t>
            </a:r>
          </a:p>
          <a:p xmlns:a="http://schemas.openxmlformats.org/drawingml/2006/main">
            <a:pPr algn="l">
              <a:defRPr sz="2025" b="0">
                <a:solidFill>
                  <a:srgbClr val="173D31"/>
                </a:solidFill>
                <a:latin typeface="Segoe UI"/>
                <a:ea typeface="Segoe UI"/>
                <a:cs typeface="Segoe UI"/>
              </a:defRPr>
            </a:pPr>
            <a:r>
              <a:rPr sz="2025" b="0">
                <a:solidFill>
                  <a:srgbClr val="173D31"/>
                </a:solidFill>
                <a:latin typeface="Segoe UI"/>
                <a:ea typeface="Segoe UI"/>
                <a:cs typeface="Segoe UI"/>
              </a:rPr>
              <a:t>88.73% accuracy, but positive-class F1 = 0.</a:t>
            </a:r>
          </a:p>
        </p:txBody>
      </p:sp>
      <p:sp>
        <p:nvSpPr>
          <p:cNvPr id="10" name="">
            <a:extLst xmlns:a="http://schemas.openxmlformats.org/drawingml/2006/main">
              <a:ext uri="{FF2B5EF4-FFF2-40B4-BE49-F238E27FC236}">
                <a16:creationId xmlns:a16="http://schemas.microsoft.com/office/drawing/2014/main" id="{7A0C34A6-4193-452C-8F99-E19F698CE9F8}"/>
              </a:ext>
            </a:extLst>
          </p:cNvPr>
          <p:cNvSpPr>
            <a:spLocks xmlns:a="http://schemas.openxmlformats.org/drawingml/2006/main" noGrp="1"/>
          </p:cNvSpPr>
          <p:nvPr/>
        </p:nvSpPr>
        <p:spPr>
          <a:xfrm xmlns:a="http://schemas.openxmlformats.org/drawingml/2006/main">
            <a:off x="638175" y="6315075"/>
            <a:ext cx="990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5786C"/>
                </a:solidFill>
                <a:latin typeface="Segoe UI"/>
                <a:ea typeface="Segoe UI"/>
                <a:cs typeface="Segoe UI"/>
              </a:defRPr>
            </a:pPr>
            <a:r>
              <a:rPr sz="1500" b="0">
                <a:solidFill>
                  <a:srgbClr val="65786C"/>
                </a:solidFill>
                <a:latin typeface="Segoe UI"/>
                <a:ea typeface="Segoe UI"/>
                <a:cs typeface="Segoe UI"/>
              </a:rPr>
              <a:t>Client IDs and full timestamps are unavailable.</a:t>
            </a:r>
          </a:p>
        </p:txBody>
      </p:sp>
    </p:spTree>
    <p:extLst>
      <p:ext uri="{BB962C8B-B14F-4D97-AF65-F5344CB8AC3E}">
        <p14:creationId xmlns:p14="http://schemas.microsoft.com/office/powerpoint/2010/main" val="667342463"/>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530EFE-EBC0-4E0A-9137-5A7A8B78355B}"/>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3D31"/>
                </a:solidFill>
                <a:latin typeface="Segoe UI"/>
                <a:ea typeface="Segoe UI"/>
                <a:cs typeface="Segoe UI"/>
              </a:defRPr>
            </a:pPr>
            <a:r>
              <a:rPr sz="3900" b="1">
                <a:solidFill>
                  <a:srgbClr val="173D31"/>
                </a:solidFill>
                <a:latin typeface="Segoe UI"/>
                <a:ea typeface="Segoe UI"/>
                <a:cs typeface="Segoe UI"/>
              </a:rPr>
              <a:t>Client characteristics</a:t>
            </a:r>
          </a:p>
        </p:txBody>
      </p:sp>
      <p:sp>
        <p:nvSpPr>
          <p:cNvPr id="2" name="">
            <a:extLst xmlns:a="http://schemas.openxmlformats.org/drawingml/2006/main">
              <a:ext uri="{FF2B5EF4-FFF2-40B4-BE49-F238E27FC236}">
                <a16:creationId xmlns:a16="http://schemas.microsoft.com/office/drawing/2014/main" id="{A923F320-CB13-4CE1-84DB-EB0D3595367E}"/>
              </a:ext>
            </a:extLst>
          </p:cNvPr>
          <p:cNvSpPr>
            <a:spLocks xmlns:a="http://schemas.openxmlformats.org/drawingml/2006/main" noGrp="1"/>
          </p:cNvSpPr>
          <p:nvPr/>
        </p:nvSpPr>
        <p:spPr>
          <a:xfrm xmlns:a="http://schemas.openxmlformats.org/drawingml/2006/main">
            <a:off x="628650" y="11715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Exploratory analysis on 24,713 training records</a:t>
            </a:r>
          </a:p>
        </p:txBody>
      </p:sp>
      <p:sp>
        <p:nvSpPr>
          <p:cNvPr id="3" name="">
            <a:extLst xmlns:a="http://schemas.openxmlformats.org/drawingml/2006/main">
              <a:ext uri="{FF2B5EF4-FFF2-40B4-BE49-F238E27FC236}">
                <a16:creationId xmlns:a16="http://schemas.microsoft.com/office/drawing/2014/main" id="{EF210157-EB8F-4E23-8C15-94EA37B90AE3}"/>
              </a:ext>
            </a:extLst>
          </p:cNvPr>
          <p:cNvSpPr>
            <a:spLocks xmlns:a="http://schemas.openxmlformats.org/drawingml/2006/main" noGrp="1"/>
          </p:cNvSpPr>
          <p:nvPr/>
        </p:nvSpPr>
        <p:spPr>
          <a:xfrm xmlns:a="http://schemas.openxmlformats.org/drawingml/2006/main">
            <a:off x="11153775"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86C"/>
                </a:solidFill>
                <a:latin typeface="Segoe UI"/>
                <a:ea typeface="Segoe UI"/>
                <a:cs typeface="Segoe UI"/>
              </a:defRPr>
            </a:pPr>
            <a:r>
              <a:rPr sz="1350" b="0">
                <a:solidFill>
                  <a:srgbClr val="65786C"/>
                </a:solidFill>
                <a:latin typeface="Segoe UI"/>
                <a:ea typeface="Segoe UI"/>
                <a:cs typeface="Segoe UI"/>
              </a:rPr>
              <a:t>03</a:t>
            </a:r>
          </a:p>
        </p:txBody>
      </p:sp>
      <p:graphicFrame>
        <p:nvGraphicFramePr>
          <p:cNvPr id="13" name="Chart"/>
          <p:cNvGraphicFramePr/>
          <p:nvPr/>
        </p:nvGraphicFramePr>
        <p:xfrm>
          <a:off xmlns:a="http://schemas.openxmlformats.org/drawingml/2006/main" x="609600" y="1800225"/>
          <a:ext xmlns:a="http://schemas.openxmlformats.org/drawingml/2006/main" cx="5172075" cy="3552825"/>
        </p:xfrm>
        <a:graphic xmlns:a="http://schemas.openxmlformats.org/drawingml/2006/main">
          <a:graphicData uri="http://schemas.openxmlformats.org/drawingml/2006/chart">
            <c:chart xmlns:r="http://schemas.openxmlformats.org/officeDocument/2006/relationships" xmlns:c="http://schemas.openxmlformats.org/drawingml/2006/chart" r:id="Rb3cbcd526d88471d"/>
          </a:graphicData>
        </a:graphic>
      </p:graphicFrame>
      <p:graphicFrame>
        <p:nvGraphicFramePr>
          <p:cNvPr id="14" name="Chart"/>
          <p:cNvGraphicFramePr/>
          <p:nvPr/>
        </p:nvGraphicFramePr>
        <p:xfrm>
          <a:off xmlns:a="http://schemas.openxmlformats.org/drawingml/2006/main" x="6210300" y="1800225"/>
          <a:ext xmlns:a="http://schemas.openxmlformats.org/drawingml/2006/main" cx="5372100" cy="3552825"/>
        </p:xfrm>
        <a:graphic xmlns:a="http://schemas.openxmlformats.org/drawingml/2006/main">
          <a:graphicData uri="http://schemas.openxmlformats.org/drawingml/2006/chart">
            <c:chart xmlns:r="http://schemas.openxmlformats.org/officeDocument/2006/relationships" xmlns:c="http://schemas.openxmlformats.org/drawingml/2006/chart" r:id="Raf14627eb8bb44c3"/>
          </a:graphicData>
        </a:graphic>
      </p:graphicFrame>
      <p:sp>
        <p:nvSpPr>
          <p:cNvPr id="6" name="">
            <a:extLst xmlns:a="http://schemas.openxmlformats.org/drawingml/2006/main">
              <a:ext uri="{FF2B5EF4-FFF2-40B4-BE49-F238E27FC236}">
                <a16:creationId xmlns:a16="http://schemas.microsoft.com/office/drawing/2014/main" id="{EA1C8A49-03FC-4E2D-A1E9-B0CCCC15091D}"/>
              </a:ext>
            </a:extLst>
          </p:cNvPr>
          <p:cNvSpPr>
            <a:spLocks xmlns:a="http://schemas.openxmlformats.org/drawingml/2006/main" noGrp="1"/>
          </p:cNvSpPr>
          <p:nvPr/>
        </p:nvSpPr>
        <p:spPr>
          <a:xfrm xmlns:a="http://schemas.openxmlformats.org/drawingml/2006/main">
            <a:off x="609600" y="56292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3D31"/>
                </a:solidFill>
                <a:latin typeface="Segoe UI"/>
                <a:ea typeface="Segoe UI"/>
                <a:cs typeface="Segoe UI"/>
              </a:defRPr>
            </a:pPr>
            <a:r>
              <a:rPr sz="2025" b="1">
                <a:solidFill>
                  <a:srgbClr val="173D31"/>
                </a:solidFill>
                <a:latin typeface="Segoe UI"/>
                <a:ea typeface="Segoe UI"/>
                <a:cs typeface="Segoe UI"/>
              </a:rPr>
              <a:t>Age distributions overlap.</a:t>
            </a:r>
          </a:p>
        </p:txBody>
      </p:sp>
      <p:sp>
        <p:nvSpPr>
          <p:cNvPr id="7" name="">
            <a:extLst xmlns:a="http://schemas.openxmlformats.org/drawingml/2006/main">
              <a:ext uri="{FF2B5EF4-FFF2-40B4-BE49-F238E27FC236}">
                <a16:creationId xmlns:a16="http://schemas.microsoft.com/office/drawing/2014/main" id="{50B2C93E-DEF6-41A4-9386-25D87C153095}"/>
              </a:ext>
            </a:extLst>
          </p:cNvPr>
          <p:cNvSpPr>
            <a:spLocks xmlns:a="http://schemas.openxmlformats.org/drawingml/2006/main" noGrp="1"/>
          </p:cNvSpPr>
          <p:nvPr/>
        </p:nvSpPr>
        <p:spPr>
          <a:xfrm xmlns:a="http://schemas.openxmlformats.org/drawingml/2006/main">
            <a:off x="609600" y="6010275"/>
            <a:ext cx="529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Age alone cannot separate outcomes.</a:t>
            </a:r>
          </a:p>
        </p:txBody>
      </p:sp>
      <p:sp>
        <p:nvSpPr>
          <p:cNvPr id="8" name="">
            <a:extLst xmlns:a="http://schemas.openxmlformats.org/drawingml/2006/main">
              <a:ext uri="{FF2B5EF4-FFF2-40B4-BE49-F238E27FC236}">
                <a16:creationId xmlns:a16="http://schemas.microsoft.com/office/drawing/2014/main" id="{0542C006-094B-40BF-AC58-987E8A21FB2B}"/>
              </a:ext>
            </a:extLst>
          </p:cNvPr>
          <p:cNvSpPr>
            <a:spLocks xmlns:a="http://schemas.openxmlformats.org/drawingml/2006/main" noGrp="1"/>
          </p:cNvSpPr>
          <p:nvPr/>
        </p:nvSpPr>
        <p:spPr>
          <a:xfrm xmlns:a="http://schemas.openxmlformats.org/drawingml/2006/main">
            <a:off x="6210300" y="5629275"/>
            <a:ext cx="5372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D31"/>
                </a:solidFill>
                <a:latin typeface="Segoe UI"/>
                <a:ea typeface="Segoe UI"/>
                <a:cs typeface="Segoe UI"/>
              </a:defRPr>
            </a:pPr>
            <a:r>
              <a:rPr sz="1950" b="1">
                <a:solidFill>
                  <a:srgbClr val="173D31"/>
                </a:solidFill>
                <a:latin typeface="Segoe UI"/>
                <a:ea typeface="Segoe UI"/>
                <a:cs typeface="Segoe UI"/>
              </a:rPr>
              <a:t>Students 31.8% · Blue-collar 6.9%</a:t>
            </a:r>
          </a:p>
        </p:txBody>
      </p:sp>
      <p:sp>
        <p:nvSpPr>
          <p:cNvPr id="9" name="">
            <a:extLst xmlns:a="http://schemas.openxmlformats.org/drawingml/2006/main">
              <a:ext uri="{FF2B5EF4-FFF2-40B4-BE49-F238E27FC236}">
                <a16:creationId xmlns:a16="http://schemas.microsoft.com/office/drawing/2014/main" id="{4E8B2EF6-5D4A-4314-9CC4-E5A76D2B6826}"/>
              </a:ext>
            </a:extLst>
          </p:cNvPr>
          <p:cNvSpPr>
            <a:spLocks xmlns:a="http://schemas.openxmlformats.org/drawingml/2006/main" noGrp="1"/>
          </p:cNvSpPr>
          <p:nvPr/>
        </p:nvSpPr>
        <p:spPr>
          <a:xfrm xmlns:a="http://schemas.openxmlformats.org/drawingml/2006/main">
            <a:off x="6210300" y="6010275"/>
            <a:ext cx="537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n = 519 versus 5,510</a:t>
            </a:r>
          </a:p>
        </p:txBody>
      </p:sp>
    </p:spTree>
    <p:extLst>
      <p:ext uri="{BB962C8B-B14F-4D97-AF65-F5344CB8AC3E}">
        <p14:creationId xmlns:p14="http://schemas.microsoft.com/office/powerpoint/2010/main" val="961061369"/>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EAD09F5-ED6D-4FD3-B274-41A3376AE64F}"/>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3D31"/>
                </a:solidFill>
                <a:latin typeface="Segoe UI"/>
                <a:ea typeface="Segoe UI"/>
                <a:cs typeface="Segoe UI"/>
              </a:defRPr>
            </a:pPr>
            <a:r>
              <a:rPr sz="3900" b="1">
                <a:solidFill>
                  <a:srgbClr val="173D31"/>
                </a:solidFill>
                <a:latin typeface="Segoe UI"/>
                <a:ea typeface="Segoe UI"/>
                <a:cs typeface="Segoe UI"/>
              </a:rPr>
              <a:t>Campaign history and response</a:t>
            </a:r>
          </a:p>
        </p:txBody>
      </p:sp>
      <p:sp>
        <p:nvSpPr>
          <p:cNvPr id="2" name="">
            <a:extLst xmlns:a="http://schemas.openxmlformats.org/drawingml/2006/main">
              <a:ext uri="{FF2B5EF4-FFF2-40B4-BE49-F238E27FC236}">
                <a16:creationId xmlns:a16="http://schemas.microsoft.com/office/drawing/2014/main" id="{52F6BE94-EDA0-453C-8C38-DB239226C11B}"/>
              </a:ext>
            </a:extLst>
          </p:cNvPr>
          <p:cNvSpPr>
            <a:spLocks xmlns:a="http://schemas.openxmlformats.org/drawingml/2006/main" noGrp="1"/>
          </p:cNvSpPr>
          <p:nvPr/>
        </p:nvSpPr>
        <p:spPr>
          <a:xfrm xmlns:a="http://schemas.openxmlformats.org/drawingml/2006/main">
            <a:off x="628650" y="11715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Training associations · sample sizes shown in chart labels</a:t>
            </a:r>
          </a:p>
        </p:txBody>
      </p:sp>
      <p:sp>
        <p:nvSpPr>
          <p:cNvPr id="3" name="">
            <a:extLst xmlns:a="http://schemas.openxmlformats.org/drawingml/2006/main">
              <a:ext uri="{FF2B5EF4-FFF2-40B4-BE49-F238E27FC236}">
                <a16:creationId xmlns:a16="http://schemas.microsoft.com/office/drawing/2014/main" id="{1412305A-A4DC-409F-B4F4-8B057F99C405}"/>
              </a:ext>
            </a:extLst>
          </p:cNvPr>
          <p:cNvSpPr>
            <a:spLocks xmlns:a="http://schemas.openxmlformats.org/drawingml/2006/main" noGrp="1"/>
          </p:cNvSpPr>
          <p:nvPr/>
        </p:nvSpPr>
        <p:spPr>
          <a:xfrm xmlns:a="http://schemas.openxmlformats.org/drawingml/2006/main">
            <a:off x="11153775"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86C"/>
                </a:solidFill>
                <a:latin typeface="Segoe UI"/>
                <a:ea typeface="Segoe UI"/>
                <a:cs typeface="Segoe UI"/>
              </a:defRPr>
            </a:pPr>
            <a:r>
              <a:rPr sz="1350" b="0">
                <a:solidFill>
                  <a:srgbClr val="65786C"/>
                </a:solidFill>
                <a:latin typeface="Segoe UI"/>
                <a:ea typeface="Segoe UI"/>
                <a:cs typeface="Segoe UI"/>
              </a:rPr>
              <a:t>04</a:t>
            </a:r>
          </a:p>
        </p:txBody>
      </p:sp>
      <p:graphicFrame>
        <p:nvGraphicFramePr>
          <p:cNvPr id="13" name="Chart"/>
          <p:cNvGraphicFramePr/>
          <p:nvPr/>
        </p:nvGraphicFramePr>
        <p:xfrm>
          <a:off xmlns:a="http://schemas.openxmlformats.org/drawingml/2006/main" x="609600" y="1800225"/>
          <a:ext xmlns:a="http://schemas.openxmlformats.org/drawingml/2006/main" cx="5172075" cy="3552825"/>
        </p:xfrm>
        <a:graphic xmlns:a="http://schemas.openxmlformats.org/drawingml/2006/main">
          <a:graphicData uri="http://schemas.openxmlformats.org/drawingml/2006/chart">
            <c:chart xmlns:r="http://schemas.openxmlformats.org/officeDocument/2006/relationships" xmlns:c="http://schemas.openxmlformats.org/drawingml/2006/chart" r:id="R0bca27ad2fe04eaa"/>
          </a:graphicData>
        </a:graphic>
      </p:graphicFrame>
      <p:graphicFrame>
        <p:nvGraphicFramePr>
          <p:cNvPr id="14" name="Chart"/>
          <p:cNvGraphicFramePr/>
          <p:nvPr/>
        </p:nvGraphicFramePr>
        <p:xfrm>
          <a:off xmlns:a="http://schemas.openxmlformats.org/drawingml/2006/main" x="6210300" y="1800225"/>
          <a:ext xmlns:a="http://schemas.openxmlformats.org/drawingml/2006/main" cx="5372100" cy="3552825"/>
        </p:xfrm>
        <a:graphic xmlns:a="http://schemas.openxmlformats.org/drawingml/2006/main">
          <a:graphicData uri="http://schemas.openxmlformats.org/drawingml/2006/chart">
            <c:chart xmlns:r="http://schemas.openxmlformats.org/officeDocument/2006/relationships" xmlns:c="http://schemas.openxmlformats.org/drawingml/2006/chart" r:id="Rc067097a41b44b50"/>
          </a:graphicData>
        </a:graphic>
      </p:graphicFrame>
      <p:sp>
        <p:nvSpPr>
          <p:cNvPr id="6" name="">
            <a:extLst xmlns:a="http://schemas.openxmlformats.org/drawingml/2006/main">
              <a:ext uri="{FF2B5EF4-FFF2-40B4-BE49-F238E27FC236}">
                <a16:creationId xmlns:a16="http://schemas.microsoft.com/office/drawing/2014/main" id="{56A32106-C4A8-45BC-9B5D-C32E4F6B4C84}"/>
              </a:ext>
            </a:extLst>
          </p:cNvPr>
          <p:cNvSpPr>
            <a:spLocks xmlns:a="http://schemas.openxmlformats.org/drawingml/2006/main" noGrp="1"/>
          </p:cNvSpPr>
          <p:nvPr/>
        </p:nvSpPr>
        <p:spPr>
          <a:xfrm xmlns:a="http://schemas.openxmlformats.org/drawingml/2006/main">
            <a:off x="609600" y="5629275"/>
            <a:ext cx="529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3D31"/>
                </a:solidFill>
                <a:latin typeface="Segoe UI"/>
                <a:ea typeface="Segoe UI"/>
                <a:cs typeface="Segoe UI"/>
              </a:defRPr>
            </a:pPr>
            <a:r>
              <a:rPr sz="2025" b="1">
                <a:solidFill>
                  <a:srgbClr val="173D31"/>
                </a:solidFill>
                <a:latin typeface="Segoe UI"/>
                <a:ea typeface="Segoe UI"/>
                <a:cs typeface="Segoe UI"/>
              </a:rPr>
              <a:t>65.0% after previous success</a:t>
            </a:r>
          </a:p>
        </p:txBody>
      </p:sp>
      <p:sp>
        <p:nvSpPr>
          <p:cNvPr id="7" name="">
            <a:extLst xmlns:a="http://schemas.openxmlformats.org/drawingml/2006/main">
              <a:ext uri="{FF2B5EF4-FFF2-40B4-BE49-F238E27FC236}">
                <a16:creationId xmlns:a16="http://schemas.microsoft.com/office/drawing/2014/main" id="{732D6441-7461-4166-933E-EFFCAE1DDD8E}"/>
              </a:ext>
            </a:extLst>
          </p:cNvPr>
          <p:cNvSpPr>
            <a:spLocks xmlns:a="http://schemas.openxmlformats.org/drawingml/2006/main" noGrp="1"/>
          </p:cNvSpPr>
          <p:nvPr/>
        </p:nvSpPr>
        <p:spPr>
          <a:xfrm xmlns:a="http://schemas.openxmlformats.org/drawingml/2006/main">
            <a:off x="609600" y="6010275"/>
            <a:ext cx="529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8.9% when no previous outcome exists.</a:t>
            </a:r>
          </a:p>
        </p:txBody>
      </p:sp>
      <p:sp>
        <p:nvSpPr>
          <p:cNvPr id="8" name="">
            <a:extLst xmlns:a="http://schemas.openxmlformats.org/drawingml/2006/main">
              <a:ext uri="{FF2B5EF4-FFF2-40B4-BE49-F238E27FC236}">
                <a16:creationId xmlns:a16="http://schemas.microsoft.com/office/drawing/2014/main" id="{F2C84DFD-251F-4E95-B45F-24F18D1EDE4D}"/>
              </a:ext>
            </a:extLst>
          </p:cNvPr>
          <p:cNvSpPr>
            <a:spLocks xmlns:a="http://schemas.openxmlformats.org/drawingml/2006/main" noGrp="1"/>
          </p:cNvSpPr>
          <p:nvPr/>
        </p:nvSpPr>
        <p:spPr>
          <a:xfrm xmlns:a="http://schemas.openxmlformats.org/drawingml/2006/main">
            <a:off x="6210300" y="5629275"/>
            <a:ext cx="5372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3D31"/>
                </a:solidFill>
                <a:latin typeface="Segoe UI"/>
                <a:ea typeface="Segoe UI"/>
                <a:cs typeface="Segoe UI"/>
              </a:defRPr>
            </a:pPr>
            <a:r>
              <a:rPr sz="2025" b="1">
                <a:solidFill>
                  <a:srgbClr val="173D31"/>
                </a:solidFill>
                <a:latin typeface="Segoe UI"/>
                <a:ea typeface="Segoe UI"/>
                <a:cs typeface="Segoe UI"/>
              </a:rPr>
              <a:t>12.9% at the first contact</a:t>
            </a:r>
          </a:p>
        </p:txBody>
      </p:sp>
      <p:sp>
        <p:nvSpPr>
          <p:cNvPr id="9" name="">
            <a:extLst xmlns:a="http://schemas.openxmlformats.org/drawingml/2006/main">
              <a:ext uri="{FF2B5EF4-FFF2-40B4-BE49-F238E27FC236}">
                <a16:creationId xmlns:a16="http://schemas.microsoft.com/office/drawing/2014/main" id="{8901C43D-56D4-4B8E-B59D-A64F3ECECDE5}"/>
              </a:ext>
            </a:extLst>
          </p:cNvPr>
          <p:cNvSpPr>
            <a:spLocks xmlns:a="http://schemas.openxmlformats.org/drawingml/2006/main" noGrp="1"/>
          </p:cNvSpPr>
          <p:nvPr/>
        </p:nvSpPr>
        <p:spPr>
          <a:xfrm xmlns:a="http://schemas.openxmlformats.org/drawingml/2006/main">
            <a:off x="6210300" y="6010275"/>
            <a:ext cx="537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5.6% at six or more recorded contacts.</a:t>
            </a:r>
          </a:p>
        </p:txBody>
      </p:sp>
    </p:spTree>
    <p:extLst>
      <p:ext uri="{BB962C8B-B14F-4D97-AF65-F5344CB8AC3E}">
        <p14:creationId xmlns:p14="http://schemas.microsoft.com/office/powerpoint/2010/main" val="1914516696"/>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7E1FAC-6756-48FD-9AE9-859919D154C1}"/>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3D31"/>
                </a:solidFill>
                <a:latin typeface="Segoe UI"/>
                <a:ea typeface="Segoe UI"/>
                <a:cs typeface="Segoe UI"/>
              </a:defRPr>
            </a:pPr>
            <a:r>
              <a:rPr sz="3900" b="1">
                <a:solidFill>
                  <a:srgbClr val="173D31"/>
                </a:solidFill>
                <a:latin typeface="Segoe UI"/>
                <a:ea typeface="Segoe UI"/>
                <a:cs typeface="Segoe UI"/>
              </a:rPr>
              <a:t>Data preparation</a:t>
            </a:r>
          </a:p>
        </p:txBody>
      </p:sp>
      <p:sp>
        <p:nvSpPr>
          <p:cNvPr id="2" name="">
            <a:extLst xmlns:a="http://schemas.openxmlformats.org/drawingml/2006/main">
              <a:ext uri="{FF2B5EF4-FFF2-40B4-BE49-F238E27FC236}">
                <a16:creationId xmlns:a16="http://schemas.microsoft.com/office/drawing/2014/main" id="{EA5F5E10-9B4C-4C51-A22D-32B3E923DAC2}"/>
              </a:ext>
            </a:extLst>
          </p:cNvPr>
          <p:cNvSpPr>
            <a:spLocks xmlns:a="http://schemas.openxmlformats.org/drawingml/2006/main" noGrp="1"/>
          </p:cNvSpPr>
          <p:nvPr/>
        </p:nvSpPr>
        <p:spPr>
          <a:xfrm xmlns:a="http://schemas.openxmlformats.org/drawingml/2006/main">
            <a:off x="628650" y="11715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Types, ranges, missing values, categories and repeats checked</a:t>
            </a:r>
          </a:p>
        </p:txBody>
      </p:sp>
      <p:sp>
        <p:nvSpPr>
          <p:cNvPr id="3" name="">
            <a:extLst xmlns:a="http://schemas.openxmlformats.org/drawingml/2006/main">
              <a:ext uri="{FF2B5EF4-FFF2-40B4-BE49-F238E27FC236}">
                <a16:creationId xmlns:a16="http://schemas.microsoft.com/office/drawing/2014/main" id="{51F5E7A3-8FA7-4F92-918C-7E08F0B6EDEA}"/>
              </a:ext>
            </a:extLst>
          </p:cNvPr>
          <p:cNvSpPr>
            <a:spLocks xmlns:a="http://schemas.openxmlformats.org/drawingml/2006/main" noGrp="1"/>
          </p:cNvSpPr>
          <p:nvPr/>
        </p:nvSpPr>
        <p:spPr>
          <a:xfrm xmlns:a="http://schemas.openxmlformats.org/drawingml/2006/main">
            <a:off x="11153775"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86C"/>
                </a:solidFill>
                <a:latin typeface="Segoe UI"/>
                <a:ea typeface="Segoe UI"/>
                <a:cs typeface="Segoe UI"/>
              </a:defRPr>
            </a:pPr>
            <a:r>
              <a:rPr sz="1350" b="0">
                <a:solidFill>
                  <a:srgbClr val="65786C"/>
                </a:solidFill>
                <a:latin typeface="Segoe UI"/>
                <a:ea typeface="Segoe UI"/>
                <a:cs typeface="Segoe UI"/>
              </a:rPr>
              <a:t>05</a:t>
            </a:r>
          </a:p>
        </p:txBody>
      </p:sp>
      <p:graphicFrame>
        <p:nvGraphicFramePr>
          <p:cNvPr id="10" name=""/>
          <p:cNvGraphicFramePr/>
          <p:nvPr/>
        </p:nvGraphicFramePr>
        <p:xfrm>
          <a:off xmlns:a="http://schemas.openxmlformats.org/drawingml/2006/main" x="609600" y="1857375"/>
          <a:ext xmlns:a="http://schemas.openxmlformats.org/drawingml/2006/main" cx="10972800" cy="3600450"/>
        </p:xfrm>
        <a:graphic xmlns:a="http://schemas.openxmlformats.org/drawingml/2006/main">
          <a:graphicData uri="http://schemas.openxmlformats.org/drawingml/2006/table">
            <a:tbl>
              <a:tblPr firstRow="0" bandRow="0"/>
              <a:tblGrid>
                <a:gridCol w="2381250"/>
                <a:gridCol w="4000500"/>
                <a:gridCol w="4591050"/>
              </a:tblGrid>
              <a:tr h="514350">
                <a:tc>
                  <a:txBody>
                    <a:bodyPr>
                      <a:noAutofit/>
                    </a:bodyPr>
                    <a:lstStyle/>
                    <a:p>
                      <a:pPr algn="l"/>
                      <a:r>
                        <a:rPr sz="1725" b="1">
                          <a:solidFill>
                            <a:srgbClr val="F4F2E8"/>
                          </a:solidFill>
                          <a:latin typeface="Segoe UI"/>
                          <a:ea typeface="Segoe UI"/>
                          <a:cs typeface="Segoe UI"/>
                        </a:rPr>
                        <a:t>Input</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173D31"/>
                    </a:solidFill>
                  </a:tcPr>
                </a:tc>
                <a:tc>
                  <a:txBody>
                    <a:bodyPr>
                      <a:noAutofit/>
                    </a:bodyPr>
                    <a:lstStyle/>
                    <a:p>
                      <a:pPr algn="ctr"/>
                      <a:r>
                        <a:rPr sz="1725" b="1">
                          <a:solidFill>
                            <a:srgbClr val="F4F2E8"/>
                          </a:solidFill>
                          <a:latin typeface="Segoe UI"/>
                          <a:ea typeface="Segoe UI"/>
                          <a:cs typeface="Segoe UI"/>
                        </a:rPr>
                        <a:t>Treatment</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173D31"/>
                    </a:solidFill>
                  </a:tcPr>
                </a:tc>
                <a:tc>
                  <a:txBody>
                    <a:bodyPr>
                      <a:noAutofit/>
                    </a:bodyPr>
                    <a:lstStyle/>
                    <a:p>
                      <a:pPr algn="ctr"/>
                      <a:r>
                        <a:rPr sz="1725" b="1">
                          <a:solidFill>
                            <a:srgbClr val="F4F2E8"/>
                          </a:solidFill>
                          <a:latin typeface="Segoe UI"/>
                          <a:ea typeface="Segoe UI"/>
                          <a:cs typeface="Segoe UI"/>
                        </a:rPr>
                        <a:t>Reason</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173D31"/>
                    </a:solidFill>
                  </a:tcPr>
                </a:tc>
              </a:tr>
              <a:tr h="514350">
                <a:tc>
                  <a:txBody>
                    <a:bodyPr>
                      <a:noAutofit/>
                    </a:bodyPr>
                    <a:lstStyle/>
                    <a:p>
                      <a:pPr algn="l"/>
                      <a:r>
                        <a:rPr sz="1725" b="0">
                          <a:solidFill>
                            <a:srgbClr val="173D31"/>
                          </a:solidFill>
                          <a:latin typeface="Segoe UI"/>
                          <a:ea typeface="Segoe UI"/>
                          <a:cs typeface="Segoe UI"/>
                        </a:rPr>
                        <a:t>duration</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725" b="0">
                          <a:solidFill>
                            <a:srgbClr val="173D31"/>
                          </a:solidFill>
                          <a:latin typeface="Segoe UI"/>
                          <a:ea typeface="Segoe UI"/>
                          <a:cs typeface="Segoe UI"/>
                        </a:rPr>
                        <a:t>Exclude</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725" b="0">
                          <a:solidFill>
                            <a:srgbClr val="173D31"/>
                          </a:solidFill>
                          <a:latin typeface="Segoe UI"/>
                          <a:ea typeface="Segoe UI"/>
                          <a:cs typeface="Segoe UI"/>
                        </a:rPr>
                        <a:t>Unknown before the call</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r>
              <a:tr h="514350">
                <a:tc>
                  <a:txBody>
                    <a:bodyPr>
                      <a:noAutofit/>
                    </a:bodyPr>
                    <a:lstStyle/>
                    <a:p>
                      <a:pPr algn="l"/>
                      <a:r>
                        <a:rPr sz="1725" b="0">
                          <a:solidFill>
                            <a:srgbClr val="173D31"/>
                          </a:solidFill>
                          <a:latin typeface="Segoe UI"/>
                          <a:ea typeface="Segoe UI"/>
                          <a:cs typeface="Segoe UI"/>
                        </a:rPr>
                        <a:t>Unknown categories</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725" b="0">
                          <a:solidFill>
                            <a:srgbClr val="173D31"/>
                          </a:solidFill>
                          <a:latin typeface="Segoe UI"/>
                          <a:ea typeface="Segoe UI"/>
                          <a:cs typeface="Segoe UI"/>
                        </a:rPr>
                        <a:t>Keep an explicit category</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725" b="0">
                          <a:solidFill>
                            <a:srgbClr val="173D31"/>
                          </a:solidFill>
                          <a:latin typeface="Segoe UI"/>
                          <a:ea typeface="Segoe UI"/>
                          <a:cs typeface="Segoe UI"/>
                        </a:rPr>
                        <a:t>Avoid deleting observations</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r>
              <a:tr h="514350">
                <a:tc>
                  <a:txBody>
                    <a:bodyPr>
                      <a:noAutofit/>
                    </a:bodyPr>
                    <a:lstStyle/>
                    <a:p>
                      <a:pPr algn="l"/>
                      <a:r>
                        <a:rPr sz="1725" b="0">
                          <a:solidFill>
                            <a:srgbClr val="173D31"/>
                          </a:solidFill>
                          <a:latin typeface="Segoe UI"/>
                          <a:ea typeface="Segoe UI"/>
                          <a:cs typeface="Segoe UI"/>
                        </a:rPr>
                        <a:t>pdays = 999</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725" b="0">
                          <a:solidFill>
                            <a:srgbClr val="173D31"/>
                          </a:solidFill>
                          <a:latin typeface="Segoe UI"/>
                          <a:ea typeface="Segoe UI"/>
                          <a:cs typeface="Segoe UI"/>
                        </a:rPr>
                        <a:t>Contact flag + imputation</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725" b="0">
                          <a:solidFill>
                            <a:srgbClr val="173D31"/>
                          </a:solidFill>
                          <a:latin typeface="Segoe UI"/>
                          <a:ea typeface="Segoe UI"/>
                          <a:cs typeface="Segoe UI"/>
                        </a:rPr>
                        <a:t>Separate absence from elapsed days</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r>
              <a:tr h="514350">
                <a:tc>
                  <a:txBody>
                    <a:bodyPr>
                      <a:noAutofit/>
                    </a:bodyPr>
                    <a:lstStyle/>
                    <a:p>
                      <a:pPr algn="l"/>
                      <a:r>
                        <a:rPr sz="1725" b="0">
                          <a:solidFill>
                            <a:srgbClr val="173D31"/>
                          </a:solidFill>
                          <a:latin typeface="Segoe UI"/>
                          <a:ea typeface="Segoe UI"/>
                          <a:cs typeface="Segoe UI"/>
                        </a:rPr>
                        <a:t>Categorical features</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725" b="0">
                          <a:solidFill>
                            <a:srgbClr val="173D31"/>
                          </a:solidFill>
                          <a:latin typeface="Segoe UI"/>
                          <a:ea typeface="Segoe UI"/>
                          <a:cs typeface="Segoe UI"/>
                        </a:rPr>
                        <a:t>One-hot encoding</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725" b="0">
                          <a:solidFill>
                            <a:srgbClr val="173D31"/>
                          </a:solidFill>
                          <a:latin typeface="Segoe UI"/>
                          <a:ea typeface="Segoe UI"/>
                          <a:cs typeface="Segoe UI"/>
                        </a:rPr>
                        <a:t>Avoid an artificial numeric order</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r>
              <a:tr h="514350">
                <a:tc>
                  <a:txBody>
                    <a:bodyPr>
                      <a:noAutofit/>
                    </a:bodyPr>
                    <a:lstStyle/>
                    <a:p>
                      <a:pPr algn="l"/>
                      <a:r>
                        <a:rPr sz="1725" b="0">
                          <a:solidFill>
                            <a:srgbClr val="173D31"/>
                          </a:solidFill>
                          <a:latin typeface="Segoe UI"/>
                          <a:ea typeface="Segoe UI"/>
                          <a:cs typeface="Segoe UI"/>
                        </a:rPr>
                        <a:t>Contact counts</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725" b="0">
                          <a:solidFill>
                            <a:srgbClr val="173D31"/>
                          </a:solidFill>
                          <a:latin typeface="Segoe UI"/>
                          <a:ea typeface="Segoe UI"/>
                          <a:cs typeface="Segoe UI"/>
                        </a:rPr>
                        <a:t>Prior counts + log transform</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725" b="0">
                          <a:solidFill>
                            <a:srgbClr val="173D31"/>
                          </a:solidFill>
                          <a:latin typeface="Segoe UI"/>
                          <a:ea typeface="Segoe UI"/>
                          <a:cs typeface="Segoe UI"/>
                        </a:rPr>
                        <a:t>Represent prior history and skew</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r>
              <a:tr h="514350">
                <a:tc>
                  <a:txBody>
                    <a:bodyPr>
                      <a:noAutofit/>
                    </a:bodyPr>
                    <a:lstStyle/>
                    <a:p>
                      <a:pPr algn="l"/>
                      <a:r>
                        <a:rPr sz="1725" b="0">
                          <a:solidFill>
                            <a:srgbClr val="173D31"/>
                          </a:solidFill>
                          <a:latin typeface="Segoe UI"/>
                          <a:ea typeface="Segoe UI"/>
                          <a:cs typeface="Segoe UI"/>
                        </a:rPr>
                        <a:t>Numeric features</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725" b="0">
                          <a:solidFill>
                            <a:srgbClr val="173D31"/>
                          </a:solidFill>
                          <a:latin typeface="Segoe UI"/>
                          <a:ea typeface="Segoe UI"/>
                          <a:cs typeface="Segoe UI"/>
                        </a:rPr>
                        <a:t>Scale for KNN and SVM</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725" b="0">
                          <a:solidFill>
                            <a:srgbClr val="173D31"/>
                          </a:solidFill>
                          <a:latin typeface="Segoe UI"/>
                          <a:ea typeface="Segoe UI"/>
                          <a:cs typeface="Segoe UI"/>
                        </a:rPr>
                        <a:t>Comparable distances and margins</a:t>
                      </a:r>
                    </a:p>
                  </a:txBody>
                  <a:tcPr marL="133350" marR="133350" marT="19050" marB="19050" anchor="ctr">
                    <a:lnL w="6350">
                      <a:noFill/>
                    </a:lnL>
                    <a:lnR w="6350">
                      <a:noFill/>
                    </a:lnR>
                    <a:lnT w="6350">
                      <a:noFill/>
                    </a:lnT>
                    <a:lnB w="6350">
                      <a:solidFill>
                        <a:srgbClr val="D9DFD2"/>
                      </a:solidFill>
                    </a:lnB>
                    <a:lnTlToBr w="6350">
                      <a:noFill/>
                    </a:lnTlToBr>
                    <a:lnBlToTr w="6350">
                      <a:noFill/>
                    </a:lnBlToTr>
                    <a:solidFill>
                      <a:srgbClr val="F7F6F0"/>
                    </a:solidFill>
                  </a:tcPr>
                </a:tc>
              </a:tr>
            </a:tbl>
          </a:graphicData>
        </a:graphic>
      </p:graphicFrame>
      <p:sp>
        <p:nvSpPr>
          <p:cNvPr id="5" name="">
            <a:extLst xmlns:a="http://schemas.openxmlformats.org/drawingml/2006/main">
              <a:ext uri="{FF2B5EF4-FFF2-40B4-BE49-F238E27FC236}">
                <a16:creationId xmlns:a16="http://schemas.microsoft.com/office/drawing/2014/main" id="{97B0A8D5-720D-4230-AAD5-B0939C4C1040}"/>
              </a:ext>
            </a:extLst>
          </p:cNvPr>
          <p:cNvSpPr>
            <a:spLocks xmlns:a="http://schemas.openxmlformats.org/drawingml/2006/main" noGrp="1"/>
          </p:cNvSpPr>
          <p:nvPr/>
        </p:nvSpPr>
        <p:spPr>
          <a:xfrm xmlns:a="http://schemas.openxmlformats.org/drawingml/2006/main">
            <a:off x="609600" y="57340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D31"/>
                </a:solidFill>
                <a:latin typeface="Segoe UI"/>
                <a:ea typeface="Segoe UI"/>
                <a:cs typeface="Segoe UI"/>
              </a:defRPr>
            </a:pPr>
            <a:r>
              <a:rPr sz="2100" b="1">
                <a:solidFill>
                  <a:srgbClr val="173D31"/>
                </a:solidFill>
                <a:latin typeface="Segoe UI"/>
                <a:ea typeface="Segoe UI"/>
                <a:cs typeface="Segoe UI"/>
              </a:rPr>
              <a:t>All learned transformations fit inside each training fold.</a:t>
            </a:r>
          </a:p>
        </p:txBody>
      </p:sp>
      <p:sp>
        <p:nvSpPr>
          <p:cNvPr id="6" name="">
            <a:extLst xmlns:a="http://schemas.openxmlformats.org/drawingml/2006/main">
              <a:ext uri="{FF2B5EF4-FFF2-40B4-BE49-F238E27FC236}">
                <a16:creationId xmlns:a16="http://schemas.microsoft.com/office/drawing/2014/main" id="{C3A6E4CA-6F11-4B12-98BD-16B21B0AC131}"/>
              </a:ext>
            </a:extLst>
          </p:cNvPr>
          <p:cNvSpPr>
            <a:spLocks xmlns:a="http://schemas.openxmlformats.org/drawingml/2006/main" noGrp="1"/>
          </p:cNvSpPr>
          <p:nvPr/>
        </p:nvSpPr>
        <p:spPr>
          <a:xfrm xmlns:a="http://schemas.openxmlformats.org/drawingml/2006/main">
            <a:off x="609600" y="61531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12 exact repeated records retained; identical predictor profiles stay together.</a:t>
            </a:r>
          </a:p>
        </p:txBody>
      </p:sp>
    </p:spTree>
    <p:extLst>
      <p:ext uri="{BB962C8B-B14F-4D97-AF65-F5344CB8AC3E}">
        <p14:creationId xmlns:p14="http://schemas.microsoft.com/office/powerpoint/2010/main" val="1127754768"/>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B85178-4543-4BEA-BD86-3897C5ABF2F6}"/>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3D31"/>
                </a:solidFill>
                <a:latin typeface="Segoe UI"/>
                <a:ea typeface="Segoe UI"/>
                <a:cs typeface="Segoe UI"/>
              </a:defRPr>
            </a:pPr>
            <a:r>
              <a:rPr sz="3900" b="1">
                <a:solidFill>
                  <a:srgbClr val="173D31"/>
                </a:solidFill>
                <a:latin typeface="Segoe UI"/>
                <a:ea typeface="Segoe UI"/>
                <a:cs typeface="Segoe UI"/>
              </a:rPr>
              <a:t>Evaluation design</a:t>
            </a:r>
          </a:p>
        </p:txBody>
      </p:sp>
      <p:sp>
        <p:nvSpPr>
          <p:cNvPr id="2" name="">
            <a:extLst xmlns:a="http://schemas.openxmlformats.org/drawingml/2006/main">
              <a:ext uri="{FF2B5EF4-FFF2-40B4-BE49-F238E27FC236}">
                <a16:creationId xmlns:a16="http://schemas.microsoft.com/office/drawing/2014/main" id="{D6645AA5-B696-48C2-B1B0-E9C53EE67323}"/>
              </a:ext>
            </a:extLst>
          </p:cNvPr>
          <p:cNvSpPr>
            <a:spLocks xmlns:a="http://schemas.openxmlformats.org/drawingml/2006/main" noGrp="1"/>
          </p:cNvSpPr>
          <p:nvPr/>
        </p:nvSpPr>
        <p:spPr>
          <a:xfrm xmlns:a="http://schemas.openxmlformats.org/drawingml/2006/main">
            <a:off x="628650" y="11715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Grouped random partitions · five-fold CV on train</a:t>
            </a:r>
          </a:p>
        </p:txBody>
      </p:sp>
      <p:sp>
        <p:nvSpPr>
          <p:cNvPr id="3" name="">
            <a:extLst xmlns:a="http://schemas.openxmlformats.org/drawingml/2006/main">
              <a:ext uri="{FF2B5EF4-FFF2-40B4-BE49-F238E27FC236}">
                <a16:creationId xmlns:a16="http://schemas.microsoft.com/office/drawing/2014/main" id="{A30FD7A5-94EB-4D11-87CB-6EBAA0699B7C}"/>
              </a:ext>
            </a:extLst>
          </p:cNvPr>
          <p:cNvSpPr>
            <a:spLocks xmlns:a="http://schemas.openxmlformats.org/drawingml/2006/main" noGrp="1"/>
          </p:cNvSpPr>
          <p:nvPr/>
        </p:nvSpPr>
        <p:spPr>
          <a:xfrm xmlns:a="http://schemas.openxmlformats.org/drawingml/2006/main">
            <a:off x="11153775"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86C"/>
                </a:solidFill>
                <a:latin typeface="Segoe UI"/>
                <a:ea typeface="Segoe UI"/>
                <a:cs typeface="Segoe UI"/>
              </a:defRPr>
            </a:pPr>
            <a:r>
              <a:rPr sz="1350" b="0">
                <a:solidFill>
                  <a:srgbClr val="65786C"/>
                </a:solidFill>
                <a:latin typeface="Segoe UI"/>
                <a:ea typeface="Segoe UI"/>
                <a:cs typeface="Segoe UI"/>
              </a:rPr>
              <a:t>06</a:t>
            </a:r>
          </a:p>
        </p:txBody>
      </p:sp>
      <p:sp>
        <p:nvSpPr>
          <p:cNvPr id="4" name="">
            <a:extLst xmlns:a="http://schemas.openxmlformats.org/drawingml/2006/main">
              <a:ext uri="{FF2B5EF4-FFF2-40B4-BE49-F238E27FC236}">
                <a16:creationId xmlns:a16="http://schemas.microsoft.com/office/drawing/2014/main" id="{E57FBAAD-D806-4F86-BE1E-2EE260D70859}"/>
              </a:ext>
            </a:extLst>
          </p:cNvPr>
          <p:cNvSpPr>
            <a:spLocks xmlns:a="http://schemas.openxmlformats.org/drawingml/2006/main" noGrp="1"/>
          </p:cNvSpPr>
          <p:nvPr/>
        </p:nvSpPr>
        <p:spPr>
          <a:xfrm xmlns:a="http://schemas.openxmlformats.org/drawingml/2006/main">
            <a:off x="609600" y="1762125"/>
            <a:ext cx="619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75" b="1">
                <a:solidFill>
                  <a:srgbClr val="397D66"/>
                </a:solidFill>
                <a:latin typeface="Segoe UI"/>
                <a:ea typeface="Segoe UI"/>
                <a:cs typeface="Segoe UI"/>
              </a:defRPr>
            </a:pPr>
            <a:r>
              <a:rPr sz="5775" b="1">
                <a:solidFill>
                  <a:srgbClr val="397D66"/>
                </a:solidFill>
                <a:latin typeface="Segoe UI"/>
                <a:ea typeface="Segoe UI"/>
                <a:cs typeface="Segoe UI"/>
              </a:rPr>
              <a:t>60 / 20 / 20</a:t>
            </a:r>
          </a:p>
        </p:txBody>
      </p:sp>
      <p:sp>
        <p:nvSpPr>
          <p:cNvPr id="5" name="">
            <a:extLst xmlns:a="http://schemas.openxmlformats.org/drawingml/2006/main">
              <a:ext uri="{FF2B5EF4-FFF2-40B4-BE49-F238E27FC236}">
                <a16:creationId xmlns:a16="http://schemas.microsoft.com/office/drawing/2014/main" id="{60F9B303-DD11-49DD-9CC5-0A872C3E8118}"/>
              </a:ext>
            </a:extLst>
          </p:cNvPr>
          <p:cNvSpPr>
            <a:spLocks xmlns:a="http://schemas.openxmlformats.org/drawingml/2006/main" noGrp="1"/>
          </p:cNvSpPr>
          <p:nvPr/>
        </p:nvSpPr>
        <p:spPr>
          <a:xfrm xmlns:a="http://schemas.openxmlformats.org/drawingml/2006/main">
            <a:off x="7258050" y="1971675"/>
            <a:ext cx="4324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86C"/>
                </a:solidFill>
                <a:latin typeface="Segoe UI"/>
                <a:ea typeface="Segoe UI"/>
                <a:cs typeface="Segoe UI"/>
              </a:defRPr>
            </a:pPr>
            <a:r>
              <a:rPr sz="1875" b="0">
                <a:solidFill>
                  <a:srgbClr val="65786C"/>
                </a:solidFill>
                <a:latin typeface="Segoe UI"/>
                <a:ea typeface="Segoe UI"/>
                <a:cs typeface="Segoe UI"/>
              </a:rPr>
              <a:t>Approximate percentages</a:t>
            </a:r>
          </a:p>
          <a:p xmlns:a="http://schemas.openxmlformats.org/drawingml/2006/main">
            <a:pPr algn="l">
              <a:defRPr sz="1875" b="0">
                <a:solidFill>
                  <a:srgbClr val="65786C"/>
                </a:solidFill>
                <a:latin typeface="Segoe UI"/>
                <a:ea typeface="Segoe UI"/>
                <a:cs typeface="Segoe UI"/>
              </a:defRPr>
            </a:pPr>
            <a:r>
              <a:rPr sz="1875" b="0">
                <a:solidFill>
                  <a:srgbClr val="65786C"/>
                </a:solidFill>
                <a:latin typeface="Segoe UI"/>
                <a:ea typeface="Segoe UI"/>
                <a:cs typeface="Segoe UI"/>
              </a:rPr>
              <a:t>Train / validation / test</a:t>
            </a:r>
          </a:p>
        </p:txBody>
      </p:sp>
      <p:graphicFrame>
        <p:nvGraphicFramePr>
          <p:cNvPr id="14" name=""/>
          <p:cNvGraphicFramePr/>
          <p:nvPr/>
        </p:nvGraphicFramePr>
        <p:xfrm>
          <a:off xmlns:a="http://schemas.openxmlformats.org/drawingml/2006/main" x="609600" y="2952750"/>
          <a:ext xmlns:a="http://schemas.openxmlformats.org/drawingml/2006/main" cx="10972800" cy="2209800"/>
        </p:xfrm>
        <a:graphic xmlns:a="http://schemas.openxmlformats.org/drawingml/2006/main">
          <a:graphicData uri="http://schemas.openxmlformats.org/drawingml/2006/table">
            <a:tbl>
              <a:tblPr firstRow="0" bandRow="0"/>
              <a:tblGrid>
                <a:gridCol w="2238375"/>
                <a:gridCol w="2238375"/>
                <a:gridCol w="6496050"/>
              </a:tblGrid>
              <a:tr h="552450">
                <a:tc>
                  <a:txBody>
                    <a:bodyPr>
                      <a:noAutofit/>
                    </a:bodyPr>
                    <a:lstStyle/>
                    <a:p>
                      <a:pPr algn="l"/>
                      <a:r>
                        <a:rPr sz="1875" b="1">
                          <a:solidFill>
                            <a:srgbClr val="F4F2E8"/>
                          </a:solidFill>
                          <a:latin typeface="Segoe UI"/>
                          <a:ea typeface="Segoe UI"/>
                          <a:cs typeface="Segoe UI"/>
                        </a:rPr>
                        <a:t>Partition</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173D31"/>
                    </a:solidFill>
                  </a:tcPr>
                </a:tc>
                <a:tc>
                  <a:txBody>
                    <a:bodyPr>
                      <a:noAutofit/>
                    </a:bodyPr>
                    <a:lstStyle/>
                    <a:p>
                      <a:pPr algn="ctr"/>
                      <a:r>
                        <a:rPr sz="1875" b="1">
                          <a:solidFill>
                            <a:srgbClr val="F4F2E8"/>
                          </a:solidFill>
                          <a:latin typeface="Segoe UI"/>
                          <a:ea typeface="Segoe UI"/>
                          <a:cs typeface="Segoe UI"/>
                        </a:rPr>
                        <a:t>Records</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173D31"/>
                    </a:solidFill>
                  </a:tcPr>
                </a:tc>
                <a:tc>
                  <a:txBody>
                    <a:bodyPr>
                      <a:noAutofit/>
                    </a:bodyPr>
                    <a:lstStyle/>
                    <a:p>
                      <a:pPr algn="ctr"/>
                      <a:r>
                        <a:rPr sz="1875" b="1">
                          <a:solidFill>
                            <a:srgbClr val="F4F2E8"/>
                          </a:solidFill>
                          <a:latin typeface="Segoe UI"/>
                          <a:ea typeface="Segoe UI"/>
                          <a:cs typeface="Segoe UI"/>
                        </a:rPr>
                        <a:t>Purpose</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173D31"/>
                    </a:solidFill>
                  </a:tcPr>
                </a:tc>
              </a:tr>
              <a:tr h="552450">
                <a:tc>
                  <a:txBody>
                    <a:bodyPr>
                      <a:noAutofit/>
                    </a:bodyPr>
                    <a:lstStyle/>
                    <a:p>
                      <a:pPr algn="l"/>
                      <a:r>
                        <a:rPr sz="1875" b="0">
                          <a:solidFill>
                            <a:srgbClr val="173D31"/>
                          </a:solidFill>
                          <a:latin typeface="Segoe UI"/>
                          <a:ea typeface="Segoe UI"/>
                          <a:cs typeface="Segoe UI"/>
                        </a:rPr>
                        <a:t>Train</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75" b="0">
                          <a:solidFill>
                            <a:srgbClr val="173D31"/>
                          </a:solidFill>
                          <a:latin typeface="Segoe UI"/>
                          <a:ea typeface="Segoe UI"/>
                          <a:cs typeface="Segoe UI"/>
                        </a:rPr>
                        <a:t>24,713</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75" b="0">
                          <a:solidFill>
                            <a:srgbClr val="173D31"/>
                          </a:solidFill>
                          <a:latin typeface="Segoe UI"/>
                          <a:ea typeface="Segoe UI"/>
                          <a:cs typeface="Segoe UI"/>
                        </a:rPr>
                        <a:t>EDA, fitting and cross-validation</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r>
              <a:tr h="552450">
                <a:tc>
                  <a:txBody>
                    <a:bodyPr>
                      <a:noAutofit/>
                    </a:bodyPr>
                    <a:lstStyle/>
                    <a:p>
                      <a:pPr algn="l"/>
                      <a:r>
                        <a:rPr sz="1875" b="0">
                          <a:solidFill>
                            <a:srgbClr val="173D31"/>
                          </a:solidFill>
                          <a:latin typeface="Segoe UI"/>
                          <a:ea typeface="Segoe UI"/>
                          <a:cs typeface="Segoe UI"/>
                        </a:rPr>
                        <a:t>Validation</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75" b="0">
                          <a:solidFill>
                            <a:srgbClr val="173D31"/>
                          </a:solidFill>
                          <a:latin typeface="Segoe UI"/>
                          <a:ea typeface="Segoe UI"/>
                          <a:cs typeface="Segoe UI"/>
                        </a:rPr>
                        <a:t>8,238</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75" b="0">
                          <a:solidFill>
                            <a:srgbClr val="173D31"/>
                          </a:solidFill>
                          <a:latin typeface="Segoe UI"/>
                          <a:ea typeface="Segoe UI"/>
                          <a:cs typeface="Segoe UI"/>
                        </a:rPr>
                        <a:t>Compare candidates and inspect errors</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r>
              <a:tr h="552450">
                <a:tc>
                  <a:txBody>
                    <a:bodyPr>
                      <a:noAutofit/>
                    </a:bodyPr>
                    <a:lstStyle/>
                    <a:p>
                      <a:pPr algn="l"/>
                      <a:r>
                        <a:rPr sz="1875" b="0">
                          <a:solidFill>
                            <a:srgbClr val="173D31"/>
                          </a:solidFill>
                          <a:latin typeface="Segoe UI"/>
                          <a:ea typeface="Segoe UI"/>
                          <a:cs typeface="Segoe UI"/>
                        </a:rPr>
                        <a:t>Test</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75" b="0">
                          <a:solidFill>
                            <a:srgbClr val="173D31"/>
                          </a:solidFill>
                          <a:latin typeface="Segoe UI"/>
                          <a:ea typeface="Segoe UI"/>
                          <a:cs typeface="Segoe UI"/>
                        </a:rPr>
                        <a:t>8,237</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75" b="0">
                          <a:solidFill>
                            <a:srgbClr val="173D31"/>
                          </a:solidFill>
                          <a:latin typeface="Segoe UI"/>
                          <a:ea typeface="Segoe UI"/>
                          <a:cs typeface="Segoe UI"/>
                        </a:rPr>
                        <a:t>Reserved for the final stage</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FF7A1571-57E1-4C5A-8EFB-1C667942BD11}"/>
              </a:ext>
            </a:extLst>
          </p:cNvPr>
          <p:cNvSpPr>
            <a:spLocks xmlns:a="http://schemas.openxmlformats.org/drawingml/2006/main" noGrp="1"/>
          </p:cNvSpPr>
          <p:nvPr/>
        </p:nvSpPr>
        <p:spPr>
          <a:xfrm xmlns:a="http://schemas.openxmlformats.org/drawingml/2006/main">
            <a:off x="609600" y="54387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D31"/>
                </a:solidFill>
                <a:latin typeface="Segoe UI"/>
                <a:ea typeface="Segoe UI"/>
                <a:cs typeface="Segoe UI"/>
              </a:defRPr>
            </a:pPr>
            <a:r>
              <a:rPr sz="2100" b="1">
                <a:solidFill>
                  <a:srgbClr val="173D31"/>
                </a:solidFill>
                <a:latin typeface="Segoe UI"/>
                <a:ea typeface="Segoe UI"/>
                <a:cs typeface="Segoe UI"/>
              </a:rPr>
              <a:t>Identical profiles stay together across partitions and CV folds.</a:t>
            </a:r>
          </a:p>
        </p:txBody>
      </p:sp>
      <p:sp>
        <p:nvSpPr>
          <p:cNvPr id="8" name="">
            <a:extLst xmlns:a="http://schemas.openxmlformats.org/drawingml/2006/main">
              <a:ext uri="{FF2B5EF4-FFF2-40B4-BE49-F238E27FC236}">
                <a16:creationId xmlns:a16="http://schemas.microsoft.com/office/drawing/2014/main" id="{6EFA10A0-5C1E-458E-ACB9-2CB3A90B38CB}"/>
              </a:ext>
            </a:extLst>
          </p:cNvPr>
          <p:cNvSpPr>
            <a:spLocks xmlns:a="http://schemas.openxmlformats.org/drawingml/2006/main" noGrp="1"/>
          </p:cNvSpPr>
          <p:nvPr/>
        </p:nvSpPr>
        <p:spPr>
          <a:xfrm xmlns:a="http://schemas.openxmlformats.org/drawingml/2006/main">
            <a:off x="609600" y="59150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CV selects by positive-class F1. Random splits mix historical periods;</a:t>
            </a:r>
          </a:p>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future-campaign performance remains untested.</a:t>
            </a:r>
          </a:p>
        </p:txBody>
      </p:sp>
    </p:spTree>
    <p:extLst>
      <p:ext uri="{BB962C8B-B14F-4D97-AF65-F5344CB8AC3E}">
        <p14:creationId xmlns:p14="http://schemas.microsoft.com/office/powerpoint/2010/main" val="1807173556"/>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7CB323-0970-4680-B83E-A71F05913FC2}"/>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3D31"/>
                </a:solidFill>
                <a:latin typeface="Segoe UI"/>
                <a:ea typeface="Segoe UI"/>
                <a:cs typeface="Segoe UI"/>
              </a:defRPr>
            </a:pPr>
            <a:r>
              <a:rPr sz="3900" b="1">
                <a:solidFill>
                  <a:srgbClr val="173D31"/>
                </a:solidFill>
                <a:latin typeface="Segoe UI"/>
                <a:ea typeface="Segoe UI"/>
                <a:cs typeface="Segoe UI"/>
              </a:rPr>
              <a:t>Baseline and lecture algorithms</a:t>
            </a:r>
          </a:p>
        </p:txBody>
      </p:sp>
      <p:sp>
        <p:nvSpPr>
          <p:cNvPr id="2" name="">
            <a:extLst xmlns:a="http://schemas.openxmlformats.org/drawingml/2006/main">
              <a:ext uri="{FF2B5EF4-FFF2-40B4-BE49-F238E27FC236}">
                <a16:creationId xmlns:a16="http://schemas.microsoft.com/office/drawing/2014/main" id="{87D3E9A0-069C-4D5A-BC5D-7AF2906FD51A}"/>
              </a:ext>
            </a:extLst>
          </p:cNvPr>
          <p:cNvSpPr>
            <a:spLocks xmlns:a="http://schemas.openxmlformats.org/drawingml/2006/main" noGrp="1"/>
          </p:cNvSpPr>
          <p:nvPr/>
        </p:nvSpPr>
        <p:spPr>
          <a:xfrm xmlns:a="http://schemas.openxmlformats.org/drawingml/2006/main">
            <a:off x="628650" y="11715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Hyperparameters selected by mean training-CV F1</a:t>
            </a:r>
          </a:p>
        </p:txBody>
      </p:sp>
      <p:sp>
        <p:nvSpPr>
          <p:cNvPr id="3" name="">
            <a:extLst xmlns:a="http://schemas.openxmlformats.org/drawingml/2006/main">
              <a:ext uri="{FF2B5EF4-FFF2-40B4-BE49-F238E27FC236}">
                <a16:creationId xmlns:a16="http://schemas.microsoft.com/office/drawing/2014/main" id="{D9D6A666-3C9D-4565-906D-EC9BD05DA3D7}"/>
              </a:ext>
            </a:extLst>
          </p:cNvPr>
          <p:cNvSpPr>
            <a:spLocks xmlns:a="http://schemas.openxmlformats.org/drawingml/2006/main" noGrp="1"/>
          </p:cNvSpPr>
          <p:nvPr/>
        </p:nvSpPr>
        <p:spPr>
          <a:xfrm xmlns:a="http://schemas.openxmlformats.org/drawingml/2006/main">
            <a:off x="11153775"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86C"/>
                </a:solidFill>
                <a:latin typeface="Segoe UI"/>
                <a:ea typeface="Segoe UI"/>
                <a:cs typeface="Segoe UI"/>
              </a:defRPr>
            </a:pPr>
            <a:r>
              <a:rPr sz="1350" b="0">
                <a:solidFill>
                  <a:srgbClr val="65786C"/>
                </a:solidFill>
                <a:latin typeface="Segoe UI"/>
                <a:ea typeface="Segoe UI"/>
                <a:cs typeface="Segoe UI"/>
              </a:rPr>
              <a:t>07</a:t>
            </a:r>
          </a:p>
        </p:txBody>
      </p:sp>
      <p:graphicFrame>
        <p:nvGraphicFramePr>
          <p:cNvPr id="10" name=""/>
          <p:cNvGraphicFramePr/>
          <p:nvPr/>
        </p:nvGraphicFramePr>
        <p:xfrm>
          <a:off xmlns:a="http://schemas.openxmlformats.org/drawingml/2006/main" x="609600" y="1885950"/>
          <a:ext xmlns:a="http://schemas.openxmlformats.org/drawingml/2006/main" cx="10972800" cy="3543300"/>
        </p:xfrm>
        <a:graphic xmlns:a="http://schemas.openxmlformats.org/drawingml/2006/main">
          <a:graphicData uri="http://schemas.openxmlformats.org/drawingml/2006/table">
            <a:tbl>
              <a:tblPr firstRow="0" bandRow="0"/>
              <a:tblGrid>
                <a:gridCol w="2076450"/>
                <a:gridCol w="4543425"/>
                <a:gridCol w="2571750"/>
                <a:gridCol w="1781175"/>
              </a:tblGrid>
              <a:tr h="708660">
                <a:tc>
                  <a:txBody>
                    <a:bodyPr>
                      <a:noAutofit/>
                    </a:bodyPr>
                    <a:lstStyle/>
                    <a:p>
                      <a:pPr algn="l"/>
                      <a:r>
                        <a:rPr sz="1800" b="1">
                          <a:solidFill>
                            <a:srgbClr val="F4F2E8"/>
                          </a:solidFill>
                          <a:latin typeface="Segoe UI"/>
                          <a:ea typeface="Segoe UI"/>
                          <a:cs typeface="Segoe UI"/>
                        </a:rPr>
                        <a:t>Model</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173D31"/>
                    </a:solidFill>
                  </a:tcPr>
                </a:tc>
                <a:tc>
                  <a:txBody>
                    <a:bodyPr>
                      <a:noAutofit/>
                    </a:bodyPr>
                    <a:lstStyle/>
                    <a:p>
                      <a:pPr algn="ctr"/>
                      <a:r>
                        <a:rPr sz="1800" b="1">
                          <a:solidFill>
                            <a:srgbClr val="F4F2E8"/>
                          </a:solidFill>
                          <a:latin typeface="Segoe UI"/>
                          <a:ea typeface="Segoe UI"/>
                          <a:cs typeface="Segoe UI"/>
                        </a:rPr>
                        <a:t>Selected settings</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173D31"/>
                    </a:solidFill>
                  </a:tcPr>
                </a:tc>
                <a:tc>
                  <a:txBody>
                    <a:bodyPr>
                      <a:noAutofit/>
                    </a:bodyPr>
                    <a:lstStyle/>
                    <a:p>
                      <a:pPr algn="ctr"/>
                      <a:r>
                        <a:rPr sz="1800" b="1">
                          <a:solidFill>
                            <a:srgbClr val="F4F2E8"/>
                          </a:solidFill>
                          <a:latin typeface="Segoe UI"/>
                          <a:ea typeface="Segoe UI"/>
                          <a:cs typeface="Segoe UI"/>
                        </a:rPr>
                        <a:t>CV F1 ± SD</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173D31"/>
                    </a:solidFill>
                  </a:tcPr>
                </a:tc>
                <a:tc>
                  <a:txBody>
                    <a:bodyPr>
                      <a:noAutofit/>
                    </a:bodyPr>
                    <a:lstStyle/>
                    <a:p>
                      <a:pPr algn="ctr"/>
                      <a:r>
                        <a:rPr sz="1800" b="1">
                          <a:solidFill>
                            <a:srgbClr val="F4F2E8"/>
                          </a:solidFill>
                          <a:latin typeface="Segoe UI"/>
                          <a:ea typeface="Segoe UI"/>
                          <a:cs typeface="Segoe UI"/>
                        </a:rPr>
                        <a:t>Candidates</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173D31"/>
                    </a:solidFill>
                  </a:tcPr>
                </a:tc>
              </a:tr>
              <a:tr h="708660">
                <a:tc>
                  <a:txBody>
                    <a:bodyPr>
                      <a:noAutofit/>
                    </a:bodyPr>
                    <a:lstStyle/>
                    <a:p>
                      <a:pPr algn="l"/>
                      <a:r>
                        <a:rPr sz="1800" b="0">
                          <a:solidFill>
                            <a:srgbClr val="173D31"/>
                          </a:solidFill>
                          <a:latin typeface="Segoe UI"/>
                          <a:ea typeface="Segoe UI"/>
                          <a:cs typeface="Segoe UI"/>
                        </a:rPr>
                        <a:t>Majority baseline</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Always predict no</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Not tuned</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1</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r>
              <a:tr h="708660">
                <a:tc>
                  <a:txBody>
                    <a:bodyPr>
                      <a:noAutofit/>
                    </a:bodyPr>
                    <a:lstStyle/>
                    <a:p>
                      <a:pPr algn="l"/>
                      <a:r>
                        <a:rPr sz="1800" b="0">
                          <a:solidFill>
                            <a:srgbClr val="173D31"/>
                          </a:solidFill>
                          <a:latin typeface="Segoe UI"/>
                          <a:ea typeface="Segoe UI"/>
                          <a:cs typeface="Segoe UI"/>
                        </a:rPr>
                        <a:t>Decision Tree</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Depth 10, minimum leaf 20</a:t>
                      </a:r>
                    </a:p>
                    <a:p>
                      <a:pPr algn="ctr"/>
                      <a:r>
                        <a:rPr sz="1800" b="0">
                          <a:solidFill>
                            <a:srgbClr val="173D31"/>
                          </a:solidFill>
                          <a:latin typeface="Segoe UI"/>
                          <a:ea typeface="Segoe UI"/>
                          <a:cs typeface="Segoe UI"/>
                        </a:rPr>
                        <a:t>Balanced class weights</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0.446 ± 0.023</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12</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r>
              <a:tr h="708660">
                <a:tc>
                  <a:txBody>
                    <a:bodyPr>
                      <a:noAutofit/>
                    </a:bodyPr>
                    <a:lstStyle/>
                    <a:p>
                      <a:pPr algn="l"/>
                      <a:r>
                        <a:rPr sz="1800" b="0">
                          <a:solidFill>
                            <a:srgbClr val="173D31"/>
                          </a:solidFill>
                          <a:latin typeface="Segoe UI"/>
                          <a:ea typeface="Segoe UI"/>
                          <a:cs typeface="Segoe UI"/>
                        </a:rPr>
                        <a:t>KNN</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15 neighbours</a:t>
                      </a:r>
                    </a:p>
                    <a:p>
                      <a:pPr algn="ctr"/>
                      <a:r>
                        <a:rPr sz="1800" b="0">
                          <a:solidFill>
                            <a:srgbClr val="173D31"/>
                          </a:solidFill>
                          <a:latin typeface="Segoe UI"/>
                          <a:ea typeface="Segoe UI"/>
                          <a:cs typeface="Segoe UI"/>
                        </a:rPr>
                        <a:t>Distance weighting</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0.354 ± 0.010</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6</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r>
              <a:tr h="708660">
                <a:tc>
                  <a:txBody>
                    <a:bodyPr>
                      <a:noAutofit/>
                    </a:bodyPr>
                    <a:lstStyle/>
                    <a:p>
                      <a:pPr algn="l"/>
                      <a:r>
                        <a:rPr sz="1800" b="0">
                          <a:solidFill>
                            <a:srgbClr val="173D31"/>
                          </a:solidFill>
                          <a:latin typeface="Segoe UI"/>
                          <a:ea typeface="Segoe UI"/>
                          <a:cs typeface="Segoe UI"/>
                        </a:rPr>
                        <a:t>Linear SVM</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Linear kernel, C = 1</a:t>
                      </a:r>
                    </a:p>
                    <a:p>
                      <a:pPr algn="ctr"/>
                      <a:r>
                        <a:rPr sz="1800" b="0">
                          <a:solidFill>
                            <a:srgbClr val="173D31"/>
                          </a:solidFill>
                          <a:latin typeface="Segoe UI"/>
                          <a:ea typeface="Segoe UI"/>
                          <a:cs typeface="Segoe UI"/>
                        </a:rPr>
                        <a:t>Balanced class weights</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0.448 ± 0.017</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6</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r>
            </a:tbl>
          </a:graphicData>
        </a:graphic>
      </p:graphicFrame>
      <p:sp>
        <p:nvSpPr>
          <p:cNvPr id="5" name="">
            <a:extLst xmlns:a="http://schemas.openxmlformats.org/drawingml/2006/main">
              <a:ext uri="{FF2B5EF4-FFF2-40B4-BE49-F238E27FC236}">
                <a16:creationId xmlns:a16="http://schemas.microsoft.com/office/drawing/2014/main" id="{22E62E95-DF1E-47BB-805D-BF9231BB54FC}"/>
              </a:ext>
            </a:extLst>
          </p:cNvPr>
          <p:cNvSpPr>
            <a:spLocks xmlns:a="http://schemas.openxmlformats.org/drawingml/2006/main" noGrp="1"/>
          </p:cNvSpPr>
          <p:nvPr/>
        </p:nvSpPr>
        <p:spPr>
          <a:xfrm xmlns:a="http://schemas.openxmlformats.org/drawingml/2006/main">
            <a:off x="609600" y="57054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D31"/>
                </a:solidFill>
                <a:latin typeface="Segoe UI"/>
                <a:ea typeface="Segoe UI"/>
                <a:cs typeface="Segoe UI"/>
              </a:defRPr>
            </a:pPr>
            <a:r>
              <a:rPr sz="2100" b="1">
                <a:solidFill>
                  <a:srgbClr val="173D31"/>
                </a:solidFill>
                <a:latin typeface="Segoe UI"/>
                <a:ea typeface="Segoe UI"/>
                <a:cs typeface="Segoe UI"/>
              </a:rPr>
              <a:t>All three lecture models use the same five training folds.</a:t>
            </a:r>
          </a:p>
        </p:txBody>
      </p:sp>
      <p:sp>
        <p:nvSpPr>
          <p:cNvPr id="6" name="">
            <a:extLst xmlns:a="http://schemas.openxmlformats.org/drawingml/2006/main">
              <a:ext uri="{FF2B5EF4-FFF2-40B4-BE49-F238E27FC236}">
                <a16:creationId xmlns:a16="http://schemas.microsoft.com/office/drawing/2014/main" id="{D56061AF-619D-434B-A4AC-0325E2D8930C}"/>
              </a:ext>
            </a:extLst>
          </p:cNvPr>
          <p:cNvSpPr>
            <a:spLocks xmlns:a="http://schemas.openxmlformats.org/drawingml/2006/main" noGrp="1"/>
          </p:cNvSpPr>
          <p:nvPr/>
        </p:nvSpPr>
        <p:spPr>
          <a:xfrm xmlns:a="http://schemas.openxmlformats.org/drawingml/2006/main">
            <a:off x="609600" y="61436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Fold SD measures variation. Selected CV scores include tuning optimism.</a:t>
            </a:r>
          </a:p>
        </p:txBody>
      </p:sp>
    </p:spTree>
    <p:extLst>
      <p:ext uri="{BB962C8B-B14F-4D97-AF65-F5344CB8AC3E}">
        <p14:creationId xmlns:p14="http://schemas.microsoft.com/office/powerpoint/2010/main" val="108442205"/>
      </p:ext>
    </p:extLst>
  </p:cSld>
</p:sld>
</file>

<file path=ppt/slides/slide8.xml><?xml version="1.0" encoding="utf-8"?>
<p:sld xmlns:p="http://schemas.openxmlformats.org/presentationml/2006/main">
  <p:cSld>
    <p:bg>
      <p:bgPr>
        <a:solidFill xmlns:a="http://schemas.openxmlformats.org/drawingml/2006/main">
          <a:srgbClr val="102F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23B135-0B9B-4AAB-AD3F-F11C6A9613AD}"/>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F4F2E8"/>
                </a:solidFill>
                <a:latin typeface="Segoe UI"/>
                <a:ea typeface="Segoe UI"/>
                <a:cs typeface="Segoe UI"/>
              </a:defRPr>
            </a:pPr>
            <a:r>
              <a:rPr sz="3900" b="1">
                <a:solidFill>
                  <a:srgbClr val="F4F2E8"/>
                </a:solidFill>
                <a:latin typeface="Segoe UI"/>
                <a:ea typeface="Segoe UI"/>
                <a:cs typeface="Segoe UI"/>
              </a:rPr>
              <a:t>Validation results</a:t>
            </a:r>
          </a:p>
        </p:txBody>
      </p:sp>
      <p:sp>
        <p:nvSpPr>
          <p:cNvPr id="2" name="">
            <a:extLst xmlns:a="http://schemas.openxmlformats.org/drawingml/2006/main">
              <a:ext uri="{FF2B5EF4-FFF2-40B4-BE49-F238E27FC236}">
                <a16:creationId xmlns:a16="http://schemas.microsoft.com/office/drawing/2014/main" id="{E9C485DA-C13B-4DA0-881B-CAE63F572E4A}"/>
              </a:ext>
            </a:extLst>
          </p:cNvPr>
          <p:cNvSpPr>
            <a:spLocks xmlns:a="http://schemas.openxmlformats.org/drawingml/2006/main" noGrp="1"/>
          </p:cNvSpPr>
          <p:nvPr/>
        </p:nvSpPr>
        <p:spPr>
          <a:xfrm xmlns:a="http://schemas.openxmlformats.org/drawingml/2006/main">
            <a:off x="628650" y="11715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AFBFB0"/>
                </a:solidFill>
                <a:latin typeface="Segoe UI"/>
                <a:ea typeface="Segoe UI"/>
                <a:cs typeface="Segoe UI"/>
              </a:defRPr>
            </a:pPr>
            <a:r>
              <a:rPr sz="1725" b="0">
                <a:solidFill>
                  <a:srgbClr val="AFBFB0"/>
                </a:solidFill>
                <a:latin typeface="Segoe UI"/>
                <a:ea typeface="Segoe UI"/>
                <a:cs typeface="Segoe UI"/>
              </a:rPr>
              <a:t>Positive-class metrics · 8,238 validation records</a:t>
            </a:r>
          </a:p>
        </p:txBody>
      </p:sp>
      <p:sp>
        <p:nvSpPr>
          <p:cNvPr id="3" name="">
            <a:extLst xmlns:a="http://schemas.openxmlformats.org/drawingml/2006/main">
              <a:ext uri="{FF2B5EF4-FFF2-40B4-BE49-F238E27FC236}">
                <a16:creationId xmlns:a16="http://schemas.microsoft.com/office/drawing/2014/main" id="{B6A8F7E8-476B-4DDC-B9EE-71445A346112}"/>
              </a:ext>
            </a:extLst>
          </p:cNvPr>
          <p:cNvSpPr>
            <a:spLocks xmlns:a="http://schemas.openxmlformats.org/drawingml/2006/main" noGrp="1"/>
          </p:cNvSpPr>
          <p:nvPr/>
        </p:nvSpPr>
        <p:spPr>
          <a:xfrm xmlns:a="http://schemas.openxmlformats.org/drawingml/2006/main">
            <a:off x="11153775"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AFBFB0"/>
                </a:solidFill>
                <a:latin typeface="Segoe UI"/>
                <a:ea typeface="Segoe UI"/>
                <a:cs typeface="Segoe UI"/>
              </a:defRPr>
            </a:pPr>
            <a:r>
              <a:rPr sz="1350" b="0">
                <a:solidFill>
                  <a:srgbClr val="AFBFB0"/>
                </a:solidFill>
                <a:latin typeface="Segoe UI"/>
                <a:ea typeface="Segoe UI"/>
                <a:cs typeface="Segoe UI"/>
              </a:rPr>
              <a:t>08</a:t>
            </a:r>
          </a:p>
        </p:txBody>
      </p:sp>
      <p:graphicFrame>
        <p:nvGraphicFramePr>
          <p:cNvPr id="11" name=""/>
          <p:cNvGraphicFramePr/>
          <p:nvPr/>
        </p:nvGraphicFramePr>
        <p:xfrm>
          <a:off xmlns:a="http://schemas.openxmlformats.org/drawingml/2006/main" x="609600" y="1876425"/>
          <a:ext xmlns:a="http://schemas.openxmlformats.org/drawingml/2006/main" cx="10972800" cy="2914650"/>
        </p:xfrm>
        <a:graphic xmlns:a="http://schemas.openxmlformats.org/drawingml/2006/main">
          <a:graphicData uri="http://schemas.openxmlformats.org/drawingml/2006/table">
            <a:tbl>
              <a:tblPr firstRow="0" bandRow="0"/>
              <a:tblGrid>
                <a:gridCol w="2647950"/>
                <a:gridCol w="1657350"/>
                <a:gridCol w="1657350"/>
                <a:gridCol w="1657350"/>
                <a:gridCol w="1657350"/>
                <a:gridCol w="1695450"/>
              </a:tblGrid>
              <a:tr h="582930">
                <a:tc>
                  <a:txBody>
                    <a:bodyPr>
                      <a:noAutofit/>
                    </a:bodyPr>
                    <a:lstStyle/>
                    <a:p>
                      <a:pPr algn="l"/>
                      <a:r>
                        <a:rPr sz="1950" b="1">
                          <a:solidFill>
                            <a:srgbClr val="D4E6B3"/>
                          </a:solidFill>
                          <a:latin typeface="Segoe UI"/>
                          <a:ea typeface="Segoe UI"/>
                          <a:cs typeface="Segoe UI"/>
                        </a:rPr>
                        <a:t>Model</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B4035"/>
                    </a:solidFill>
                  </a:tcPr>
                </a:tc>
                <a:tc>
                  <a:txBody>
                    <a:bodyPr>
                      <a:noAutofit/>
                    </a:bodyPr>
                    <a:lstStyle/>
                    <a:p>
                      <a:pPr algn="ctr"/>
                      <a:r>
                        <a:rPr sz="1950" b="1">
                          <a:solidFill>
                            <a:srgbClr val="D4E6B3"/>
                          </a:solidFill>
                          <a:latin typeface="Segoe UI"/>
                          <a:ea typeface="Segoe UI"/>
                          <a:cs typeface="Segoe UI"/>
                        </a:rPr>
                        <a:t>Precision</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B4035"/>
                    </a:solidFill>
                  </a:tcPr>
                </a:tc>
                <a:tc>
                  <a:txBody>
                    <a:bodyPr>
                      <a:noAutofit/>
                    </a:bodyPr>
                    <a:lstStyle/>
                    <a:p>
                      <a:pPr algn="ctr"/>
                      <a:r>
                        <a:rPr sz="1950" b="1">
                          <a:solidFill>
                            <a:srgbClr val="D4E6B3"/>
                          </a:solidFill>
                          <a:latin typeface="Segoe UI"/>
                          <a:ea typeface="Segoe UI"/>
                          <a:cs typeface="Segoe UI"/>
                        </a:rPr>
                        <a:t>Recall</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B4035"/>
                    </a:solidFill>
                  </a:tcPr>
                </a:tc>
                <a:tc>
                  <a:txBody>
                    <a:bodyPr>
                      <a:noAutofit/>
                    </a:bodyPr>
                    <a:lstStyle/>
                    <a:p>
                      <a:pPr algn="ctr"/>
                      <a:r>
                        <a:rPr sz="1950" b="1">
                          <a:solidFill>
                            <a:srgbClr val="D4E6B3"/>
                          </a:solidFill>
                          <a:latin typeface="Segoe UI"/>
                          <a:ea typeface="Segoe UI"/>
                          <a:cs typeface="Segoe UI"/>
                        </a:rPr>
                        <a:t>F1</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B4035"/>
                    </a:solidFill>
                  </a:tcPr>
                </a:tc>
                <a:tc>
                  <a:txBody>
                    <a:bodyPr>
                      <a:noAutofit/>
                    </a:bodyPr>
                    <a:lstStyle/>
                    <a:p>
                      <a:pPr algn="ctr"/>
                      <a:r>
                        <a:rPr sz="1950" b="1">
                          <a:solidFill>
                            <a:srgbClr val="D4E6B3"/>
                          </a:solidFill>
                          <a:latin typeface="Segoe UI"/>
                          <a:ea typeface="Segoe UI"/>
                          <a:cs typeface="Segoe UI"/>
                        </a:rPr>
                        <a:t>ROC-AUC</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B4035"/>
                    </a:solidFill>
                  </a:tcPr>
                </a:tc>
                <a:tc>
                  <a:txBody>
                    <a:bodyPr>
                      <a:noAutofit/>
                    </a:bodyPr>
                    <a:lstStyle/>
                    <a:p>
                      <a:pPr algn="ctr"/>
                      <a:r>
                        <a:rPr sz="1950" b="1">
                          <a:solidFill>
                            <a:srgbClr val="D4E6B3"/>
                          </a:solidFill>
                          <a:latin typeface="Segoe UI"/>
                          <a:ea typeface="Segoe UI"/>
                          <a:cs typeface="Segoe UI"/>
                        </a:rPr>
                        <a:t>AP</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B4035"/>
                    </a:solidFill>
                  </a:tcPr>
                </a:tc>
              </a:tr>
              <a:tr h="582930">
                <a:tc>
                  <a:txBody>
                    <a:bodyPr>
                      <a:noAutofit/>
                    </a:bodyPr>
                    <a:lstStyle/>
                    <a:p>
                      <a:pPr algn="l"/>
                      <a:r>
                        <a:rPr sz="1950" b="0">
                          <a:solidFill>
                            <a:srgbClr val="F4F2E8"/>
                          </a:solidFill>
                          <a:latin typeface="Segoe UI"/>
                          <a:ea typeface="Segoe UI"/>
                          <a:cs typeface="Segoe UI"/>
                        </a:rPr>
                        <a:t>Decision Tree</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2A5144"/>
                    </a:solidFill>
                  </a:tcPr>
                </a:tc>
                <a:tc>
                  <a:txBody>
                    <a:bodyPr>
                      <a:noAutofit/>
                    </a:bodyPr>
                    <a:lstStyle/>
                    <a:p>
                      <a:pPr algn="ctr"/>
                      <a:r>
                        <a:rPr sz="1950" b="0">
                          <a:solidFill>
                            <a:srgbClr val="F4F2E8"/>
                          </a:solidFill>
                          <a:latin typeface="Segoe UI"/>
                          <a:ea typeface="Segoe UI"/>
                          <a:cs typeface="Segoe UI"/>
                        </a:rPr>
                        <a:t>0.353</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2A5144"/>
                    </a:solidFill>
                  </a:tcPr>
                </a:tc>
                <a:tc>
                  <a:txBody>
                    <a:bodyPr>
                      <a:noAutofit/>
                    </a:bodyPr>
                    <a:lstStyle/>
                    <a:p>
                      <a:pPr algn="ctr"/>
                      <a:r>
                        <a:rPr sz="1950" b="0">
                          <a:solidFill>
                            <a:srgbClr val="F4F2E8"/>
                          </a:solidFill>
                          <a:latin typeface="Segoe UI"/>
                          <a:ea typeface="Segoe UI"/>
                          <a:cs typeface="Segoe UI"/>
                        </a:rPr>
                        <a:t>0.622</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2A5144"/>
                    </a:solidFill>
                  </a:tcPr>
                </a:tc>
                <a:tc>
                  <a:txBody>
                    <a:bodyPr>
                      <a:noAutofit/>
                    </a:bodyPr>
                    <a:lstStyle/>
                    <a:p>
                      <a:pPr algn="ctr"/>
                      <a:r>
                        <a:rPr sz="2325" b="1">
                          <a:solidFill>
                            <a:srgbClr val="D4E6B3"/>
                          </a:solidFill>
                          <a:latin typeface="Segoe UI"/>
                          <a:ea typeface="Segoe UI"/>
                          <a:cs typeface="Segoe UI"/>
                        </a:rPr>
                        <a:t>0.450</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2A5144"/>
                    </a:solidFill>
                  </a:tcPr>
                </a:tc>
                <a:tc>
                  <a:txBody>
                    <a:bodyPr>
                      <a:noAutofit/>
                    </a:bodyPr>
                    <a:lstStyle/>
                    <a:p>
                      <a:pPr algn="ctr"/>
                      <a:r>
                        <a:rPr sz="1950" b="0">
                          <a:solidFill>
                            <a:srgbClr val="F4F2E8"/>
                          </a:solidFill>
                          <a:latin typeface="Segoe UI"/>
                          <a:ea typeface="Segoe UI"/>
                          <a:cs typeface="Segoe UI"/>
                        </a:rPr>
                        <a:t>0.784</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2A5144"/>
                    </a:solidFill>
                  </a:tcPr>
                </a:tc>
                <a:tc>
                  <a:txBody>
                    <a:bodyPr>
                      <a:noAutofit/>
                    </a:bodyPr>
                    <a:lstStyle/>
                    <a:p>
                      <a:pPr algn="ctr"/>
                      <a:r>
                        <a:rPr sz="1950" b="0">
                          <a:solidFill>
                            <a:srgbClr val="F4F2E8"/>
                          </a:solidFill>
                          <a:latin typeface="Segoe UI"/>
                          <a:ea typeface="Segoe UI"/>
                          <a:cs typeface="Segoe UI"/>
                        </a:rPr>
                        <a:t>0.434</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2A5144"/>
                    </a:solidFill>
                  </a:tcPr>
                </a:tc>
              </a:tr>
              <a:tr h="582930">
                <a:tc>
                  <a:txBody>
                    <a:bodyPr>
                      <a:noAutofit/>
                    </a:bodyPr>
                    <a:lstStyle/>
                    <a:p>
                      <a:pPr algn="l"/>
                      <a:r>
                        <a:rPr sz="1950" b="0">
                          <a:solidFill>
                            <a:srgbClr val="F4F2E8"/>
                          </a:solidFill>
                          <a:latin typeface="Segoe UI"/>
                          <a:ea typeface="Segoe UI"/>
                          <a:cs typeface="Segoe UI"/>
                        </a:rPr>
                        <a:t>Linear SVM</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0.348</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0.630</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0.448</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0.791</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0.449</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r>
              <a:tr h="582930">
                <a:tc>
                  <a:txBody>
                    <a:bodyPr>
                      <a:noAutofit/>
                    </a:bodyPr>
                    <a:lstStyle/>
                    <a:p>
                      <a:pPr algn="l"/>
                      <a:r>
                        <a:rPr sz="1950" b="0">
                          <a:solidFill>
                            <a:srgbClr val="F4F2E8"/>
                          </a:solidFill>
                          <a:latin typeface="Segoe UI"/>
                          <a:ea typeface="Segoe UI"/>
                          <a:cs typeface="Segoe UI"/>
                        </a:rPr>
                        <a:t>KNN</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0.585</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0.274</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0.373</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0.770</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0.414</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r>
              <a:tr h="582930">
                <a:tc>
                  <a:txBody>
                    <a:bodyPr>
                      <a:noAutofit/>
                    </a:bodyPr>
                    <a:lstStyle/>
                    <a:p>
                      <a:pPr algn="l"/>
                      <a:r>
                        <a:rPr sz="1950" b="0">
                          <a:solidFill>
                            <a:srgbClr val="F4F2E8"/>
                          </a:solidFill>
                          <a:latin typeface="Segoe UI"/>
                          <a:ea typeface="Segoe UI"/>
                          <a:cs typeface="Segoe UI"/>
                        </a:rPr>
                        <a:t>Majority baseline</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0.000</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0.000</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0.000</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0.500</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c>
                  <a:txBody>
                    <a:bodyPr>
                      <a:noAutofit/>
                    </a:bodyPr>
                    <a:lstStyle/>
                    <a:p>
                      <a:pPr algn="ctr"/>
                      <a:r>
                        <a:rPr sz="1950" b="0">
                          <a:solidFill>
                            <a:srgbClr val="F4F2E8"/>
                          </a:solidFill>
                          <a:latin typeface="Segoe UI"/>
                          <a:ea typeface="Segoe UI"/>
                          <a:cs typeface="Segoe UI"/>
                        </a:rPr>
                        <a:t>0.113</a:t>
                      </a:r>
                    </a:p>
                  </a:txBody>
                  <a:tcPr marL="133350" marR="133350" marT="38100" marB="38100" anchor="ctr">
                    <a:lnL w="6350">
                      <a:noFill/>
                    </a:lnL>
                    <a:lnR w="6350">
                      <a:noFill/>
                    </a:lnR>
                    <a:lnT w="6350">
                      <a:noFill/>
                    </a:lnT>
                    <a:lnB w="6350">
                      <a:solidFill>
                        <a:srgbClr val="486457"/>
                      </a:solidFill>
                    </a:lnB>
                    <a:lnTlToBr w="6350">
                      <a:noFill/>
                    </a:lnTlToBr>
                    <a:lnBlToTr w="6350">
                      <a:noFill/>
                    </a:lnBlToTr>
                    <a:solidFill>
                      <a:srgbClr val="102F2A"/>
                    </a:solidFill>
                  </a:tcPr>
                </a:tc>
              </a:tr>
            </a:tbl>
          </a:graphicData>
        </a:graphic>
      </p:graphicFrame>
      <p:sp>
        <p:nvSpPr>
          <p:cNvPr id="5" name="">
            <a:extLst xmlns:a="http://schemas.openxmlformats.org/drawingml/2006/main">
              <a:ext uri="{FF2B5EF4-FFF2-40B4-BE49-F238E27FC236}">
                <a16:creationId xmlns:a16="http://schemas.microsoft.com/office/drawing/2014/main" id="{5B8CAB3B-C684-43B1-B339-5A43AF6E1D92}"/>
              </a:ext>
            </a:extLst>
          </p:cNvPr>
          <p:cNvSpPr>
            <a:spLocks xmlns:a="http://schemas.openxmlformats.org/drawingml/2006/main" noGrp="1"/>
          </p:cNvSpPr>
          <p:nvPr/>
        </p:nvSpPr>
        <p:spPr>
          <a:xfrm xmlns:a="http://schemas.openxmlformats.org/drawingml/2006/main">
            <a:off x="552450" y="5114925"/>
            <a:ext cx="32194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0" b="1">
                <a:solidFill>
                  <a:srgbClr val="D4E6B3"/>
                </a:solidFill>
                <a:latin typeface="Segoe UI"/>
                <a:ea typeface="Segoe UI"/>
                <a:cs typeface="Segoe UI"/>
              </a:defRPr>
            </a:pPr>
            <a:r>
              <a:rPr sz="6750" b="1">
                <a:solidFill>
                  <a:srgbClr val="D4E6B3"/>
                </a:solidFill>
                <a:latin typeface="Segoe UI"/>
                <a:ea typeface="Segoe UI"/>
                <a:cs typeface="Segoe UI"/>
              </a:rPr>
              <a:t>0.002</a:t>
            </a:r>
          </a:p>
        </p:txBody>
      </p:sp>
      <p:sp>
        <p:nvSpPr>
          <p:cNvPr id="6" name="">
            <a:extLst xmlns:a="http://schemas.openxmlformats.org/drawingml/2006/main">
              <a:ext uri="{FF2B5EF4-FFF2-40B4-BE49-F238E27FC236}">
                <a16:creationId xmlns:a16="http://schemas.microsoft.com/office/drawing/2014/main" id="{7D2B70A3-8071-4575-803F-0E3CF7AEF9C0}"/>
              </a:ext>
            </a:extLst>
          </p:cNvPr>
          <p:cNvSpPr>
            <a:spLocks xmlns:a="http://schemas.openxmlformats.org/drawingml/2006/main" noGrp="1"/>
          </p:cNvSpPr>
          <p:nvPr/>
        </p:nvSpPr>
        <p:spPr>
          <a:xfrm xmlns:a="http://schemas.openxmlformats.org/drawingml/2006/main">
            <a:off x="3657600" y="5276850"/>
            <a:ext cx="7877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4F2E8"/>
                </a:solidFill>
                <a:latin typeface="Segoe UI"/>
                <a:ea typeface="Segoe UI"/>
                <a:cs typeface="Segoe UI"/>
              </a:defRPr>
            </a:pPr>
            <a:r>
              <a:rPr sz="2325" b="1">
                <a:solidFill>
                  <a:srgbClr val="F4F2E8"/>
                </a:solidFill>
                <a:latin typeface="Segoe UI"/>
                <a:ea typeface="Segoe UI"/>
                <a:cs typeface="Segoe UI"/>
              </a:rPr>
              <a:t>F1 separates the tree and SVM.</a:t>
            </a:r>
          </a:p>
          <a:p xmlns:a="http://schemas.openxmlformats.org/drawingml/2006/main">
            <a:pPr algn="l">
              <a:defRPr sz="2325" b="1">
                <a:solidFill>
                  <a:srgbClr val="F4F2E8"/>
                </a:solidFill>
                <a:latin typeface="Segoe UI"/>
                <a:ea typeface="Segoe UI"/>
                <a:cs typeface="Segoe UI"/>
              </a:defRPr>
            </a:pPr>
            <a:r>
              <a:rPr sz="2325" b="1">
                <a:solidFill>
                  <a:srgbClr val="F4F2E8"/>
                </a:solidFill>
                <a:latin typeface="Segoe UI"/>
                <a:ea typeface="Segoe UI"/>
                <a:cs typeface="Segoe UI"/>
              </a:rPr>
              <a:t>Their performance is very close.</a:t>
            </a:r>
          </a:p>
        </p:txBody>
      </p:sp>
      <p:sp>
        <p:nvSpPr>
          <p:cNvPr id="7" name="">
            <a:extLst xmlns:a="http://schemas.openxmlformats.org/drawingml/2006/main">
              <a:ext uri="{FF2B5EF4-FFF2-40B4-BE49-F238E27FC236}">
                <a16:creationId xmlns:a16="http://schemas.microsoft.com/office/drawing/2014/main" id="{15919EAA-A8EC-4CA5-8086-C1EAC38959A7}"/>
              </a:ext>
            </a:extLst>
          </p:cNvPr>
          <p:cNvSpPr>
            <a:spLocks xmlns:a="http://schemas.openxmlformats.org/drawingml/2006/main" noGrp="1"/>
          </p:cNvSpPr>
          <p:nvPr/>
        </p:nvSpPr>
        <p:spPr>
          <a:xfrm xmlns:a="http://schemas.openxmlformats.org/drawingml/2006/main">
            <a:off x="609600" y="6276975"/>
            <a:ext cx="10448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5C7B8"/>
                </a:solidFill>
                <a:latin typeface="Segoe UI"/>
                <a:ea typeface="Segoe UI"/>
                <a:cs typeface="Segoe UI"/>
              </a:defRPr>
            </a:pPr>
            <a:r>
              <a:rPr sz="1575" b="0">
                <a:solidFill>
                  <a:srgbClr val="B5C7B8"/>
                </a:solidFill>
                <a:latin typeface="Segoe UI"/>
                <a:ea typeface="Segoe UI"/>
                <a:cs typeface="Segoe UI"/>
              </a:rPr>
              <a:t>Linear SVM leads on ROC-AUC and AP. KNN has higher precision, lower recall.</a:t>
            </a:r>
          </a:p>
        </p:txBody>
      </p:sp>
    </p:spTree>
    <p:extLst>
      <p:ext uri="{BB962C8B-B14F-4D97-AF65-F5344CB8AC3E}">
        <p14:creationId xmlns:p14="http://schemas.microsoft.com/office/powerpoint/2010/main" val="1414036850"/>
      </p:ext>
    </p:extLst>
  </p:cSld>
</p:sld>
</file>

<file path=ppt/slides/slide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4564DA-F06A-4492-A3A4-802C8ED6BB6A}"/>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3D31"/>
                </a:solidFill>
                <a:latin typeface="Segoe UI"/>
                <a:ea typeface="Segoe UI"/>
                <a:cs typeface="Segoe UI"/>
              </a:defRPr>
            </a:pPr>
            <a:r>
              <a:rPr sz="3900" b="1">
                <a:solidFill>
                  <a:srgbClr val="173D31"/>
                </a:solidFill>
                <a:latin typeface="Segoe UI"/>
                <a:ea typeface="Segoe UI"/>
                <a:cs typeface="Segoe UI"/>
              </a:rPr>
              <a:t>Errors in the selected tree</a:t>
            </a:r>
          </a:p>
        </p:txBody>
      </p:sp>
      <p:sp>
        <p:nvSpPr>
          <p:cNvPr id="2" name="">
            <a:extLst xmlns:a="http://schemas.openxmlformats.org/drawingml/2006/main">
              <a:ext uri="{FF2B5EF4-FFF2-40B4-BE49-F238E27FC236}">
                <a16:creationId xmlns:a16="http://schemas.microsoft.com/office/drawing/2014/main" id="{9721B579-8291-4AD3-86AF-9FE32B49487B}"/>
              </a:ext>
            </a:extLst>
          </p:cNvPr>
          <p:cNvSpPr>
            <a:spLocks xmlns:a="http://schemas.openxmlformats.org/drawingml/2006/main" noGrp="1"/>
          </p:cNvSpPr>
          <p:nvPr/>
        </p:nvSpPr>
        <p:spPr>
          <a:xfrm xmlns:a="http://schemas.openxmlformats.org/drawingml/2006/main">
            <a:off x="628650" y="11715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5786C"/>
                </a:solidFill>
                <a:latin typeface="Segoe UI"/>
                <a:ea typeface="Segoe UI"/>
                <a:cs typeface="Segoe UI"/>
              </a:defRPr>
            </a:pPr>
            <a:r>
              <a:rPr sz="1725" b="0">
                <a:solidFill>
                  <a:srgbClr val="65786C"/>
                </a:solidFill>
                <a:latin typeface="Segoe UI"/>
                <a:ea typeface="Segoe UI"/>
                <a:cs typeface="Segoe UI"/>
              </a:rPr>
              <a:t>Validation confusion matrix · default decision rule</a:t>
            </a:r>
          </a:p>
        </p:txBody>
      </p:sp>
      <p:sp>
        <p:nvSpPr>
          <p:cNvPr id="3" name="">
            <a:extLst xmlns:a="http://schemas.openxmlformats.org/drawingml/2006/main">
              <a:ext uri="{FF2B5EF4-FFF2-40B4-BE49-F238E27FC236}">
                <a16:creationId xmlns:a16="http://schemas.microsoft.com/office/drawing/2014/main" id="{42C9215F-EEE1-437D-91C3-A7AF6729AB4C}"/>
              </a:ext>
            </a:extLst>
          </p:cNvPr>
          <p:cNvSpPr>
            <a:spLocks xmlns:a="http://schemas.openxmlformats.org/drawingml/2006/main" noGrp="1"/>
          </p:cNvSpPr>
          <p:nvPr/>
        </p:nvSpPr>
        <p:spPr>
          <a:xfrm xmlns:a="http://schemas.openxmlformats.org/drawingml/2006/main">
            <a:off x="11153775"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86C"/>
                </a:solidFill>
                <a:latin typeface="Segoe UI"/>
                <a:ea typeface="Segoe UI"/>
                <a:cs typeface="Segoe UI"/>
              </a:defRPr>
            </a:pPr>
            <a:r>
              <a:rPr sz="1350" b="0">
                <a:solidFill>
                  <a:srgbClr val="65786C"/>
                </a:solidFill>
                <a:latin typeface="Segoe UI"/>
                <a:ea typeface="Segoe UI"/>
                <a:cs typeface="Segoe UI"/>
              </a:rPr>
              <a:t>09</a:t>
            </a:r>
          </a:p>
        </p:txBody>
      </p:sp>
      <p:graphicFrame>
        <p:nvGraphicFramePr>
          <p:cNvPr id="14" name=""/>
          <p:cNvGraphicFramePr/>
          <p:nvPr/>
        </p:nvGraphicFramePr>
        <p:xfrm>
          <a:off xmlns:a="http://schemas.openxmlformats.org/drawingml/2006/main" x="609600" y="1962150"/>
          <a:ext xmlns:a="http://schemas.openxmlformats.org/drawingml/2006/main" cx="6534150" cy="2914650"/>
        </p:xfrm>
        <a:graphic xmlns:a="http://schemas.openxmlformats.org/drawingml/2006/main">
          <a:graphicData uri="http://schemas.openxmlformats.org/drawingml/2006/table">
            <a:tbl>
              <a:tblPr firstRow="0" bandRow="0"/>
              <a:tblGrid>
                <a:gridCol w="2343150"/>
                <a:gridCol w="2095500"/>
                <a:gridCol w="2095500"/>
              </a:tblGrid>
              <a:tr h="971550">
                <a:tc>
                  <a:txBody>
                    <a:bodyPr>
                      <a:noAutofit/>
                    </a:bodyPr>
                    <a:lstStyle/>
                    <a:p>
                      <a:pPr algn="l"/>
                      <a:r>
                        <a:rPr sz="1800" b="1">
                          <a:solidFill>
                            <a:srgbClr val="F4F2E8"/>
                          </a:solidFill>
                          <a:latin typeface="Segoe UI"/>
                          <a:ea typeface="Segoe UI"/>
                          <a:cs typeface="Segoe UI"/>
                        </a:rPr>
                        <a:t>Actual / predicted</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173D31"/>
                    </a:solidFill>
                  </a:tcPr>
                </a:tc>
                <a:tc>
                  <a:txBody>
                    <a:bodyPr>
                      <a:noAutofit/>
                    </a:bodyPr>
                    <a:lstStyle/>
                    <a:p>
                      <a:pPr algn="ctr"/>
                      <a:r>
                        <a:rPr sz="1800" b="1">
                          <a:solidFill>
                            <a:srgbClr val="F4F2E8"/>
                          </a:solidFill>
                          <a:latin typeface="Segoe UI"/>
                          <a:ea typeface="Segoe UI"/>
                          <a:cs typeface="Segoe UI"/>
                        </a:rPr>
                        <a:t>No deposit</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173D31"/>
                    </a:solidFill>
                  </a:tcPr>
                </a:tc>
                <a:tc>
                  <a:txBody>
                    <a:bodyPr>
                      <a:noAutofit/>
                    </a:bodyPr>
                    <a:lstStyle/>
                    <a:p>
                      <a:pPr algn="ctr"/>
                      <a:r>
                        <a:rPr sz="1800" b="1">
                          <a:solidFill>
                            <a:srgbClr val="F4F2E8"/>
                          </a:solidFill>
                          <a:latin typeface="Segoe UI"/>
                          <a:ea typeface="Segoe UI"/>
                          <a:cs typeface="Segoe UI"/>
                        </a:rPr>
                        <a:t>Deposit</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173D31"/>
                    </a:solidFill>
                  </a:tcPr>
                </a:tc>
              </a:tr>
              <a:tr h="971550">
                <a:tc>
                  <a:txBody>
                    <a:bodyPr>
                      <a:noAutofit/>
                    </a:bodyPr>
                    <a:lstStyle/>
                    <a:p>
                      <a:pPr algn="l"/>
                      <a:r>
                        <a:rPr sz="1800" b="0">
                          <a:solidFill>
                            <a:srgbClr val="173D31"/>
                          </a:solidFill>
                          <a:latin typeface="Segoe UI"/>
                          <a:ea typeface="Segoe UI"/>
                          <a:cs typeface="Segoe UI"/>
                        </a:rPr>
                        <a:t>No deposit</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6,251</a:t>
                      </a:r>
                    </a:p>
                    <a:p>
                      <a:pPr algn="ctr"/>
                      <a:r>
                        <a:rPr sz="1800" b="0">
                          <a:solidFill>
                            <a:srgbClr val="173D31"/>
                          </a:solidFill>
                          <a:latin typeface="Segoe UI"/>
                          <a:ea typeface="Segoe UI"/>
                          <a:cs typeface="Segoe UI"/>
                        </a:rPr>
                        <a:t>True negatives</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E1E9D9"/>
                    </a:solidFill>
                  </a:tcPr>
                </a:tc>
                <a:tc>
                  <a:txBody>
                    <a:bodyPr>
                      <a:noAutofit/>
                    </a:bodyPr>
                    <a:lstStyle/>
                    <a:p>
                      <a:pPr algn="ctr"/>
                      <a:r>
                        <a:rPr sz="1800" b="0">
                          <a:solidFill>
                            <a:srgbClr val="173D31"/>
                          </a:solidFill>
                          <a:latin typeface="Segoe UI"/>
                          <a:ea typeface="Segoe UI"/>
                          <a:cs typeface="Segoe UI"/>
                        </a:rPr>
                        <a:t>1,059</a:t>
                      </a:r>
                    </a:p>
                    <a:p>
                      <a:pPr algn="ctr"/>
                      <a:r>
                        <a:rPr sz="1800" b="0">
                          <a:solidFill>
                            <a:srgbClr val="173D31"/>
                          </a:solidFill>
                          <a:latin typeface="Segoe UI"/>
                          <a:ea typeface="Segoe UI"/>
                          <a:cs typeface="Segoe UI"/>
                        </a:rPr>
                        <a:t>False positives</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EFDED0"/>
                    </a:solidFill>
                  </a:tcPr>
                </a:tc>
              </a:tr>
              <a:tr h="971550">
                <a:tc>
                  <a:txBody>
                    <a:bodyPr>
                      <a:noAutofit/>
                    </a:bodyPr>
                    <a:lstStyle/>
                    <a:p>
                      <a:pPr algn="l"/>
                      <a:r>
                        <a:rPr sz="1800" b="0">
                          <a:solidFill>
                            <a:srgbClr val="173D31"/>
                          </a:solidFill>
                          <a:latin typeface="Segoe UI"/>
                          <a:ea typeface="Segoe UI"/>
                          <a:cs typeface="Segoe UI"/>
                        </a:rPr>
                        <a:t>Deposit</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F7F6F0"/>
                    </a:solidFill>
                  </a:tcPr>
                </a:tc>
                <a:tc>
                  <a:txBody>
                    <a:bodyPr>
                      <a:noAutofit/>
                    </a:bodyPr>
                    <a:lstStyle/>
                    <a:p>
                      <a:pPr algn="ctr"/>
                      <a:r>
                        <a:rPr sz="1800" b="0">
                          <a:solidFill>
                            <a:srgbClr val="173D31"/>
                          </a:solidFill>
                          <a:latin typeface="Segoe UI"/>
                          <a:ea typeface="Segoe UI"/>
                          <a:cs typeface="Segoe UI"/>
                        </a:rPr>
                        <a:t>351</a:t>
                      </a:r>
                    </a:p>
                    <a:p>
                      <a:pPr algn="ctr"/>
                      <a:r>
                        <a:rPr sz="1800" b="0">
                          <a:solidFill>
                            <a:srgbClr val="173D31"/>
                          </a:solidFill>
                          <a:latin typeface="Segoe UI"/>
                          <a:ea typeface="Segoe UI"/>
                          <a:cs typeface="Segoe UI"/>
                        </a:rPr>
                        <a:t>False negatives</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EFDED0"/>
                    </a:solidFill>
                  </a:tcPr>
                </a:tc>
                <a:tc>
                  <a:txBody>
                    <a:bodyPr>
                      <a:noAutofit/>
                    </a:bodyPr>
                    <a:lstStyle/>
                    <a:p>
                      <a:pPr algn="ctr"/>
                      <a:r>
                        <a:rPr sz="1800" b="0">
                          <a:solidFill>
                            <a:srgbClr val="173D31"/>
                          </a:solidFill>
                          <a:latin typeface="Segoe UI"/>
                          <a:ea typeface="Segoe UI"/>
                          <a:cs typeface="Segoe UI"/>
                        </a:rPr>
                        <a:t>577</a:t>
                      </a:r>
                    </a:p>
                    <a:p>
                      <a:pPr algn="ctr"/>
                      <a:r>
                        <a:rPr sz="1800" b="0">
                          <a:solidFill>
                            <a:srgbClr val="173D31"/>
                          </a:solidFill>
                          <a:latin typeface="Segoe UI"/>
                          <a:ea typeface="Segoe UI"/>
                          <a:cs typeface="Segoe UI"/>
                        </a:rPr>
                        <a:t>True positives</a:t>
                      </a:r>
                    </a:p>
                  </a:txBody>
                  <a:tcPr marL="133350" marR="133350" marT="38100" marB="38100" anchor="ctr">
                    <a:lnL w="6350">
                      <a:noFill/>
                    </a:lnL>
                    <a:lnR w="6350">
                      <a:noFill/>
                    </a:lnR>
                    <a:lnT w="6350">
                      <a:noFill/>
                    </a:lnT>
                    <a:lnB w="6350">
                      <a:solidFill>
                        <a:srgbClr val="D9DFD2"/>
                      </a:solidFill>
                    </a:lnB>
                    <a:lnTlToBr w="6350">
                      <a:noFill/>
                    </a:lnTlToBr>
                    <a:lnBlToTr w="6350">
                      <a:noFill/>
                    </a:lnBlToTr>
                    <a:solidFill>
                      <a:srgbClr val="C7DDC3"/>
                    </a:solidFill>
                  </a:tcPr>
                </a:tc>
              </a:tr>
            </a:tbl>
          </a:graphicData>
        </a:graphic>
      </p:graphicFrame>
      <p:sp>
        <p:nvSpPr>
          <p:cNvPr id="5" name="">
            <a:extLst xmlns:a="http://schemas.openxmlformats.org/drawingml/2006/main">
              <a:ext uri="{FF2B5EF4-FFF2-40B4-BE49-F238E27FC236}">
                <a16:creationId xmlns:a16="http://schemas.microsoft.com/office/drawing/2014/main" id="{930955C7-EF98-4835-A7E3-A8456BFA632E}"/>
              </a:ext>
            </a:extLst>
          </p:cNvPr>
          <p:cNvSpPr>
            <a:spLocks xmlns:a="http://schemas.openxmlformats.org/drawingml/2006/main" noGrp="1"/>
          </p:cNvSpPr>
          <p:nvPr/>
        </p:nvSpPr>
        <p:spPr>
          <a:xfrm xmlns:a="http://schemas.openxmlformats.org/drawingml/2006/main">
            <a:off x="7781925" y="1819275"/>
            <a:ext cx="3810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397D66"/>
                </a:solidFill>
                <a:latin typeface="Segoe UI"/>
                <a:ea typeface="Segoe UI"/>
                <a:cs typeface="Segoe UI"/>
              </a:defRPr>
            </a:pPr>
            <a:r>
              <a:rPr sz="6450" b="1">
                <a:solidFill>
                  <a:srgbClr val="397D66"/>
                </a:solidFill>
                <a:latin typeface="Segoe UI"/>
                <a:ea typeface="Segoe UI"/>
                <a:cs typeface="Segoe UI"/>
              </a:rPr>
              <a:t>62.2%</a:t>
            </a:r>
          </a:p>
        </p:txBody>
      </p:sp>
      <p:sp>
        <p:nvSpPr>
          <p:cNvPr id="6" name="">
            <a:extLst xmlns:a="http://schemas.openxmlformats.org/drawingml/2006/main">
              <a:ext uri="{FF2B5EF4-FFF2-40B4-BE49-F238E27FC236}">
                <a16:creationId xmlns:a16="http://schemas.microsoft.com/office/drawing/2014/main" id="{EDE7F5AB-CE54-4601-8F36-2CA5B5E45F21}"/>
              </a:ext>
            </a:extLst>
          </p:cNvPr>
          <p:cNvSpPr>
            <a:spLocks xmlns:a="http://schemas.openxmlformats.org/drawingml/2006/main" noGrp="1"/>
          </p:cNvSpPr>
          <p:nvPr/>
        </p:nvSpPr>
        <p:spPr>
          <a:xfrm xmlns:a="http://schemas.openxmlformats.org/drawingml/2006/main">
            <a:off x="7839075" y="2867025"/>
            <a:ext cx="37433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86C"/>
                </a:solidFill>
                <a:latin typeface="Segoe UI"/>
                <a:ea typeface="Segoe UI"/>
                <a:cs typeface="Segoe UI"/>
              </a:defRPr>
            </a:pPr>
            <a:r>
              <a:rPr sz="1875" b="0">
                <a:solidFill>
                  <a:srgbClr val="65786C"/>
                </a:solidFill>
                <a:latin typeface="Segoe UI"/>
                <a:ea typeface="Segoe UI"/>
                <a:cs typeface="Segoe UI"/>
              </a:rPr>
              <a:t>of actual subscriptions found</a:t>
            </a:r>
          </a:p>
        </p:txBody>
      </p:sp>
      <p:sp>
        <p:nvSpPr>
          <p:cNvPr id="7" name="">
            <a:extLst xmlns:a="http://schemas.openxmlformats.org/drawingml/2006/main">
              <a:ext uri="{FF2B5EF4-FFF2-40B4-BE49-F238E27FC236}">
                <a16:creationId xmlns:a16="http://schemas.microsoft.com/office/drawing/2014/main" id="{AED1D1E1-012C-4253-AF46-CFC68D95F8CD}"/>
              </a:ext>
            </a:extLst>
          </p:cNvPr>
          <p:cNvSpPr>
            <a:spLocks xmlns:a="http://schemas.openxmlformats.org/drawingml/2006/main" noGrp="1"/>
          </p:cNvSpPr>
          <p:nvPr/>
        </p:nvSpPr>
        <p:spPr>
          <a:xfrm xmlns:a="http://schemas.openxmlformats.org/drawingml/2006/main">
            <a:off x="7781925" y="3638550"/>
            <a:ext cx="3810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BD714D"/>
                </a:solidFill>
                <a:latin typeface="Segoe UI"/>
                <a:ea typeface="Segoe UI"/>
                <a:cs typeface="Segoe UI"/>
              </a:defRPr>
            </a:pPr>
            <a:r>
              <a:rPr sz="6450" b="1">
                <a:solidFill>
                  <a:srgbClr val="BD714D"/>
                </a:solidFill>
                <a:latin typeface="Segoe UI"/>
                <a:ea typeface="Segoe UI"/>
                <a:cs typeface="Segoe UI"/>
              </a:rPr>
              <a:t>35.3%</a:t>
            </a:r>
          </a:p>
        </p:txBody>
      </p:sp>
      <p:sp>
        <p:nvSpPr>
          <p:cNvPr id="8" name="">
            <a:extLst xmlns:a="http://schemas.openxmlformats.org/drawingml/2006/main">
              <a:ext uri="{FF2B5EF4-FFF2-40B4-BE49-F238E27FC236}">
                <a16:creationId xmlns:a16="http://schemas.microsoft.com/office/drawing/2014/main" id="{7F6D3953-A4B3-4571-A530-DC7723E394F0}"/>
              </a:ext>
            </a:extLst>
          </p:cNvPr>
          <p:cNvSpPr>
            <a:spLocks xmlns:a="http://schemas.openxmlformats.org/drawingml/2006/main" noGrp="1"/>
          </p:cNvSpPr>
          <p:nvPr/>
        </p:nvSpPr>
        <p:spPr>
          <a:xfrm xmlns:a="http://schemas.openxmlformats.org/drawingml/2006/main">
            <a:off x="7839075" y="4676775"/>
            <a:ext cx="37433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86C"/>
                </a:solidFill>
                <a:latin typeface="Segoe UI"/>
                <a:ea typeface="Segoe UI"/>
                <a:cs typeface="Segoe UI"/>
              </a:defRPr>
            </a:pPr>
            <a:r>
              <a:rPr sz="1875" b="0">
                <a:solidFill>
                  <a:srgbClr val="65786C"/>
                </a:solidFill>
                <a:latin typeface="Segoe UI"/>
                <a:ea typeface="Segoe UI"/>
                <a:cs typeface="Segoe UI"/>
              </a:rPr>
              <a:t>of positive predictions correct</a:t>
            </a:r>
          </a:p>
        </p:txBody>
      </p:sp>
      <p:sp>
        <p:nvSpPr>
          <p:cNvPr id="9" name="">
            <a:extLst xmlns:a="http://schemas.openxmlformats.org/drawingml/2006/main">
              <a:ext uri="{FF2B5EF4-FFF2-40B4-BE49-F238E27FC236}">
                <a16:creationId xmlns:a16="http://schemas.microsoft.com/office/drawing/2014/main" id="{174CD9A1-312B-4198-81C6-3EDA63A2A84E}"/>
              </a:ext>
            </a:extLst>
          </p:cNvPr>
          <p:cNvSpPr>
            <a:spLocks xmlns:a="http://schemas.openxmlformats.org/drawingml/2006/main" noGrp="1"/>
          </p:cNvSpPr>
          <p:nvPr/>
        </p:nvSpPr>
        <p:spPr>
          <a:xfrm xmlns:a="http://schemas.openxmlformats.org/drawingml/2006/main">
            <a:off x="609600" y="56292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3D31"/>
                </a:solidFill>
                <a:latin typeface="Segoe UI"/>
                <a:ea typeface="Segoe UI"/>
                <a:cs typeface="Segoe UI"/>
              </a:defRPr>
            </a:pPr>
            <a:r>
              <a:rPr sz="2250" b="1">
                <a:solidFill>
                  <a:srgbClr val="173D31"/>
                </a:solidFill>
                <a:latin typeface="Segoe UI"/>
                <a:ea typeface="Segoe UI"/>
                <a:cs typeface="Segoe UI"/>
              </a:rPr>
              <a:t>351 missed subscriptions · 1,059 false alarms</a:t>
            </a:r>
          </a:p>
        </p:txBody>
      </p:sp>
      <p:sp>
        <p:nvSpPr>
          <p:cNvPr id="10" name="">
            <a:extLst xmlns:a="http://schemas.openxmlformats.org/drawingml/2006/main">
              <a:ext uri="{FF2B5EF4-FFF2-40B4-BE49-F238E27FC236}">
                <a16:creationId xmlns:a16="http://schemas.microsoft.com/office/drawing/2014/main" id="{2469A687-A67C-465F-B99F-42A6BBE23358}"/>
              </a:ext>
            </a:extLst>
          </p:cNvPr>
          <p:cNvSpPr>
            <a:spLocks xmlns:a="http://schemas.openxmlformats.org/drawingml/2006/main" noGrp="1"/>
          </p:cNvSpPr>
          <p:nvPr/>
        </p:nvSpPr>
        <p:spPr>
          <a:xfrm xmlns:a="http://schemas.openxmlformats.org/drawingml/2006/main">
            <a:off x="609600" y="6124575"/>
            <a:ext cx="10496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5786C"/>
                </a:solidFill>
                <a:latin typeface="Segoe UI"/>
                <a:ea typeface="Segoe UI"/>
                <a:cs typeface="Segoe UI"/>
              </a:defRPr>
            </a:pPr>
            <a:r>
              <a:rPr sz="1800" b="0">
                <a:solidFill>
                  <a:srgbClr val="65786C"/>
                </a:solidFill>
                <a:latin typeface="Segoe UI"/>
                <a:ea typeface="Segoe UI"/>
                <a:cs typeface="Segoe UI"/>
              </a:rPr>
              <a:t>KNN train/validation F1: 0.972 versus 0.373 — a large generalization gap.</a:t>
            </a:r>
          </a:p>
        </p:txBody>
      </p:sp>
    </p:spTree>
    <p:extLst>
      <p:ext uri="{BB962C8B-B14F-4D97-AF65-F5344CB8AC3E}">
        <p14:creationId xmlns:p14="http://schemas.microsoft.com/office/powerpoint/2010/main" val="1753305972"/>
      </p:ext>
    </p:extLst>
  </p:cSld>
</p:sld>
</file>

<file path=ppt/slides/slide10.xml><?xml version="1.0" encoding="utf-8"?>
<p:sld xmlns:p="http://schemas.openxmlformats.org/presentationml/2006/main">
  <p:cSld>
    <p:bg>
      <p:bgPr>
        <a:solidFill xmlns:a="http://schemas.openxmlformats.org/drawingml/2006/main">
          <a:srgbClr val="E5EDD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F55FC44-8A6C-459C-98E2-AB9FF1C78DDF}"/>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3D31"/>
                </a:solidFill>
                <a:latin typeface="Segoe UI"/>
                <a:ea typeface="Segoe UI"/>
                <a:cs typeface="Segoe UI"/>
              </a:defRPr>
            </a:pPr>
            <a:r>
              <a:rPr sz="3900" b="1">
                <a:solidFill>
                  <a:srgbClr val="173D31"/>
                </a:solidFill>
                <a:latin typeface="Segoe UI"/>
                <a:ea typeface="Segoe UI"/>
                <a:cs typeface="Segoe UI"/>
              </a:rPr>
              <a:t>Conclusion</a:t>
            </a:r>
          </a:p>
        </p:txBody>
      </p:sp>
      <p:sp>
        <p:nvSpPr>
          <p:cNvPr id="2" name="">
            <a:extLst xmlns:a="http://schemas.openxmlformats.org/drawingml/2006/main">
              <a:ext uri="{FF2B5EF4-FFF2-40B4-BE49-F238E27FC236}">
                <a16:creationId xmlns:a16="http://schemas.microsoft.com/office/drawing/2014/main" id="{1FC06084-9E5D-431F-B68E-6633565391ED}"/>
              </a:ext>
            </a:extLst>
          </p:cNvPr>
          <p:cNvSpPr>
            <a:spLocks xmlns:a="http://schemas.openxmlformats.org/drawingml/2006/main" noGrp="1"/>
          </p:cNvSpPr>
          <p:nvPr/>
        </p:nvSpPr>
        <p:spPr>
          <a:xfrm xmlns:a="http://schemas.openxmlformats.org/drawingml/2006/main">
            <a:off x="11153775"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86C"/>
                </a:solidFill>
                <a:latin typeface="Segoe UI"/>
                <a:ea typeface="Segoe UI"/>
                <a:cs typeface="Segoe UI"/>
              </a:defRPr>
            </a:pPr>
            <a:r>
              <a:rPr sz="1350" b="0">
                <a:solidFill>
                  <a:srgbClr val="65786C"/>
                </a:solidFill>
                <a:latin typeface="Segoe UI"/>
                <a:ea typeface="Segoe UI"/>
                <a:cs typeface="Segoe UI"/>
              </a:rPr>
              <a:t>10</a:t>
            </a:r>
          </a:p>
        </p:txBody>
      </p:sp>
      <p:sp>
        <p:nvSpPr>
          <p:cNvPr id="3" name="">
            <a:extLst xmlns:a="http://schemas.openxmlformats.org/drawingml/2006/main">
              <a:ext uri="{FF2B5EF4-FFF2-40B4-BE49-F238E27FC236}">
                <a16:creationId xmlns:a16="http://schemas.microsoft.com/office/drawing/2014/main" id="{A3EFBA98-D98D-4D72-8132-4F31640CFE91}"/>
              </a:ext>
            </a:extLst>
          </p:cNvPr>
          <p:cNvSpPr>
            <a:spLocks xmlns:a="http://schemas.openxmlformats.org/drawingml/2006/main" noGrp="1"/>
          </p:cNvSpPr>
          <p:nvPr/>
        </p:nvSpPr>
        <p:spPr>
          <a:xfrm xmlns:a="http://schemas.openxmlformats.org/drawingml/2006/main">
            <a:off x="609600" y="1552575"/>
            <a:ext cx="107346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1"/>
                </a:solidFill>
                <a:latin typeface="Segoe UI"/>
                <a:ea typeface="Segoe UI"/>
                <a:cs typeface="Segoe UI"/>
              </a:defRPr>
            </a:pPr>
            <a:r>
              <a:rPr sz="3300" b="1">
                <a:solidFill>
                  <a:srgbClr val="173D31"/>
                </a:solidFill>
                <a:latin typeface="Segoe UI"/>
                <a:ea typeface="Segoe UI"/>
                <a:cs typeface="Segoe UI"/>
              </a:rPr>
              <a:t>Decision Tree and Linear SVM</a:t>
            </a:r>
          </a:p>
          <a:p xmlns:a="http://schemas.openxmlformats.org/drawingml/2006/main">
            <a:pPr algn="l">
              <a:defRPr sz="3300" b="1">
                <a:solidFill>
                  <a:srgbClr val="173D31"/>
                </a:solidFill>
                <a:latin typeface="Segoe UI"/>
                <a:ea typeface="Segoe UI"/>
                <a:cs typeface="Segoe UI"/>
              </a:defRPr>
            </a:pPr>
            <a:r>
              <a:rPr sz="3300" b="1">
                <a:solidFill>
                  <a:srgbClr val="173D31"/>
                </a:solidFill>
                <a:latin typeface="Segoe UI"/>
                <a:ea typeface="Segoe UI"/>
                <a:cs typeface="Segoe UI"/>
              </a:rPr>
              <a:t>remain close candidates.</a:t>
            </a:r>
          </a:p>
        </p:txBody>
      </p:sp>
      <p:sp>
        <p:nvSpPr>
          <p:cNvPr id="4" name="">
            <a:extLst xmlns:a="http://schemas.openxmlformats.org/drawingml/2006/main">
              <a:ext uri="{FF2B5EF4-FFF2-40B4-BE49-F238E27FC236}">
                <a16:creationId xmlns:a16="http://schemas.microsoft.com/office/drawing/2014/main" id="{1FE3BE34-164A-4714-82E9-64713174B551}"/>
              </a:ext>
            </a:extLst>
          </p:cNvPr>
          <p:cNvSpPr>
            <a:spLocks xmlns:a="http://schemas.openxmlformats.org/drawingml/2006/main" noGrp="1"/>
          </p:cNvSpPr>
          <p:nvPr/>
        </p:nvSpPr>
        <p:spPr>
          <a:xfrm xmlns:a="http://schemas.openxmlformats.org/drawingml/2006/main">
            <a:off x="628650" y="2790825"/>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5786C"/>
                </a:solidFill>
                <a:latin typeface="Segoe UI"/>
                <a:ea typeface="Segoe UI"/>
                <a:cs typeface="Segoe UI"/>
              </a:defRPr>
            </a:pPr>
            <a:r>
              <a:rPr sz="2100" b="0">
                <a:solidFill>
                  <a:srgbClr val="65786C"/>
                </a:solidFill>
                <a:latin typeface="Segoe UI"/>
                <a:ea typeface="Segoe UI"/>
                <a:cs typeface="Segoe UI"/>
              </a:rPr>
              <a:t>Both improve positive-class F1 over the majority baseline.</a:t>
            </a:r>
          </a:p>
        </p:txBody>
      </p:sp>
      <p:sp>
        <p:nvSpPr>
          <p:cNvPr id="5" name="">
            <a:extLst xmlns:a="http://schemas.openxmlformats.org/drawingml/2006/main">
              <a:ext uri="{FF2B5EF4-FFF2-40B4-BE49-F238E27FC236}">
                <a16:creationId xmlns:a16="http://schemas.microsoft.com/office/drawing/2014/main" id="{5921786C-5D61-432B-BA06-548CA6204CE1}"/>
              </a:ext>
            </a:extLst>
          </p:cNvPr>
          <p:cNvSpPr>
            <a:spLocks xmlns:a="http://schemas.openxmlformats.org/drawingml/2006/main" noGrp="1"/>
          </p:cNvSpPr>
          <p:nvPr/>
        </p:nvSpPr>
        <p:spPr>
          <a:xfrm xmlns:a="http://schemas.openxmlformats.org/drawingml/2006/main">
            <a:off x="561975" y="3771900"/>
            <a:ext cx="323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173D31"/>
                </a:solidFill>
                <a:latin typeface="Segoe UI"/>
                <a:ea typeface="Segoe UI"/>
                <a:cs typeface="Segoe UI"/>
              </a:defRPr>
            </a:pPr>
            <a:r>
              <a:rPr sz="6600" b="1">
                <a:solidFill>
                  <a:srgbClr val="173D31"/>
                </a:solidFill>
                <a:latin typeface="Segoe UI"/>
                <a:ea typeface="Segoe UI"/>
                <a:cs typeface="Segoe UI"/>
              </a:rPr>
              <a:t>0.450</a:t>
            </a:r>
          </a:p>
        </p:txBody>
      </p:sp>
      <p:sp>
        <p:nvSpPr>
          <p:cNvPr id="6" name="">
            <a:extLst xmlns:a="http://schemas.openxmlformats.org/drawingml/2006/main">
              <a:ext uri="{FF2B5EF4-FFF2-40B4-BE49-F238E27FC236}">
                <a16:creationId xmlns:a16="http://schemas.microsoft.com/office/drawing/2014/main" id="{E30B5770-8B4A-4648-87B5-C26A97C48B89}"/>
              </a:ext>
            </a:extLst>
          </p:cNvPr>
          <p:cNvSpPr>
            <a:spLocks xmlns:a="http://schemas.openxmlformats.org/drawingml/2006/main" noGrp="1"/>
          </p:cNvSpPr>
          <p:nvPr/>
        </p:nvSpPr>
        <p:spPr>
          <a:xfrm xmlns:a="http://schemas.openxmlformats.org/drawingml/2006/main">
            <a:off x="628650" y="4933950"/>
            <a:ext cx="327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5786C"/>
                </a:solidFill>
                <a:latin typeface="Segoe UI"/>
                <a:ea typeface="Segoe UI"/>
                <a:cs typeface="Segoe UI"/>
              </a:defRPr>
            </a:pPr>
            <a:r>
              <a:rPr sz="1800" b="0">
                <a:solidFill>
                  <a:srgbClr val="65786C"/>
                </a:solidFill>
                <a:latin typeface="Segoe UI"/>
                <a:ea typeface="Segoe UI"/>
                <a:cs typeface="Segoe UI"/>
              </a:rPr>
              <a:t>Decision Tree · validation F1</a:t>
            </a:r>
          </a:p>
        </p:txBody>
      </p:sp>
      <p:sp>
        <p:nvSpPr>
          <p:cNvPr id="7" name="">
            <a:extLst xmlns:a="http://schemas.openxmlformats.org/drawingml/2006/main">
              <a:ext uri="{FF2B5EF4-FFF2-40B4-BE49-F238E27FC236}">
                <a16:creationId xmlns:a16="http://schemas.microsoft.com/office/drawing/2014/main" id="{8110B713-976A-4593-8771-9207FADFC416}"/>
              </a:ext>
            </a:extLst>
          </p:cNvPr>
          <p:cNvSpPr>
            <a:spLocks xmlns:a="http://schemas.openxmlformats.org/drawingml/2006/main" noGrp="1"/>
          </p:cNvSpPr>
          <p:nvPr/>
        </p:nvSpPr>
        <p:spPr>
          <a:xfrm xmlns:a="http://schemas.openxmlformats.org/drawingml/2006/main">
            <a:off x="4067175" y="3771900"/>
            <a:ext cx="323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397D66"/>
                </a:solidFill>
                <a:latin typeface="Segoe UI"/>
                <a:ea typeface="Segoe UI"/>
                <a:cs typeface="Segoe UI"/>
              </a:defRPr>
            </a:pPr>
            <a:r>
              <a:rPr sz="6600" b="1">
                <a:solidFill>
                  <a:srgbClr val="397D66"/>
                </a:solidFill>
                <a:latin typeface="Segoe UI"/>
                <a:ea typeface="Segoe UI"/>
                <a:cs typeface="Segoe UI"/>
              </a:rPr>
              <a:t>0.448</a:t>
            </a:r>
          </a:p>
        </p:txBody>
      </p:sp>
      <p:sp>
        <p:nvSpPr>
          <p:cNvPr id="8" name="">
            <a:extLst xmlns:a="http://schemas.openxmlformats.org/drawingml/2006/main">
              <a:ext uri="{FF2B5EF4-FFF2-40B4-BE49-F238E27FC236}">
                <a16:creationId xmlns:a16="http://schemas.microsoft.com/office/drawing/2014/main" id="{E4878C06-8520-4708-B3EC-D5CDED56147B}"/>
              </a:ext>
            </a:extLst>
          </p:cNvPr>
          <p:cNvSpPr>
            <a:spLocks xmlns:a="http://schemas.openxmlformats.org/drawingml/2006/main" noGrp="1"/>
          </p:cNvSpPr>
          <p:nvPr/>
        </p:nvSpPr>
        <p:spPr>
          <a:xfrm xmlns:a="http://schemas.openxmlformats.org/drawingml/2006/main">
            <a:off x="4133850" y="4933950"/>
            <a:ext cx="327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5786C"/>
                </a:solidFill>
                <a:latin typeface="Segoe UI"/>
                <a:ea typeface="Segoe UI"/>
                <a:cs typeface="Segoe UI"/>
              </a:defRPr>
            </a:pPr>
            <a:r>
              <a:rPr sz="1800" b="0">
                <a:solidFill>
                  <a:srgbClr val="65786C"/>
                </a:solidFill>
                <a:latin typeface="Segoe UI"/>
                <a:ea typeface="Segoe UI"/>
                <a:cs typeface="Segoe UI"/>
              </a:rPr>
              <a:t>Linear SVM · validation F1</a:t>
            </a:r>
          </a:p>
        </p:txBody>
      </p:sp>
      <p:sp>
        <p:nvSpPr>
          <p:cNvPr id="9" name="">
            <a:extLst xmlns:a="http://schemas.openxmlformats.org/drawingml/2006/main">
              <a:ext uri="{FF2B5EF4-FFF2-40B4-BE49-F238E27FC236}">
                <a16:creationId xmlns:a16="http://schemas.microsoft.com/office/drawing/2014/main" id="{2480F262-2236-4724-80CB-19C00BED4AC0}"/>
              </a:ext>
            </a:extLst>
          </p:cNvPr>
          <p:cNvSpPr>
            <a:spLocks xmlns:a="http://schemas.openxmlformats.org/drawingml/2006/main" noGrp="1"/>
          </p:cNvSpPr>
          <p:nvPr/>
        </p:nvSpPr>
        <p:spPr>
          <a:xfrm xmlns:a="http://schemas.openxmlformats.org/drawingml/2006/main">
            <a:off x="7934325" y="3581400"/>
            <a:ext cx="3648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3D31"/>
                </a:solidFill>
                <a:latin typeface="Segoe UI"/>
                <a:ea typeface="Segoe UI"/>
                <a:cs typeface="Segoe UI"/>
              </a:defRPr>
            </a:pPr>
            <a:r>
              <a:rPr sz="2250" b="1">
                <a:solidFill>
                  <a:srgbClr val="173D31"/>
                </a:solidFill>
                <a:latin typeface="Segoe UI"/>
                <a:ea typeface="Segoe UI"/>
                <a:cs typeface="Segoe UI"/>
              </a:rPr>
              <a:t>Final-stage plan</a:t>
            </a:r>
          </a:p>
        </p:txBody>
      </p:sp>
      <p:sp>
        <p:nvSpPr>
          <p:cNvPr id="10" name="">
            <a:extLst xmlns:a="http://schemas.openxmlformats.org/drawingml/2006/main">
              <a:ext uri="{FF2B5EF4-FFF2-40B4-BE49-F238E27FC236}">
                <a16:creationId xmlns:a16="http://schemas.microsoft.com/office/drawing/2014/main" id="{63240D40-66BA-497D-8D66-F91356A97187}"/>
              </a:ext>
            </a:extLst>
          </p:cNvPr>
          <p:cNvSpPr>
            <a:spLocks xmlns:a="http://schemas.openxmlformats.org/drawingml/2006/main" noGrp="1"/>
          </p:cNvSpPr>
          <p:nvPr/>
        </p:nvSpPr>
        <p:spPr>
          <a:xfrm xmlns:a="http://schemas.openxmlformats.org/drawingml/2006/main">
            <a:off x="7934325" y="4114800"/>
            <a:ext cx="3648075"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D31"/>
                </a:solidFill>
                <a:latin typeface="Segoe UI"/>
                <a:ea typeface="Segoe UI"/>
                <a:cs typeface="Segoe UI"/>
              </a:defRPr>
            </a:pPr>
            <a:r>
              <a:rPr sz="1800" b="0">
                <a:solidFill>
                  <a:srgbClr val="173D31"/>
                </a:solidFill>
                <a:latin typeface="Segoe UI"/>
                <a:ea typeface="Segoe UI"/>
                <a:cs typeface="Segoe UI"/>
              </a:rPr>
              <a:t>Check time stability and</a:t>
            </a:r>
          </a:p>
          <a:p xmlns:a="http://schemas.openxmlformats.org/drawingml/2006/main">
            <a:pPr algn="l">
              <a:defRPr sz="1800" b="0">
                <a:solidFill>
                  <a:srgbClr val="173D31"/>
                </a:solidFill>
                <a:latin typeface="Segoe UI"/>
                <a:ea typeface="Segoe UI"/>
                <a:cs typeface="Segoe UI"/>
              </a:defRPr>
            </a:pPr>
            <a:r>
              <a:rPr sz="1800" b="0">
                <a:solidFill>
                  <a:srgbClr val="173D31"/>
                </a:solidFill>
                <a:latin typeface="Segoe UI"/>
                <a:ea typeface="Segoe UI"/>
                <a:cs typeface="Segoe UI"/>
              </a:rPr>
              <a:t>feature availability.</a:t>
            </a:r>
          </a:p>
          <a:p xmlns:a="http://schemas.openxmlformats.org/drawingml/2006/main">
            <a:r>
              <a:t/>
            </a:r>
          </a:p>
          <a:p xmlns:a="http://schemas.openxmlformats.org/drawingml/2006/main">
            <a:pPr algn="l">
              <a:defRPr sz="1800" b="0">
                <a:solidFill>
                  <a:srgbClr val="173D31"/>
                </a:solidFill>
                <a:latin typeface="Segoe UI"/>
                <a:ea typeface="Segoe UI"/>
                <a:cs typeface="Segoe UI"/>
              </a:defRPr>
            </a:pPr>
            <a:r>
              <a:rPr sz="1800" b="0">
                <a:solidFill>
                  <a:srgbClr val="173D31"/>
                </a:solidFill>
                <a:latin typeface="Segoe UI"/>
                <a:ea typeface="Segoe UI"/>
                <a:cs typeface="Segoe UI"/>
              </a:rPr>
              <a:t>Select a threshold on</a:t>
            </a:r>
          </a:p>
          <a:p xmlns:a="http://schemas.openxmlformats.org/drawingml/2006/main">
            <a:pPr algn="l">
              <a:defRPr sz="1800" b="0">
                <a:solidFill>
                  <a:srgbClr val="173D31"/>
                </a:solidFill>
                <a:latin typeface="Segoe UI"/>
                <a:ea typeface="Segoe UI"/>
                <a:cs typeface="Segoe UI"/>
              </a:defRPr>
            </a:pPr>
            <a:r>
              <a:rPr sz="1800" b="0">
                <a:solidFill>
                  <a:srgbClr val="173D31"/>
                </a:solidFill>
                <a:latin typeface="Segoe UI"/>
                <a:ea typeface="Segoe UI"/>
                <a:cs typeface="Segoe UI"/>
              </a:rPr>
              <a:t>development data.</a:t>
            </a:r>
          </a:p>
          <a:p xmlns:a="http://schemas.openxmlformats.org/drawingml/2006/main">
            <a:r>
              <a:t/>
            </a:r>
          </a:p>
          <a:p xmlns:a="http://schemas.openxmlformats.org/drawingml/2006/main">
            <a:pPr algn="l">
              <a:defRPr sz="1800" b="0">
                <a:solidFill>
                  <a:srgbClr val="173D31"/>
                </a:solidFill>
                <a:latin typeface="Segoe UI"/>
                <a:ea typeface="Segoe UI"/>
                <a:cs typeface="Segoe UI"/>
              </a:defRPr>
            </a:pPr>
            <a:r>
              <a:rPr sz="1800" b="0">
                <a:solidFill>
                  <a:srgbClr val="173D31"/>
                </a:solidFill>
                <a:latin typeface="Segoe UI"/>
                <a:ea typeface="Segoe UI"/>
                <a:cs typeface="Segoe UI"/>
              </a:rPr>
              <a:t>Freeze choices, then</a:t>
            </a:r>
          </a:p>
          <a:p xmlns:a="http://schemas.openxmlformats.org/drawingml/2006/main">
            <a:pPr algn="l">
              <a:defRPr sz="1800" b="0">
                <a:solidFill>
                  <a:srgbClr val="173D31"/>
                </a:solidFill>
                <a:latin typeface="Segoe UI"/>
                <a:ea typeface="Segoe UI"/>
                <a:cs typeface="Segoe UI"/>
              </a:defRPr>
            </a:pPr>
            <a:r>
              <a:rPr sz="1800" b="0">
                <a:solidFill>
                  <a:srgbClr val="173D31"/>
                </a:solidFill>
                <a:latin typeface="Segoe UI"/>
                <a:ea typeface="Segoe UI"/>
                <a:cs typeface="Segoe UI"/>
              </a:rPr>
              <a:t>evaluate the reserved test.</a:t>
            </a:r>
          </a:p>
        </p:txBody>
      </p:sp>
      <p:sp>
        <p:nvSpPr>
          <p:cNvPr id="11" name="">
            <a:extLst xmlns:a="http://schemas.openxmlformats.org/drawingml/2006/main">
              <a:ext uri="{FF2B5EF4-FFF2-40B4-BE49-F238E27FC236}">
                <a16:creationId xmlns:a16="http://schemas.microsoft.com/office/drawing/2014/main" id="{AB9BA8F3-2DC1-4951-A9FE-A9C44F99D103}"/>
              </a:ext>
            </a:extLst>
          </p:cNvPr>
          <p:cNvSpPr>
            <a:spLocks xmlns:a="http://schemas.openxmlformats.org/drawingml/2006/main" noGrp="1"/>
          </p:cNvSpPr>
          <p:nvPr/>
        </p:nvSpPr>
        <p:spPr>
          <a:xfrm xmlns:a="http://schemas.openxmlformats.org/drawingml/2006/main">
            <a:off x="628650" y="6305550"/>
            <a:ext cx="1051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5786C"/>
                </a:solidFill>
                <a:latin typeface="Segoe UI"/>
                <a:ea typeface="Segoe UI"/>
                <a:cs typeface="Segoe UI"/>
              </a:defRPr>
            </a:pPr>
            <a:r>
              <a:rPr sz="1575" b="0">
                <a:solidFill>
                  <a:srgbClr val="65786C"/>
                </a:solidFill>
                <a:latin typeface="Segoe UI"/>
                <a:ea typeface="Segoe UI"/>
                <a:cs typeface="Segoe UI"/>
              </a:rPr>
              <a:t>Historical data and missing client IDs limit generalization.</a:t>
            </a:r>
          </a:p>
        </p:txBody>
      </p:sp>
    </p:spTree>
    <p:extLst>
      <p:ext uri="{BB962C8B-B14F-4D97-AF65-F5344CB8AC3E}">
        <p14:creationId xmlns:p14="http://schemas.microsoft.com/office/powerpoint/2010/main" val="9537001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2026-10-07T12:40:33.1630000Z</dcterms:created>
  <dcterms:modified xsi:type="dcterms:W3CDTF">2026-10-07T12:40:33.1630000Z</dcterms:modified>
</coreProperties>
</file>