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229ea825f5043a9" /><Relationship Type="http://schemas.openxmlformats.org/officeDocument/2006/relationships/extended-properties" Target="/docProps/app.xml" Id="R6f758cbf87484d74" /><Relationship Type="http://schemas.openxmlformats.org/officeDocument/2006/relationships/officeDocument" Target="/ppt/presentation.xml" Id="Re1c129f0d8794891" /></Relationships>
</file>

<file path=ppt/presentation.xml><?xml version="1.0" encoding="utf-8"?>
<p:presentation xmlns:p="http://schemas.openxmlformats.org/presentationml/2006/main">
  <p:sldMasterIdLst>
    <p:sldMasterId xmlns:r="http://schemas.openxmlformats.org/officeDocument/2006/relationships" id="2147483648" r:id="R91a14c58f5c1499b"/>
  </p:sldMasterIdLst>
  <p:notesMasterIdLst>
    <p:notesMasterId xmlns:r="http://schemas.openxmlformats.org/officeDocument/2006/relationships" r:id="R2eabbd86f7604c1b"/>
  </p:notesMasterIdLst>
  <p:sldIdLst>
    <p:sldId xmlns:r="http://schemas.openxmlformats.org/officeDocument/2006/relationships" id="256" r:id="Rc359f077eb8d4446"/>
    <p:sldId xmlns:r="http://schemas.openxmlformats.org/officeDocument/2006/relationships" id="257" r:id="R6044ce292e614681"/>
    <p:sldId xmlns:r="http://schemas.openxmlformats.org/officeDocument/2006/relationships" id="258" r:id="R4a5a81d936374caf"/>
    <p:sldId xmlns:r="http://schemas.openxmlformats.org/officeDocument/2006/relationships" id="259" r:id="R34fd9556f6974f9a"/>
    <p:sldId xmlns:r="http://schemas.openxmlformats.org/officeDocument/2006/relationships" id="260" r:id="Re58c963b394644d8"/>
    <p:sldId xmlns:r="http://schemas.openxmlformats.org/officeDocument/2006/relationships" id="261" r:id="R202c6f91811445bc"/>
    <p:sldId xmlns:r="http://schemas.openxmlformats.org/officeDocument/2006/relationships" id="262" r:id="R04829721b8664273"/>
    <p:sldId xmlns:r="http://schemas.openxmlformats.org/officeDocument/2006/relationships" id="263" r:id="R56fc3bf85bbb4293"/>
    <p:sldId xmlns:r="http://schemas.openxmlformats.org/officeDocument/2006/relationships" id="264" r:id="R4c41357046f9450c"/>
    <p:sldId xmlns:r="http://schemas.openxmlformats.org/officeDocument/2006/relationships" id="265" r:id="R6511c13e2a874c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5305af10a74c46" /><Relationship Type="http://schemas.openxmlformats.org/officeDocument/2006/relationships/slideMaster" Target="/ppt/slideMasters/slideMaster1.xml" Id="R91a14c58f5c1499b" /><Relationship Type="http://schemas.openxmlformats.org/officeDocument/2006/relationships/notesMaster" Target="/ppt/notesMasters/notesMaster1.xml" Id="R2eabbd86f7604c1b" /><Relationship Type="http://schemas.openxmlformats.org/officeDocument/2006/relationships/presProps" Target="/ppt/presProps.xml" Id="Ra1f9bb26c18042a8" /><Relationship Type="http://schemas.openxmlformats.org/officeDocument/2006/relationships/tableStyles" Target="/ppt/tableStyles.xml" Id="R6b6d1c7caeac493b" /><Relationship Type="http://schemas.openxmlformats.org/officeDocument/2006/relationships/slide" Target="/ppt/slides/slide1.xml" Id="Rc359f077eb8d4446" /><Relationship Type="http://schemas.openxmlformats.org/officeDocument/2006/relationships/slide" Target="/ppt/slides/slide2.xml" Id="R6044ce292e614681" /><Relationship Type="http://schemas.openxmlformats.org/officeDocument/2006/relationships/slide" Target="/ppt/slides/slide3.xml" Id="R4a5a81d936374caf" /><Relationship Type="http://schemas.openxmlformats.org/officeDocument/2006/relationships/slide" Target="/ppt/slides/slide4.xml" Id="R34fd9556f6974f9a" /><Relationship Type="http://schemas.openxmlformats.org/officeDocument/2006/relationships/slide" Target="/ppt/slides/slide5.xml" Id="Re58c963b394644d8" /><Relationship Type="http://schemas.openxmlformats.org/officeDocument/2006/relationships/slide" Target="/ppt/slides/slide6.xml" Id="R202c6f91811445bc" /><Relationship Type="http://schemas.openxmlformats.org/officeDocument/2006/relationships/slide" Target="/ppt/slides/slide7.xml" Id="R04829721b8664273" /><Relationship Type="http://schemas.openxmlformats.org/officeDocument/2006/relationships/slide" Target="/ppt/slides/slide8.xml" Id="R56fc3bf85bbb4293" /><Relationship Type="http://schemas.openxmlformats.org/officeDocument/2006/relationships/slide" Target="/ppt/slides/slide9.xml" Id="R4c41357046f9450c" /><Relationship Type="http://schemas.openxmlformats.org/officeDocument/2006/relationships/slide" Target="/ppt/slides/slide10.xml" Id="R6511c13e2a874c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e5c4c82d3245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87528d827c4d40" /><Relationship Type="http://schemas.openxmlformats.org/officeDocument/2006/relationships/notesMaster" Target="/ppt/notesMasters/notesMaster1.xml" Id="Re9c9c6bcba3944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8614bace794410" /><Relationship Type="http://schemas.openxmlformats.org/officeDocument/2006/relationships/notesMaster" Target="/ppt/notesMasters/notesMaster1.xml" Id="R0a50ec706e3845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5b20abf0074df5" /><Relationship Type="http://schemas.openxmlformats.org/officeDocument/2006/relationships/notesMaster" Target="/ppt/notesMasters/notesMaster1.xml" Id="R8d65779448834c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c4f7c4044c471e" /><Relationship Type="http://schemas.openxmlformats.org/officeDocument/2006/relationships/notesMaster" Target="/ppt/notesMasters/notesMaster1.xml" Id="Rd33daa2042f841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427133274d4d3e" /><Relationship Type="http://schemas.openxmlformats.org/officeDocument/2006/relationships/notesMaster" Target="/ppt/notesMasters/notesMaster1.xml" Id="R747b3936182e46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e13e1a4b0a4e4f" /><Relationship Type="http://schemas.openxmlformats.org/officeDocument/2006/relationships/notesMaster" Target="/ppt/notesMasters/notesMaster1.xml" Id="Rdb3a2133a9b547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40578ea06b4a2d" /><Relationship Type="http://schemas.openxmlformats.org/officeDocument/2006/relationships/notesMaster" Target="/ppt/notesMasters/notesMaster1.xml" Id="Re9482418e34e4b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48ea0de1904dff" /><Relationship Type="http://schemas.openxmlformats.org/officeDocument/2006/relationships/notesMaster" Target="/ppt/notesMasters/notesMaster1.xml" Id="R25e9f82ecbd845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d262d7e6df4cbe" /><Relationship Type="http://schemas.openxmlformats.org/officeDocument/2006/relationships/notesMaster" Target="/ppt/notesMasters/notesMaster1.xml" Id="R5e12a70270ef4e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3969eac20343be" /><Relationship Type="http://schemas.openxmlformats.org/officeDocument/2006/relationships/notesMaster" Target="/ppt/notesMasters/notesMaster1.xml" Id="R2228b6a0c5d24a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Nurlan Ramazan | 40 seconds</a:t>
            </a:r>
          </a:p>
          <a:p xmlns:a="http://schemas.openxmlformats.org/drawingml/2006/main">
            <a:r>
              <a:t/>
            </a:r>
          </a:p>
          <a:p xmlns:a="http://schemas.openxmlformats.org/drawingml/2006/main">
            <a:r>
              <a:t>Our project studies bank marketing response. The question is whether information available before a scheduled phone call can help predict a term-deposit subscription. We use a binary target: yes means the client subscribed, and no means the client did not. The potential use is to prioritize contacts, but this project evaluates prediction rather than the causal benefit of calling. We compare a simple baseline with three algorithms from the course and select candidates using F1 for the positive class.</a:t>
            </a:r>
          </a:p>
          <a:p xmlns:a="http://schemas.openxmlformats.org/drawingml/2006/main">
            <a:r>
              <a:t/>
            </a:r>
          </a:p>
          <a:p xmlns:a="http://schemas.openxmlformats.org/drawingml/2006/main">
            <a:r>
              <a:t>Sources:</a:t>
            </a:r>
          </a:p>
          <a:p xmlns:a="http://schemas.openxmlformats.org/drawingml/2006/main">
            <a:r>
              <a:t>https://github.com/Tenma24/bank-marketing-response</a:t>
            </a:r>
          </a:p>
          <a:p xmlns:a="http://schemas.openxmlformats.org/drawingml/2006/main">
            <a:r>
              <a:t>https://github.com/Tenma24/bank-marketing-response/blob/main/notebooks/bank_marketing.ipynb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Nurlan Ramazan | 55 seconds</a:t>
            </a:r>
          </a:p>
          <a:p xmlns:a="http://schemas.openxmlformats.org/drawingml/2006/main">
            <a:r>
              <a:t/>
            </a:r>
          </a:p>
          <a:p xmlns:a="http://schemas.openxmlformats.org/drawingml/2006/main">
            <a:r>
              <a:t>The source is the official UCI Bank Marketing dataset. We use the additional-full version, which has 41,188 historical records, 20 original inputs and the response target. We preserve the source file and its license information. The chart uses only the training partition. There are 21,929 negative records and 2,784 positive records, so just 11.27 percent are subscriptions. A model that always answers no looks good on accuracy but identifies no subscribers. That is why positive-class F1, precision and recall matter. Rows are campaign observations, and the lack of client IDs limits our ability to prove independence between clients.</a:t>
            </a:r>
          </a:p>
          <a:p xmlns:a="http://schemas.openxmlformats.org/drawingml/2006/main">
            <a:r>
              <a:t/>
            </a:r>
          </a:p>
          <a:p xmlns:a="http://schemas.openxmlformats.org/drawingml/2006/main">
            <a:r>
              <a:t>Sources:</a:t>
            </a:r>
          </a:p>
          <a:p xmlns:a="http://schemas.openxmlformats.org/drawingml/2006/main">
            <a:r>
              <a:t>https://archive.ics.uci.edu/dataset/222/bank+marketing</a:t>
            </a:r>
          </a:p>
          <a:p xmlns:a="http://schemas.openxmlformats.org/drawingml/2006/main">
            <a:r>
              <a:t>https://doi.org/10.24432/C5K306</a:t>
            </a:r>
          </a:p>
          <a:p xmlns:a="http://schemas.openxmlformats.org/drawingml/2006/main">
            <a:r>
              <a:t>https://github.com/Tenma24/bank-marketing-response/blob/main/data/README.md</a:t>
            </a:r>
          </a:p>
          <a:p xmlns:a="http://schemas.openxmlformats.org/drawingml/2006/main">
            <a:r>
              <a:t>https://github.com/Tenma24/bank-marketing-response/blob/main/results/split_manifest.csv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Nurlan Ramazan | 75 seconds</a:t>
            </a:r>
          </a:p>
          <a:p xmlns:a="http://schemas.openxmlformats.org/drawingml/2006/main">
            <a:r>
              <a:t/>
            </a:r>
          </a:p>
          <a:p xmlns:a="http://schemas.openxmlformats.org/drawingml/2006/main">
            <a:r>
              <a:t>These two charts examine client characteristics using training data only. The age chart shows the fraction of each class within ten-year age bands. Normalizing each class separately makes the smaller positive class visible. The distributions overlap, so age alone is insufficient. The occupation chart shows response rates and group sizes in parentheses. Students have an observed response rate of 31.8 percent, while blue-collar clients have 6.9 percent. The student group is much smaller, with 519 observations compared with 5,510. These associations may reflect the bank’s campaign selection and other correlated attributes. We should not interpret them as proof that occupation or age causes a subscription, or that the pattern will hold in future campaigns.</a:t>
            </a:r>
          </a:p>
          <a:p xmlns:a="http://schemas.openxmlformats.org/drawingml/2006/main">
            <a:r>
              <a:t/>
            </a:r>
          </a:p>
          <a:p xmlns:a="http://schemas.openxmlformats.org/drawingml/2006/main">
            <a:r>
              <a:t>Sources:</a:t>
            </a:r>
          </a:p>
          <a:p xmlns:a="http://schemas.openxmlformats.org/drawingml/2006/main">
            <a:r>
              <a:t>https://github.com/Tenma24/bank-marketing-response/blob/main/results/eda_job_rates.csv</a:t>
            </a:r>
          </a:p>
          <a:p xmlns:a="http://schemas.openxmlformats.org/drawingml/2006/main">
            <a:r>
              <a:t>https://github.com/Tenma24/bank-marketing-response/blob/main/data/raw/bank-additional-full.csv</a:t>
            </a:r>
          </a:p>
          <a:p xmlns:a="http://schemas.openxmlformats.org/drawingml/2006/main">
            <a:r>
              <a:t>https://github.com/Tenma24/bank-marketing-response/blob/main/results/split_manifest.csv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Nurlan Ramazan | 70 seconds</a:t>
            </a:r>
          </a:p>
          <a:p xmlns:a="http://schemas.openxmlformats.org/drawingml/2006/main">
            <a:r>
              <a:t/>
            </a:r>
          </a:p>
          <a:p xmlns:a="http://schemas.openxmlformats.org/drawingml/2006/main">
            <a:r>
              <a:t>The fourth and fifth exploratory plots describe campaign history. Clients with a successful previous campaign have a response rate of 65 percent in training, compared with 8.9 percent when there is no previous campaign outcome. Because this refers to a prior campaign, it precedes the current target. The contact-count chart shows a lower observed response rate for records with many attempts: 12.9 percent for the first recorded contact and 5.6 percent for six or more. Repeated attempts may follow previous non-response, so this does not demonstrate that making another call reduces interest. The plotted count includes the current call. In preprocessing, we subtract that call to represent the number of earlier contacts available beforehand.</a:t>
            </a:r>
          </a:p>
          <a:p xmlns:a="http://schemas.openxmlformats.org/drawingml/2006/main">
            <a:r>
              <a:t/>
            </a:r>
          </a:p>
          <a:p xmlns:a="http://schemas.openxmlformats.org/drawingml/2006/main">
            <a:r>
              <a:t>Sources:</a:t>
            </a:r>
          </a:p>
          <a:p xmlns:a="http://schemas.openxmlformats.org/drawingml/2006/main">
            <a:r>
              <a:t>https://github.com/Tenma24/bank-marketing-response/blob/main/results/eda_previous_campaign_rates.csv</a:t>
            </a:r>
          </a:p>
          <a:p xmlns:a="http://schemas.openxmlformats.org/drawingml/2006/main">
            <a:r>
              <a:t>https://github.com/Tenma24/bank-marketing-response/blob/main/results/eda_campaign_rates.csv</a:t>
            </a:r>
          </a:p>
          <a:p xmlns:a="http://schemas.openxmlformats.org/drawingml/2006/main">
            <a:r>
              <a:t>https://github.com/Tenma24/bank-marketing-response/blob/main/data/raw/bank-additional-names.txt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Nurlan Ramazan | 60 seconds</a:t>
            </a:r>
          </a:p>
          <a:p xmlns:a="http://schemas.openxmlformats.org/drawingml/2006/main">
            <a:r>
              <a:t/>
            </a:r>
          </a:p>
          <a:p xmlns:a="http://schemas.openxmlformats.org/drawingml/2006/main">
            <a:r>
              <a:t>We document data checks and use a reproducible preprocessing pipeline. The most important decision is removing duration because the length of the call is unknown before it occurs. Unknown categories remain explicit rather than causing us to discard records. A pdays value of 999 means no previous contact, so we create an indicator and impute the interval using training data. One-hot encoding handles categories, and we transform contact counts. KNN and SVM also receive scaled numeric variables. The dataset contains 12 exact repeated rows. Without record identifiers we cannot prove they are mistakes, so we retain them but keep identical predictor profiles in one partition. All learned preprocessing is fitted separately inside each CV training fold.</a:t>
            </a:r>
          </a:p>
          <a:p xmlns:a="http://schemas.openxmlformats.org/drawingml/2006/main">
            <a:r>
              <a:t/>
            </a:r>
          </a:p>
          <a:p xmlns:a="http://schemas.openxmlformats.org/drawingml/2006/main">
            <a:r>
              <a:t>Sources:</a:t>
            </a:r>
          </a:p>
          <a:p xmlns:a="http://schemas.openxmlformats.org/drawingml/2006/main">
            <a:r>
              <a:t>https://github.com/Tenma24/bank-marketing-response/blob/main/results/training_data_quality.csv</a:t>
            </a:r>
          </a:p>
          <a:p xmlns:a="http://schemas.openxmlformats.org/drawingml/2006/main">
            <a:r>
              <a:t>https://github.com/Tenma24/bank-marketing-response/blob/main/src/bank_marketing.py</a:t>
            </a:r>
          </a:p>
          <a:p xmlns:a="http://schemas.openxmlformats.org/drawingml/2006/main">
            <a:r>
              <a:t>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Araizhan Tazhimova | 60 seconds</a:t>
            </a:r>
          </a:p>
          <a:p xmlns:a="http://schemas.openxmlformats.org/drawingml/2006/main">
            <a:r>
              <a:t/>
            </a:r>
          </a:p>
          <a:p xmlns:a="http://schemas.openxmlformats.org/drawingml/2006/main">
            <a:r>
              <a:t>The development process uses about 60 percent training, 20 percent validation and 20 percent reserved test data. We group identical predictor profiles before splitting, using the input features after removing duration. This matters because 2,021 predictor rows repeat after that exclusion. The same grouping also applies inside cross-validation. Hyperparameters are selected using five training folds and positive-class F1, while validation compares the selected candidates. We do not score the test partition at midterm. There are two important limitations: clients with changed attributes cannot be linked without IDs, and random splitting mixes historical periods. Therefore our reported results describe a historical random benchmark rather than a forecast of future campaigns.</a:t>
            </a:r>
          </a:p>
          <a:p xmlns:a="http://schemas.openxmlformats.org/drawingml/2006/main">
            <a:r>
              <a:t/>
            </a:r>
          </a:p>
          <a:p xmlns:a="http://schemas.openxmlformats.org/drawingml/2006/main">
            <a:r>
              <a:t>Sources:</a:t>
            </a:r>
          </a:p>
          <a:p xmlns:a="http://schemas.openxmlformats.org/drawingml/2006/main">
            <a:r>
              <a:t>https://github.com/Tenma24/bank-marketing-response/blob/main/results/split_summary.csv</a:t>
            </a:r>
          </a:p>
          <a:p xmlns:a="http://schemas.openxmlformats.org/drawingml/2006/main">
            <a:r>
              <a:t>https://github.com/Tenma24/bank-marketing-response/blob/main/results/cv_fold_manifest.csv</a:t>
            </a:r>
          </a:p>
          <a:p xmlns:a="http://schemas.openxmlformats.org/drawingml/2006/main">
            <a:r>
              <a:t>https://github.com/Tenma24/bank-marketing-response/blob/main/results/summary.json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Araizhan Tazhimova | 65 seconds</a:t>
            </a:r>
          </a:p>
          <a:p xmlns:a="http://schemas.openxmlformats.org/drawingml/2006/main">
            <a:r>
              <a:t/>
            </a:r>
          </a:p>
          <a:p xmlns:a="http://schemas.openxmlformats.org/drawingml/2006/main">
            <a:r>
              <a:t>Our baseline always predicts the majority class. We then compare three course algorithms: a decision tree, K-nearest neighbours and a linear support vector machine. The tree search tests twelve combinations, and KNN and SVM each test six. Each candidate uses the same five training folds. The selected tree has depth ten, a minimum leaf size of twenty and balanced class weights. KNN uses fifteen neighbours with distance weighting. Linear SVM uses C equal to one and balanced weights. Their selected mean CV F1 scores are approximately 0.446, 0.354 and 0.448. The standard deviations describe variation between folds rather than confidence intervals. Since we select hyperparameters on these scores, they contain some selection optimism.</a:t>
            </a:r>
          </a:p>
          <a:p xmlns:a="http://schemas.openxmlformats.org/drawingml/2006/main">
            <a:r>
              <a:t/>
            </a:r>
          </a:p>
          <a:p xmlns:a="http://schemas.openxmlformats.org/drawingml/2006/main">
            <a:r>
              <a:t>Sources:</a:t>
            </a:r>
          </a:p>
          <a:p xmlns:a="http://schemas.openxmlformats.org/drawingml/2006/main">
            <a:r>
              <a:t>https://github.com/Tenma24/bank-marketing-response/blob/main/results/best_parameters.json</a:t>
            </a:r>
          </a:p>
          <a:p xmlns:a="http://schemas.openxmlformats.org/drawingml/2006/main">
            <a:r>
              <a:t>https://github.com/Tenma24/bank-marketing-response/blob/main/results/cv_summary.csv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Araizhan Tazhimova | 70 seconds</a:t>
            </a:r>
          </a:p>
          <a:p xmlns:a="http://schemas.openxmlformats.org/drawingml/2006/main">
            <a:r>
              <a:t/>
            </a:r>
          </a:p>
          <a:p xmlns:a="http://schemas.openxmlformats.org/drawingml/2006/main">
            <a:r>
              <a:t>This table compares all candidates on validation data that were not used to fit their parameters. We selected positive-class F1 before comparing the models. Decision Tree has F1 of 0.450, Linear SVM 0.448, KNN 0.373 and the majority baseline zero. The gap between the tree and SVM is only about 0.002, so we cannot claim a meaningful superiority. Linear SVM actually performs better on ROC-AUC and average precision, which evaluate the continuous ranking scores. KNN has higher precision but much lower recall. Average precision, abbreviated AP, is not the trapezoidal area under the precision-recall curve. Finally, we use validation to choose the candidate, so these results are not an unbiased final test estimate.</a:t>
            </a:r>
          </a:p>
          <a:p xmlns:a="http://schemas.openxmlformats.org/drawingml/2006/main">
            <a:r>
              <a:t/>
            </a:r>
          </a:p>
          <a:p xmlns:a="http://schemas.openxmlformats.org/drawingml/2006/main">
            <a:r>
              <a:t>Sources:</a:t>
            </a:r>
          </a:p>
          <a:p xmlns:a="http://schemas.openxmlformats.org/drawingml/2006/main">
            <a:r>
              <a:t>https://github.com/Tenma24/bank-marketing-response/blob/main/results/metrics.csv</a:t>
            </a:r>
          </a:p>
          <a:p xmlns:a="http://schemas.openxmlformats.org/drawingml/2006/main">
            <a:r>
              <a:t>https://github.com/Tenma24/bank-marketing-response/blob/main/results/validation_predictions.csv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Araizhan Tazhimova | 65 seconds</a:t>
            </a:r>
          </a:p>
          <a:p xmlns:a="http://schemas.openxmlformats.org/drawingml/2006/main">
            <a:r>
              <a:t/>
            </a:r>
          </a:p>
          <a:p xmlns:a="http://schemas.openxmlformats.org/drawingml/2006/main">
            <a:r>
              <a:t>The selected tree identifies 577 actual subscriptions and misses 351. It also predicts a subscription for 1,059 records whose actual outcome is no. This gives recall of 62.2 percent and precision of 35.3 percent. In a targeting scenario, false negatives represent missed positive cases, while false positives can mean unproductive contacts. We have no measured call cost or incremental profit, so we do not claim a financially optimal decision threshold. We also inspect train-versus-validation gaps. KNN has training F1 near 0.972 but validation F1 near 0.373. Its in-sample queries include their own neighbours, so that training score is particularly optimistic. These diagnostics motivate additional validation and threshold analysis at the final stage.</a:t>
            </a:r>
          </a:p>
          <a:p xmlns:a="http://schemas.openxmlformats.org/drawingml/2006/main">
            <a:r>
              <a:t/>
            </a:r>
          </a:p>
          <a:p xmlns:a="http://schemas.openxmlformats.org/drawingml/2006/main">
            <a:r>
              <a:t>Sources:</a:t>
            </a:r>
          </a:p>
          <a:p xmlns:a="http://schemas.openxmlformats.org/drawingml/2006/main">
            <a:r>
              <a:t>https://github.com/Tenma24/bank-marketing-response/blob/main/results/summary.json</a:t>
            </a:r>
          </a:p>
          <a:p xmlns:a="http://schemas.openxmlformats.org/drawingml/2006/main">
            <a:r>
              <a:t>https://github.com/Tenma24/bank-marketing-response/blob/main/results/generalization_gap.csv</a:t>
            </a:r>
          </a:p>
          <a:p xmlns:a="http://schemas.openxmlformats.org/drawingml/2006/main">
            <a:r>
              <a:t>https://github.com/Tenma24/bank-marketing-response/blob/main/results/validation_subgroup_errors.csv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Araizhan Tazhimova | 40 seconds</a:t>
            </a:r>
          </a:p>
          <a:p xmlns:a="http://schemas.openxmlformats.org/drawingml/2006/main">
            <a:r>
              <a:t/>
            </a:r>
          </a:p>
          <a:p xmlns:a="http://schemas.openxmlformats.org/drawingml/2006/main">
            <a:r>
              <a:t>Our conclusion is that the lecture models improve positive-class F1 over a majority baseline without using call duration. Decision Tree and Linear SVM are very close, so we retain both as plausible candidates. This result remains limited to historical data and a grouped random evaluation. For the final stage, we plan to check temporal stability and feature availability, investigate decision thresholds using development data, and freeze the specification before evaluating the reserved test. The repository contains the full notebook, data documentation and all reported results. Thank you. We are ready for questions.</a:t>
            </a:r>
          </a:p>
          <a:p xmlns:a="http://schemas.openxmlformats.org/drawingml/2006/main">
            <a:r>
              <a:t/>
            </a:r>
          </a:p>
          <a:p xmlns:a="http://schemas.openxmlformats.org/drawingml/2006/main">
            <a:r>
              <a:t>Sources:</a:t>
            </a:r>
          </a:p>
          <a:p xmlns:a="http://schemas.openxmlformats.org/drawingml/2006/main">
            <a:r>
              <a:t>https://github.com/Tenma24/bank-marketing-response/blob/main/docs/FINAL_STAGE_PLAN.md</a:t>
            </a:r>
          </a:p>
          <a:p xmlns:a="http://schemas.openxmlformats.org/drawingml/2006/main">
            <a:r>
              <a:t>https://github.com/Tenma24/bank-marketing-response/blob/main/results/summary.json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39ce3b9c3c41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bdea0e3bc2499f" /><Relationship Type="http://schemas.openxmlformats.org/officeDocument/2006/relationships/slideLayout" Target="/ppt/slideLayouts/slideLayout1.xml" Id="Ra15fa7e509e746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5fa7e509e746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b11c51ef374313" /><Relationship Type="http://schemas.openxmlformats.org/officeDocument/2006/relationships/notesSlide" Target="/ppt/notesSlides/notesSlide1.xml" Id="R5326a093349349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12eae47f0d4553" /><Relationship Type="http://schemas.openxmlformats.org/officeDocument/2006/relationships/chart" Target="/ppt/slides/charts/chart1.xml" Id="R4947fd3c66ac49d9" /><Relationship Type="http://schemas.openxmlformats.org/officeDocument/2006/relationships/notesSlide" Target="/ppt/notesSlides/notesSlide2.xml" Id="R416adfad4b9749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eb576cbc7c44b6" /><Relationship Type="http://schemas.openxmlformats.org/officeDocument/2006/relationships/chart" Target="/ppt/slides/charts/chart2.xml" Id="Re301ce96726b491b" /><Relationship Type="http://schemas.openxmlformats.org/officeDocument/2006/relationships/chart" Target="/ppt/slides/charts/chart3.xml" Id="R9f2b6c5143ac4cea" /><Relationship Type="http://schemas.openxmlformats.org/officeDocument/2006/relationships/notesSlide" Target="/ppt/notesSlides/notesSlide3.xml" Id="Rb805f8cbe1d84d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3b74d025f9459d" /><Relationship Type="http://schemas.openxmlformats.org/officeDocument/2006/relationships/chart" Target="/ppt/slides/charts/chart4.xml" Id="R59ed53e149504cdd" /><Relationship Type="http://schemas.openxmlformats.org/officeDocument/2006/relationships/chart" Target="/ppt/slides/charts/chart5.xml" Id="Rb52dfe2d2baa48f6" /><Relationship Type="http://schemas.openxmlformats.org/officeDocument/2006/relationships/notesSlide" Target="/ppt/notesSlides/notesSlide4.xml" Id="Rcdb3354f2dff4c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ba9b148bf042b0" /><Relationship Type="http://schemas.openxmlformats.org/officeDocument/2006/relationships/notesSlide" Target="/ppt/notesSlides/notesSlide5.xml" Id="R42942ddb81044a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1f215cac5343e3" /><Relationship Type="http://schemas.openxmlformats.org/officeDocument/2006/relationships/notesSlide" Target="/ppt/notesSlides/notesSlide6.xml" Id="Ra2b3a6dd06854f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c64199e41d4d1d" /><Relationship Type="http://schemas.openxmlformats.org/officeDocument/2006/relationships/notesSlide" Target="/ppt/notesSlides/notesSlide7.xml" Id="R9339ba21652f4b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38ee0c1ef747b3" /><Relationship Type="http://schemas.openxmlformats.org/officeDocument/2006/relationships/notesSlide" Target="/ppt/notesSlides/notesSlide8.xml" Id="R9e855c67cd8742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ec898e5984d4f33" /><Relationship Type="http://schemas.openxmlformats.org/officeDocument/2006/relationships/notesSlide" Target="/ppt/notesSlides/notesSlide9.xml" Id="R9afcb85dae3a41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7fc399dcf484b13" /><Relationship Type="http://schemas.openxmlformats.org/officeDocument/2006/relationships/notesSlide" Target="/ppt/notesSlides/notesSlide10.xml" Id="R7dda842e8b6b4d0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42735"/>
                </a:solidFill>
                <a:latin typeface="Arial"/>
                <a:ea typeface="Arial"/>
                <a:cs typeface="Arial"/>
              </a:rPr>
              <a:t>Training target distribution</a:t>
            </a:r>
          </a:p>
        </c:rich>
      </c:tx>
      <c:overlay val="0"/>
      <c:txPr>
        <a:bodyPr xmlns:a="http://schemas.openxmlformats.org/drawingml/2006/main" anchorCtr="1"/>
        <a:lstStyle xmlns:a="http://schemas.openxmlformats.org/drawingml/2006/main"/>
        <a:p xmlns:a="http://schemas.openxmlformats.org/drawingml/2006/main">
          <a:pPr>
            <a:defRPr sz="1800" b="1">
              <a:solidFill>
                <a:srgbClr val="142735"/>
              </a:solidFill>
              <a:latin typeface="Arial"/>
              <a:ea typeface="Arial"/>
              <a:cs typeface="Arial"/>
            </a:defRPr>
          </a:pPr>
        </a:p>
      </c:txPr>
    </c:title>
    <c:plotArea>
      <c:barChart>
        <c:barDir val="col"/>
        <c:grouping val="clustered"/>
        <c:varyColors val="0"/>
        <c:ser>
          <c:idx val="0"/>
          <c:order val="0"/>
          <c:tx>
            <c:v>Records</c:v>
          </c:tx>
          <c:spPr>
            <a:solidFill xmlns:a="http://schemas.openxmlformats.org/drawingml/2006/main">
              <a:srgbClr val="147D92"/>
            </a:solidFill>
          </c:spPr>
          <c:dPt>
            <c:idx val="0"/>
            <c:invertIfNegative val="0"/>
            <c:spPr>
              <a:solidFill xmlns:a="http://schemas.openxmlformats.org/drawingml/2006/main">
                <a:srgbClr val="64748B"/>
              </a:solidFill>
            </c:spPr>
          </c:dPt>
          <c:dPt>
            <c:idx val="1"/>
            <c:invertIfNegative val="0"/>
            <c:spPr>
              <a:solidFill xmlns:a="http://schemas.openxmlformats.org/drawingml/2006/main">
                <a:srgbClr val="147D92"/>
              </a:solidFill>
            </c:spPr>
          </c:dPt>
          <c:cat>
            <c:strRef>
              <c:f>'Chart Data'!$A$2:$A$3</c:f>
              <c:strCache>
                <c:ptCount val="2"/>
                <c:pt idx="0">
                  <c:v>No deposit</c:v>
                </c:pt>
                <c:pt idx="1">
                  <c:v>Deposit</c:v>
                </c:pt>
              </c:strCache>
            </c:strRef>
          </c:cat>
          <c:val>
            <c:numRef>
              <c:f>'Chart Data'!$B$2:$B$3</c:f>
              <c:numCache>
                <c:formatCode>#,##0</c:formatCode>
                <c:ptCount val="2"/>
                <c:pt idx="0">
                  <c:v>21929</c:v>
                </c:pt>
                <c:pt idx="1">
                  <c:v>2784</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42735"/>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4E9"/>
            </a:solidFill>
          </a:ln>
        </c:spPr>
        <c:txPr>
          <a:bodyPr xmlns:a="http://schemas.openxmlformats.org/drawingml/2006/main" anchorCtr="1"/>
          <a:lstStyle xmlns:a="http://schemas.openxmlformats.org/drawingml/2006/main"/>
          <a:p xmlns:a="http://schemas.openxmlformats.org/drawingml/2006/main">
            <a:pPr>
              <a:defRPr sz="1350">
                <a:solidFill>
                  <a:srgbClr val="142735"/>
                </a:solidFill>
                <a:latin typeface="Arial"/>
                <a:ea typeface="Arial"/>
                <a:cs typeface="Arial"/>
              </a:defRPr>
            </a:pPr>
          </a:p>
        </c:txPr>
        <c:crossAx val="48672768"/>
      </c:catAx>
      <c:valAx>
        <c:axId val="48672768"/>
        <c:scaling>
          <c:orientation val="minMax"/>
          <c:max val="26000"/>
          <c:min val="0"/>
        </c:scaling>
        <c:delete val="0"/>
        <c:axPos val="l"/>
        <c:majorGridlines>
          <c:spPr>
            <a:ln xmlns:a="http://schemas.openxmlformats.org/drawingml/2006/main" w="7620">
              <a:solidFill>
                <a:srgbClr val="DCE4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735"/>
                </a:solidFill>
                <a:latin typeface="Arial"/>
                <a:ea typeface="Arial"/>
                <a:cs typeface="Arial"/>
              </a:defRPr>
            </a:pPr>
          </a:p>
        </c:txPr>
        <c:crossAx val="48650112"/>
        <c:crossBetween val="between"/>
        <c:majorUnit val="50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42735"/>
                </a:solidFill>
                <a:latin typeface="Arial"/>
                <a:ea typeface="Arial"/>
                <a:cs typeface="Arial"/>
              </a:rPr>
              <a:t>Age distribution within each class</a:t>
            </a:r>
          </a:p>
        </c:rich>
      </c:tx>
      <c:overlay val="0"/>
      <c:txPr>
        <a:bodyPr xmlns:a="http://schemas.openxmlformats.org/drawingml/2006/main" anchorCtr="1"/>
        <a:lstStyle xmlns:a="http://schemas.openxmlformats.org/drawingml/2006/main"/>
        <a:p xmlns:a="http://schemas.openxmlformats.org/drawingml/2006/main">
          <a:pPr>
            <a:defRPr sz="1800" b="1">
              <a:solidFill>
                <a:srgbClr val="142735"/>
              </a:solidFill>
              <a:latin typeface="Arial"/>
              <a:ea typeface="Arial"/>
              <a:cs typeface="Arial"/>
            </a:defRPr>
          </a:pPr>
        </a:p>
      </c:txPr>
    </c:title>
    <c:plotArea>
      <c:barChart>
        <c:barDir val="col"/>
        <c:grouping val="clustered"/>
        <c:varyColors val="0"/>
        <c:ser>
          <c:idx val="0"/>
          <c:order val="0"/>
          <c:tx>
            <c:v>No deposit</c:v>
          </c:tx>
          <c:spPr>
            <a:solidFill xmlns:a="http://schemas.openxmlformats.org/drawingml/2006/main">
              <a:srgbClr val="64748B"/>
            </a:solidFill>
          </c:spPr>
          <c:cat>
            <c:strRef>
              <c:f>'Chart Data'!$A$2:$A$10</c:f>
              <c:strCache>
                <c:ptCount val="9"/>
                <c:pt idx="0">
                  <c:v>15-24</c:v>
                </c:pt>
                <c:pt idx="1">
                  <c:v>25-34</c:v>
                </c:pt>
                <c:pt idx="2">
                  <c:v>35-44</c:v>
                </c:pt>
                <c:pt idx="3">
                  <c:v>45-54</c:v>
                </c:pt>
                <c:pt idx="4">
                  <c:v>55-64</c:v>
                </c:pt>
                <c:pt idx="5">
                  <c:v>65-74</c:v>
                </c:pt>
                <c:pt idx="6">
                  <c:v>75-84</c:v>
                </c:pt>
                <c:pt idx="7">
                  <c:v>85-94</c:v>
                </c:pt>
                <c:pt idx="8">
                  <c:v>95+</c:v>
                </c:pt>
              </c:strCache>
            </c:strRef>
          </c:cat>
          <c:val>
            <c:numRef>
              <c:f>'Chart Data'!$B$2:$B$10</c:f>
              <c:numCache>
                <c:formatCode>0.0%</c:formatCode>
                <c:ptCount val="9"/>
                <c:pt idx="0">
                  <c:v>0.0224816453099</c:v>
                </c:pt>
                <c:pt idx="1">
                  <c:v>0.328241141867</c:v>
                </c:pt>
                <c:pt idx="2">
                  <c:v>0.339048748233</c:v>
                </c:pt>
                <c:pt idx="3">
                  <c:v>0.215650508459</c:v>
                </c:pt>
                <c:pt idx="4">
                  <c:v>0.0854120114916</c:v>
                </c:pt>
                <c:pt idx="5">
                  <c:v>0.00560901089881</c:v>
                </c:pt>
                <c:pt idx="6">
                  <c:v>0.00291850973597</c:v>
                </c:pt>
                <c:pt idx="7">
                  <c:v>0.000592822290118</c:v>
                </c:pt>
                <c:pt idx="8">
                  <c:v>4.56017146245E-05</c:v>
                </c:pt>
              </c:numCache>
            </c:numRef>
          </c:val>
        </c:ser>
        <c:ser>
          <c:idx val="1"/>
          <c:order val="1"/>
          <c:tx>
            <c:v>Deposit</c:v>
          </c:tx>
          <c:spPr>
            <a:solidFill xmlns:a="http://schemas.openxmlformats.org/drawingml/2006/main">
              <a:srgbClr val="147D92"/>
            </a:solidFill>
          </c:spPr>
          <c:cat>
            <c:strRef>
              <c:f>'Chart Data'!$C$2:$C$10</c:f>
              <c:strCache>
                <c:ptCount val="9"/>
                <c:pt idx="0">
                  <c:v>15-24</c:v>
                </c:pt>
                <c:pt idx="1">
                  <c:v>25-34</c:v>
                </c:pt>
                <c:pt idx="2">
                  <c:v>35-44</c:v>
                </c:pt>
                <c:pt idx="3">
                  <c:v>45-54</c:v>
                </c:pt>
                <c:pt idx="4">
                  <c:v>55-64</c:v>
                </c:pt>
                <c:pt idx="5">
                  <c:v>65-74</c:v>
                </c:pt>
                <c:pt idx="6">
                  <c:v>75-84</c:v>
                </c:pt>
                <c:pt idx="7">
                  <c:v>85-94</c:v>
                </c:pt>
                <c:pt idx="8">
                  <c:v>95+</c:v>
                </c:pt>
              </c:strCache>
            </c:strRef>
          </c:cat>
          <c:val>
            <c:numRef>
              <c:f>'Chart Data'!$D$2:$D$10</c:f>
              <c:numCache>
                <c:formatCode>0.0%</c:formatCode>
                <c:ptCount val="9"/>
                <c:pt idx="0">
                  <c:v>0.0531609195402</c:v>
                </c:pt>
                <c:pt idx="1">
                  <c:v>0.357399425287</c:v>
                </c:pt>
                <c:pt idx="2">
                  <c:v>0.253951149425</c:v>
                </c:pt>
                <c:pt idx="3">
                  <c:v>0.164152298851</c:v>
                </c:pt>
                <c:pt idx="4">
                  <c:v>0.101652298851</c:v>
                </c:pt>
                <c:pt idx="5">
                  <c:v>0.0369971264368</c:v>
                </c:pt>
                <c:pt idx="6">
                  <c:v>0.0251436781609</c:v>
                </c:pt>
                <c:pt idx="7">
                  <c:v>0.00718390804598</c:v>
                </c:pt>
                <c:pt idx="8">
                  <c:v>0.000359195402299</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42735"/>
                  </a:solidFill>
                  <a:latin typeface="Arial"/>
                  <a:ea typeface="Arial"/>
                  <a:cs typeface="Arial"/>
                </a:defRPr>
              </a:pPr>
            </a:p>
          </c:txPr>
          <c:dLblPos val="outEnd"/>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4E9"/>
            </a:solidFill>
          </a:ln>
        </c:spPr>
        <c:txPr>
          <a:bodyPr xmlns:a="http://schemas.openxmlformats.org/drawingml/2006/main" anchorCtr="1"/>
          <a:lstStyle xmlns:a="http://schemas.openxmlformats.org/drawingml/2006/main"/>
          <a:p xmlns:a="http://schemas.openxmlformats.org/drawingml/2006/main">
            <a:pPr>
              <a:defRPr sz="1350">
                <a:solidFill>
                  <a:srgbClr val="142735"/>
                </a:solidFill>
                <a:latin typeface="Arial"/>
                <a:ea typeface="Arial"/>
                <a:cs typeface="Arial"/>
              </a:defRPr>
            </a:pPr>
          </a:p>
        </c:txPr>
        <c:crossAx val="48672768"/>
      </c:catAx>
      <c:valAx>
        <c:axId val="48672768"/>
        <c:scaling>
          <c:orientation val="minMax"/>
          <c:max val="0.5"/>
          <c:min val="0"/>
        </c:scaling>
        <c:delete val="0"/>
        <c:axPos val="l"/>
        <c:majorGridlines>
          <c:spPr>
            <a:ln xmlns:a="http://schemas.openxmlformats.org/drawingml/2006/main" w="7620">
              <a:solidFill>
                <a:srgbClr val="DCE4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735"/>
                </a:solidFill>
                <a:latin typeface="Arial"/>
                <a:ea typeface="Arial"/>
                <a:cs typeface="Arial"/>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73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42735"/>
                </a:solidFill>
                <a:latin typeface="Arial"/>
                <a:ea typeface="Arial"/>
                <a:cs typeface="Arial"/>
              </a:rPr>
              <a:t>Subscription rate by occupation</a:t>
            </a:r>
          </a:p>
        </c:rich>
      </c:tx>
      <c:overlay val="0"/>
      <c:txPr>
        <a:bodyPr xmlns:a="http://schemas.openxmlformats.org/drawingml/2006/main" anchorCtr="1"/>
        <a:lstStyle xmlns:a="http://schemas.openxmlformats.org/drawingml/2006/main"/>
        <a:p xmlns:a="http://schemas.openxmlformats.org/drawingml/2006/main">
          <a:pPr>
            <a:defRPr sz="1800" b="1">
              <a:solidFill>
                <a:srgbClr val="142735"/>
              </a:solidFill>
              <a:latin typeface="Arial"/>
              <a:ea typeface="Arial"/>
              <a:cs typeface="Arial"/>
            </a:defRPr>
          </a:pPr>
        </a:p>
      </c:txPr>
    </c:title>
    <c:plotArea>
      <c:barChart>
        <c:barDir val="bar"/>
        <c:grouping val="clustered"/>
        <c:varyColors val="0"/>
        <c:ser>
          <c:idx val="0"/>
          <c:order val="0"/>
          <c:tx>
            <c:v>Subscription rate</c:v>
          </c:tx>
          <c:spPr>
            <a:solidFill xmlns:a="http://schemas.openxmlformats.org/drawingml/2006/main">
              <a:srgbClr val="147D92"/>
            </a:solidFill>
          </c:spPr>
          <c:cat>
            <c:strRef>
              <c:f>'Chart Data'!$A$2:$A$13</c:f>
              <c:strCache>
                <c:ptCount val="12"/>
                <c:pt idx="0">
                  <c:v>student (519)</c:v>
                </c:pt>
                <c:pt idx="1">
                  <c:v>retired (1,036)</c:v>
                </c:pt>
                <c:pt idx="2">
                  <c:v>unemployed (613)</c:v>
                </c:pt>
                <c:pt idx="3">
                  <c:v>admin. (6,219)</c:v>
                </c:pt>
                <c:pt idx="4">
                  <c:v>management (1,776)</c:v>
                </c:pt>
                <c:pt idx="5">
                  <c:v>unknown (194)</c:v>
                </c:pt>
                <c:pt idx="6">
                  <c:v>technician (4,062)</c:v>
                </c:pt>
                <c:pt idx="7">
                  <c:v>housemaid (644)</c:v>
                </c:pt>
                <c:pt idx="8">
                  <c:v>self-employed (843)</c:v>
                </c:pt>
                <c:pt idx="9">
                  <c:v>entrepreneur (902)</c:v>
                </c:pt>
                <c:pt idx="10">
                  <c:v>services (2,395)</c:v>
                </c:pt>
                <c:pt idx="11">
                  <c:v>blue-collar (5,510)</c:v>
                </c:pt>
              </c:strCache>
            </c:strRef>
          </c:cat>
          <c:val>
            <c:numRef>
              <c:f>'Chart Data'!$B$2:$B$13</c:f>
              <c:numCache>
                <c:formatCode>0.0%</c:formatCode>
                <c:ptCount val="12"/>
                <c:pt idx="0">
                  <c:v>0.317919075145</c:v>
                </c:pt>
                <c:pt idx="1">
                  <c:v>0.250965250965</c:v>
                </c:pt>
                <c:pt idx="2">
                  <c:v>0.141924959217</c:v>
                </c:pt>
                <c:pt idx="3">
                  <c:v>0.13105000804</c:v>
                </c:pt>
                <c:pt idx="4">
                  <c:v>0.115427927928</c:v>
                </c:pt>
                <c:pt idx="5">
                  <c:v>0.10824742268</c:v>
                </c:pt>
                <c:pt idx="6">
                  <c:v>0.107336287543</c:v>
                </c:pt>
                <c:pt idx="7">
                  <c:v>0.105590062112</c:v>
                </c:pt>
                <c:pt idx="8">
                  <c:v>0.102016607355</c:v>
                </c:pt>
                <c:pt idx="9">
                  <c:v>0.0853658536585</c:v>
                </c:pt>
                <c:pt idx="10">
                  <c:v>0.0764091858038</c:v>
                </c:pt>
                <c:pt idx="11">
                  <c:v>0.0691470054446</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42735"/>
                  </a:solidFill>
                  <a:latin typeface="Arial"/>
                  <a:ea typeface="Arial"/>
                  <a:cs typeface="Arial"/>
                </a:defRPr>
              </a:pPr>
            </a:p>
          </c:txPr>
          <c:dLblPos val="outEnd"/>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4E9"/>
            </a:solidFill>
          </a:ln>
        </c:spPr>
        <c:txPr>
          <a:bodyPr xmlns:a="http://schemas.openxmlformats.org/drawingml/2006/main" anchorCtr="1"/>
          <a:lstStyle xmlns:a="http://schemas.openxmlformats.org/drawingml/2006/main"/>
          <a:p xmlns:a="http://schemas.openxmlformats.org/drawingml/2006/main">
            <a:pPr>
              <a:defRPr sz="1275">
                <a:solidFill>
                  <a:srgbClr val="142735"/>
                </a:solidFill>
                <a:latin typeface="Arial"/>
                <a:ea typeface="Arial"/>
                <a:cs typeface="Arial"/>
              </a:defRPr>
            </a:pPr>
          </a:p>
        </c:txPr>
        <c:crossAx val="48672768"/>
      </c:catAx>
      <c:valAx>
        <c:axId val="48672768"/>
        <c:scaling>
          <c:orientation val="minMax"/>
          <c:max val="0.4"/>
          <c:min val="0"/>
        </c:scaling>
        <c:delete val="0"/>
        <c:axPos val="b"/>
        <c:majorGridlines>
          <c:spPr>
            <a:ln xmlns:a="http://schemas.openxmlformats.org/drawingml/2006/main" w="7620">
              <a:solidFill>
                <a:srgbClr val="DCE4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735"/>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42735"/>
                </a:solidFill>
                <a:latin typeface="Arial"/>
                <a:ea typeface="Arial"/>
                <a:cs typeface="Arial"/>
              </a:rPr>
              <a:t>Previous campaign outcome</a:t>
            </a:r>
          </a:p>
        </c:rich>
      </c:tx>
      <c:overlay val="0"/>
      <c:txPr>
        <a:bodyPr xmlns:a="http://schemas.openxmlformats.org/drawingml/2006/main" anchorCtr="1"/>
        <a:lstStyle xmlns:a="http://schemas.openxmlformats.org/drawingml/2006/main"/>
        <a:p xmlns:a="http://schemas.openxmlformats.org/drawingml/2006/main">
          <a:pPr>
            <a:defRPr sz="1800" b="1">
              <a:solidFill>
                <a:srgbClr val="142735"/>
              </a:solidFill>
              <a:latin typeface="Arial"/>
              <a:ea typeface="Arial"/>
              <a:cs typeface="Arial"/>
            </a:defRPr>
          </a:pPr>
        </a:p>
      </c:txPr>
    </c:title>
    <c:plotArea>
      <c:barChart>
        <c:barDir val="col"/>
        <c:grouping val="clustered"/>
        <c:varyColors val="0"/>
        <c:ser>
          <c:idx val="0"/>
          <c:order val="0"/>
          <c:tx>
            <c:v>Subscription rate</c:v>
          </c:tx>
          <c:spPr>
            <a:solidFill xmlns:a="http://schemas.openxmlformats.org/drawingml/2006/main">
              <a:srgbClr val="147D92"/>
            </a:solidFill>
          </c:spPr>
          <c:cat>
            <c:strRef>
              <c:f>'Chart Data'!$A$2:$A$4</c:f>
              <c:strCache>
                <c:ptCount val="3"/>
                <c:pt idx="0">
                  <c:v>nonexistent
(n=21,287)</c:v>
                </c:pt>
                <c:pt idx="1">
                  <c:v>failure
(n=2,594)</c:v>
                </c:pt>
                <c:pt idx="2">
                  <c:v>success
(n=832)</c:v>
                </c:pt>
              </c:strCache>
            </c:strRef>
          </c:cat>
          <c:val>
            <c:numRef>
              <c:f>'Chart Data'!$B$2:$B$4</c:f>
              <c:numCache>
                <c:formatCode>0.0%</c:formatCode>
                <c:ptCount val="3"/>
                <c:pt idx="0">
                  <c:v>0.0885516982196</c:v>
                </c:pt>
                <c:pt idx="1">
                  <c:v>0.13801079414</c:v>
                </c:pt>
                <c:pt idx="2">
                  <c:v>0.650240384615</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42735"/>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4E9"/>
            </a:solidFill>
          </a:ln>
        </c:spPr>
        <c:txPr>
          <a:bodyPr xmlns:a="http://schemas.openxmlformats.org/drawingml/2006/main" anchorCtr="1"/>
          <a:lstStyle xmlns:a="http://schemas.openxmlformats.org/drawingml/2006/main"/>
          <a:p xmlns:a="http://schemas.openxmlformats.org/drawingml/2006/main">
            <a:pPr>
              <a:defRPr sz="1350">
                <a:solidFill>
                  <a:srgbClr val="142735"/>
                </a:solidFill>
                <a:latin typeface="Arial"/>
                <a:ea typeface="Arial"/>
                <a:cs typeface="Arial"/>
              </a:defRPr>
            </a:pPr>
          </a:p>
        </c:txPr>
        <c:crossAx val="48672768"/>
      </c:catAx>
      <c:valAx>
        <c:axId val="48672768"/>
        <c:scaling>
          <c:orientation val="minMax"/>
          <c:max val="0.8"/>
          <c:min val="0"/>
        </c:scaling>
        <c:delete val="0"/>
        <c:axPos val="l"/>
        <c:majorGridlines>
          <c:spPr>
            <a:ln xmlns:a="http://schemas.openxmlformats.org/drawingml/2006/main" w="7620">
              <a:solidFill>
                <a:srgbClr val="DCE4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735"/>
                </a:solidFill>
                <a:latin typeface="Arial"/>
                <a:ea typeface="Arial"/>
                <a:cs typeface="Arial"/>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42735"/>
                </a:solidFill>
                <a:latin typeface="Arial"/>
                <a:ea typeface="Arial"/>
                <a:cs typeface="Arial"/>
              </a:rPr>
              <a:t>Recorded campaign contact count</a:t>
            </a:r>
          </a:p>
        </c:rich>
      </c:tx>
      <c:overlay val="0"/>
      <c:txPr>
        <a:bodyPr xmlns:a="http://schemas.openxmlformats.org/drawingml/2006/main" anchorCtr="1"/>
        <a:lstStyle xmlns:a="http://schemas.openxmlformats.org/drawingml/2006/main"/>
        <a:p xmlns:a="http://schemas.openxmlformats.org/drawingml/2006/main">
          <a:pPr>
            <a:defRPr sz="1800" b="1">
              <a:solidFill>
                <a:srgbClr val="142735"/>
              </a:solidFill>
              <a:latin typeface="Arial"/>
              <a:ea typeface="Arial"/>
              <a:cs typeface="Arial"/>
            </a:defRPr>
          </a:pPr>
        </a:p>
      </c:txPr>
    </c:title>
    <c:plotArea>
      <c:barChart>
        <c:barDir val="col"/>
        <c:grouping val="clustered"/>
        <c:varyColors val="0"/>
        <c:ser>
          <c:idx val="0"/>
          <c:order val="0"/>
          <c:tx>
            <c:v>Subscription rate</c:v>
          </c:tx>
          <c:spPr>
            <a:solidFill xmlns:a="http://schemas.openxmlformats.org/drawingml/2006/main">
              <a:srgbClr val="D97B47"/>
            </a:solidFill>
          </c:spPr>
          <c:cat>
            <c:strRef>
              <c:f>'Chart Data'!$A$2:$A$6</c:f>
              <c:strCache>
                <c:ptCount val="5"/>
                <c:pt idx="0">
                  <c:v>1
(n=10,669)</c:v>
                </c:pt>
                <c:pt idx="1">
                  <c:v>2
(n=6,314)</c:v>
                </c:pt>
                <c:pt idx="2">
                  <c:v>3
(n=3,187)</c:v>
                </c:pt>
                <c:pt idx="3">
                  <c:v>4–5
(n=2,542)</c:v>
                </c:pt>
                <c:pt idx="4">
                  <c:v>6+
(n=2,001)</c:v>
                </c:pt>
              </c:strCache>
            </c:strRef>
          </c:cat>
          <c:val>
            <c:numRef>
              <c:f>'Chart Data'!$B$2:$B$6</c:f>
              <c:numCache>
                <c:formatCode>0.0%</c:formatCode>
                <c:ptCount val="5"/>
                <c:pt idx="0">
                  <c:v>0.129346705408</c:v>
                </c:pt>
                <c:pt idx="1">
                  <c:v>0.114190687361</c:v>
                </c:pt>
                <c:pt idx="2">
                  <c:v>0.111076247254</c:v>
                </c:pt>
                <c:pt idx="3">
                  <c:v>0.0853658536585</c:v>
                </c:pt>
                <c:pt idx="4">
                  <c:v>0.055972013993</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42735"/>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4E9"/>
            </a:solidFill>
          </a:ln>
        </c:spPr>
        <c:txPr>
          <a:bodyPr xmlns:a="http://schemas.openxmlformats.org/drawingml/2006/main" anchorCtr="1"/>
          <a:lstStyle xmlns:a="http://schemas.openxmlformats.org/drawingml/2006/main"/>
          <a:p xmlns:a="http://schemas.openxmlformats.org/drawingml/2006/main">
            <a:pPr>
              <a:defRPr sz="1350">
                <a:solidFill>
                  <a:srgbClr val="142735"/>
                </a:solidFill>
                <a:latin typeface="Arial"/>
                <a:ea typeface="Arial"/>
                <a:cs typeface="Arial"/>
              </a:defRPr>
            </a:pPr>
          </a:p>
        </c:txPr>
        <c:crossAx val="48672768"/>
      </c:catAx>
      <c:valAx>
        <c:axId val="48672768"/>
        <c:scaling>
          <c:orientation val="minMax"/>
          <c:max val="0.18"/>
          <c:min val="0"/>
        </c:scaling>
        <c:delete val="0"/>
        <c:axPos val="l"/>
        <c:majorGridlines>
          <c:spPr>
            <a:ln xmlns:a="http://schemas.openxmlformats.org/drawingml/2006/main" w="7620">
              <a:solidFill>
                <a:srgbClr val="DCE4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735"/>
                </a:solidFill>
                <a:latin typeface="Arial"/>
                <a:ea typeface="Arial"/>
                <a:cs typeface="Arial"/>
              </a:defRPr>
            </a:pPr>
          </a:p>
        </c:txPr>
        <c:crossAx val="48650112"/>
        <c:crossBetween val="between"/>
        <c:majorUnit val="0.0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7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C25678-B508-482D-8EE4-25EAD5F2BC40}"/>
              </a:ext>
            </a:extLst>
          </p:cNvPr>
          <p:cNvSpPr>
            <a:spLocks xmlns:a="http://schemas.openxmlformats.org/drawingml/2006/main" noGrp="1"/>
          </p:cNvSpPr>
          <p:nvPr/>
        </p:nvSpPr>
        <p:spPr>
          <a:xfrm xmlns:a="http://schemas.openxmlformats.org/drawingml/2006/main">
            <a:off x="609600" y="7429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3C6CF"/>
                </a:solidFill>
                <a:latin typeface="Arial"/>
                <a:ea typeface="Arial"/>
                <a:cs typeface="Arial"/>
              </a:defRPr>
            </a:pPr>
            <a:r>
              <a:rPr sz="1725" b="1">
                <a:solidFill>
                  <a:srgbClr val="83C6CF"/>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83C60845-82F4-430E-B5B9-8315B408BF7B}"/>
              </a:ext>
            </a:extLst>
          </p:cNvPr>
          <p:cNvSpPr>
            <a:spLocks xmlns:a="http://schemas.openxmlformats.org/drawingml/2006/main" noGrp="1"/>
          </p:cNvSpPr>
          <p:nvPr/>
        </p:nvSpPr>
        <p:spPr>
          <a:xfrm xmlns:a="http://schemas.openxmlformats.org/drawingml/2006/main">
            <a:off x="609600" y="14954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FFFFFF"/>
                </a:solidFill>
                <a:latin typeface="Arial"/>
                <a:ea typeface="Arial"/>
                <a:cs typeface="Arial"/>
              </a:defRPr>
            </a:pPr>
            <a:r>
              <a:rPr sz="4950" b="1">
                <a:solidFill>
                  <a:srgbClr val="FFFFFF"/>
                </a:solidFill>
                <a:latin typeface="Arial"/>
                <a:ea typeface="Arial"/>
                <a:cs typeface="Arial"/>
              </a:rPr>
              <a:t>Bank Marketing</a:t>
            </a:r>
          </a:p>
          <a:p xmlns:a="http://schemas.openxmlformats.org/drawingml/2006/main">
            <a:pPr algn="l">
              <a:defRPr sz="4950" b="1">
                <a:solidFill>
                  <a:srgbClr val="FFFFFF"/>
                </a:solidFill>
                <a:latin typeface="Arial"/>
                <a:ea typeface="Arial"/>
                <a:cs typeface="Arial"/>
              </a:defRPr>
            </a:pPr>
            <a:r>
              <a:rPr sz="4950" b="1">
                <a:solidFill>
                  <a:srgbClr val="FFFFFF"/>
                </a:solidFill>
                <a:latin typeface="Arial"/>
                <a:ea typeface="Arial"/>
                <a:cs typeface="Arial"/>
              </a:rPr>
              <a:t>Response</a:t>
            </a:r>
          </a:p>
        </p:txBody>
      </p:sp>
      <p:sp>
        <p:nvSpPr>
          <p:cNvPr id="3" name="">
            <a:extLst xmlns:a="http://schemas.openxmlformats.org/drawingml/2006/main">
              <a:ext uri="{FF2B5EF4-FFF2-40B4-BE49-F238E27FC236}">
                <a16:creationId xmlns:a16="http://schemas.microsoft.com/office/drawing/2014/main" id="{41DD9813-F0DD-4908-AAEF-523E10EDAB4A}"/>
              </a:ext>
            </a:extLst>
          </p:cNvPr>
          <p:cNvSpPr>
            <a:spLocks xmlns:a="http://schemas.openxmlformats.org/drawingml/2006/main" noGrp="1"/>
          </p:cNvSpPr>
          <p:nvPr/>
        </p:nvSpPr>
        <p:spPr>
          <a:xfrm xmlns:a="http://schemas.openxmlformats.org/drawingml/2006/main">
            <a:off x="609600" y="33813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Can information available before a call predict</a:t>
            </a:r>
          </a:p>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whether a client will open a term deposit?</a:t>
            </a:r>
          </a:p>
        </p:txBody>
      </p:sp>
      <p:sp>
        <p:nvSpPr>
          <p:cNvPr id="4" name="">
            <a:extLst xmlns:a="http://schemas.openxmlformats.org/drawingml/2006/main">
              <a:ext uri="{FF2B5EF4-FFF2-40B4-BE49-F238E27FC236}">
                <a16:creationId xmlns:a16="http://schemas.microsoft.com/office/drawing/2014/main" id="{84229DAD-01E6-4728-BDF0-33B1F1633DC1}"/>
              </a:ext>
            </a:extLst>
          </p:cNvPr>
          <p:cNvSpPr>
            <a:spLocks xmlns:a="http://schemas.openxmlformats.org/drawingml/2006/main" noGrp="1"/>
          </p:cNvSpPr>
          <p:nvPr/>
        </p:nvSpPr>
        <p:spPr>
          <a:xfrm xmlns:a="http://schemas.openxmlformats.org/drawingml/2006/main">
            <a:off x="609600" y="5048250"/>
            <a:ext cx="666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9D4DB"/>
                </a:solidFill>
                <a:latin typeface="Arial"/>
                <a:ea typeface="Arial"/>
                <a:cs typeface="Arial"/>
              </a:defRPr>
            </a:pPr>
            <a:r>
              <a:rPr sz="2025" b="0">
                <a:solidFill>
                  <a:srgbClr val="B9D4DB"/>
                </a:solidFill>
                <a:latin typeface="Arial"/>
                <a:ea typeface="Arial"/>
                <a:cs typeface="Arial"/>
              </a:rPr>
              <a:t>Nurlan Ramazan</a:t>
            </a:r>
          </a:p>
          <a:p xmlns:a="http://schemas.openxmlformats.org/drawingml/2006/main">
            <a:pPr algn="l">
              <a:defRPr sz="2025" b="0">
                <a:solidFill>
                  <a:srgbClr val="B9D4DB"/>
                </a:solidFill>
                <a:latin typeface="Arial"/>
                <a:ea typeface="Arial"/>
                <a:cs typeface="Arial"/>
              </a:defRPr>
            </a:pPr>
            <a:r>
              <a:rPr sz="2025" b="0">
                <a:solidFill>
                  <a:srgbClr val="B9D4DB"/>
                </a:solidFill>
                <a:latin typeface="Arial"/>
                <a:ea typeface="Arial"/>
                <a:cs typeface="Arial"/>
              </a:rPr>
              <a:t>Araizhan Tazhimova</a:t>
            </a:r>
          </a:p>
        </p:txBody>
      </p:sp>
      <p:sp>
        <p:nvSpPr>
          <p:cNvPr id="5" name="">
            <a:extLst xmlns:a="http://schemas.openxmlformats.org/drawingml/2006/main">
              <a:ext uri="{FF2B5EF4-FFF2-40B4-BE49-F238E27FC236}">
                <a16:creationId xmlns:a16="http://schemas.microsoft.com/office/drawing/2014/main" id="{17F1B2A3-91C5-40E7-B5EB-F1FA55702502}"/>
              </a:ext>
            </a:extLst>
          </p:cNvPr>
          <p:cNvSpPr>
            <a:spLocks xmlns:a="http://schemas.openxmlformats.org/drawingml/2006/main" noGrp="1"/>
          </p:cNvSpPr>
          <p:nvPr/>
        </p:nvSpPr>
        <p:spPr>
          <a:xfrm xmlns:a="http://schemas.openxmlformats.org/drawingml/2006/main">
            <a:off x="7810500" y="5086350"/>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B9D4DB"/>
                </a:solidFill>
                <a:latin typeface="Arial"/>
                <a:ea typeface="Arial"/>
                <a:cs typeface="Arial"/>
              </a:defRPr>
            </a:pPr>
            <a:r>
              <a:rPr sz="1725" b="0">
                <a:solidFill>
                  <a:srgbClr val="B9D4DB"/>
                </a:solidFill>
                <a:latin typeface="Arial"/>
                <a:ea typeface="Arial"/>
                <a:cs typeface="Arial"/>
              </a:rPr>
              <a:t>Machine Learning Algorithms</a:t>
            </a:r>
          </a:p>
          <a:p xmlns:a="http://schemas.openxmlformats.org/drawingml/2006/main">
            <a:pPr algn="r">
              <a:defRPr sz="1725" b="0">
                <a:solidFill>
                  <a:srgbClr val="B9D4DB"/>
                </a:solidFill>
                <a:latin typeface="Arial"/>
                <a:ea typeface="Arial"/>
                <a:cs typeface="Arial"/>
              </a:defRPr>
            </a:pPr>
            <a:r>
              <a:rPr sz="1725" b="0">
                <a:solidFill>
                  <a:srgbClr val="B9D4DB"/>
                </a:solidFill>
                <a:latin typeface="Arial"/>
                <a:ea typeface="Arial"/>
                <a:cs typeface="Arial"/>
              </a:rPr>
              <a:t>Midterm course project</a:t>
            </a:r>
          </a:p>
        </p:txBody>
      </p:sp>
    </p:spTree>
    <p:extLst>
      <p:ext uri="{BB962C8B-B14F-4D97-AF65-F5344CB8AC3E}">
        <p14:creationId xmlns:p14="http://schemas.microsoft.com/office/powerpoint/2010/main" val="15379220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AE420C-CB49-4DBF-8C9F-7A0C11C2672D}"/>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735"/>
                </a:solidFill>
                <a:latin typeface="Arial"/>
                <a:ea typeface="Arial"/>
                <a:cs typeface="Arial"/>
              </a:defRPr>
            </a:pPr>
            <a:r>
              <a:rPr sz="3300" b="1">
                <a:solidFill>
                  <a:srgbClr val="142735"/>
                </a:solidFill>
                <a:latin typeface="Arial"/>
                <a:ea typeface="Arial"/>
                <a:cs typeface="Arial"/>
              </a:rPr>
              <a:t>Dataset and target</a:t>
            </a:r>
          </a:p>
        </p:txBody>
      </p:sp>
      <p:sp>
        <p:nvSpPr>
          <p:cNvPr id="2" name="">
            <a:extLst xmlns:a="http://schemas.openxmlformats.org/drawingml/2006/main">
              <a:ext uri="{FF2B5EF4-FFF2-40B4-BE49-F238E27FC236}">
                <a16:creationId xmlns:a16="http://schemas.microsoft.com/office/drawing/2014/main" id="{DB4A025D-50CA-40DB-9B75-F3274966EEE4}"/>
              </a:ext>
            </a:extLst>
          </p:cNvPr>
          <p:cNvSpPr>
            <a:spLocks xmlns:a="http://schemas.openxmlformats.org/drawingml/2006/main" noGrp="1"/>
          </p:cNvSpPr>
          <p:nvPr/>
        </p:nvSpPr>
        <p:spPr>
          <a:xfrm xmlns:a="http://schemas.openxmlformats.org/drawingml/2006/main">
            <a:off x="609600" y="1143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748B"/>
                </a:solidFill>
                <a:latin typeface="Arial"/>
                <a:ea typeface="Arial"/>
                <a:cs typeface="Arial"/>
              </a:defRPr>
            </a:pPr>
            <a:r>
              <a:rPr sz="1725" b="0">
                <a:solidFill>
                  <a:srgbClr val="64748B"/>
                </a:solidFill>
                <a:latin typeface="Arial"/>
                <a:ea typeface="Arial"/>
                <a:cs typeface="Arial"/>
              </a:rPr>
              <a:t>UCI Bank Marketing, bank-additional-full.csv</a:t>
            </a:r>
          </a:p>
        </p:txBody>
      </p:sp>
      <p:sp>
        <p:nvSpPr>
          <p:cNvPr id="3" name="">
            <a:extLst xmlns:a="http://schemas.openxmlformats.org/drawingml/2006/main">
              <a:ext uri="{FF2B5EF4-FFF2-40B4-BE49-F238E27FC236}">
                <a16:creationId xmlns:a16="http://schemas.microsoft.com/office/drawing/2014/main" id="{D0B3D6D4-E8CF-49F8-8B87-8B77811B880C}"/>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4748B"/>
                </a:solidFill>
                <a:latin typeface="Arial"/>
                <a:ea typeface="Arial"/>
                <a:cs typeface="Arial"/>
              </a:defRPr>
            </a:pPr>
            <a:r>
              <a:rPr sz="1350" b="0">
                <a:solidFill>
                  <a:srgbClr val="64748B"/>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8B473894-E1ED-4BE7-8D82-EAE50A416CC6}"/>
              </a:ext>
            </a:extLst>
          </p:cNvPr>
          <p:cNvSpPr>
            <a:spLocks xmlns:a="http://schemas.openxmlformats.org/drawingml/2006/main" noGrp="1"/>
          </p:cNvSpPr>
          <p:nvPr/>
        </p:nvSpPr>
        <p:spPr>
          <a:xfrm xmlns:a="http://schemas.openxmlformats.org/drawingml/2006/main">
            <a:off x="609600" y="18478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147D92"/>
                </a:solidFill>
                <a:latin typeface="Arial"/>
                <a:ea typeface="Arial"/>
                <a:cs typeface="Arial"/>
              </a:defRPr>
            </a:pPr>
            <a:r>
              <a:rPr sz="4800" b="1">
                <a:solidFill>
                  <a:srgbClr val="147D92"/>
                </a:solidFill>
                <a:latin typeface="Arial"/>
                <a:ea typeface="Arial"/>
                <a:cs typeface="Arial"/>
              </a:rPr>
              <a:t>41,188</a:t>
            </a:r>
          </a:p>
        </p:txBody>
      </p:sp>
      <p:sp>
        <p:nvSpPr>
          <p:cNvPr id="5" name="">
            <a:extLst xmlns:a="http://schemas.openxmlformats.org/drawingml/2006/main">
              <a:ext uri="{FF2B5EF4-FFF2-40B4-BE49-F238E27FC236}">
                <a16:creationId xmlns:a16="http://schemas.microsoft.com/office/drawing/2014/main" id="{258A0CD7-2E2D-4B35-BB83-387466492CD9}"/>
              </a:ext>
            </a:extLst>
          </p:cNvPr>
          <p:cNvSpPr>
            <a:spLocks xmlns:a="http://schemas.openxmlformats.org/drawingml/2006/main" noGrp="1"/>
          </p:cNvSpPr>
          <p:nvPr/>
        </p:nvSpPr>
        <p:spPr>
          <a:xfrm xmlns:a="http://schemas.openxmlformats.org/drawingml/2006/main">
            <a:off x="609600" y="2724150"/>
            <a:ext cx="4333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735"/>
                </a:solidFill>
                <a:latin typeface="Arial"/>
                <a:ea typeface="Arial"/>
                <a:cs typeface="Arial"/>
              </a:defRPr>
            </a:pPr>
            <a:r>
              <a:rPr sz="2175" b="0">
                <a:solidFill>
                  <a:srgbClr val="142735"/>
                </a:solidFill>
                <a:latin typeface="Arial"/>
                <a:ea typeface="Arial"/>
                <a:cs typeface="Arial"/>
              </a:rPr>
              <a:t>historical campaign records</a:t>
            </a:r>
          </a:p>
          <a:p xmlns:a="http://schemas.openxmlformats.org/drawingml/2006/main">
            <a:pPr algn="l">
              <a:defRPr sz="2175" b="0">
                <a:solidFill>
                  <a:srgbClr val="142735"/>
                </a:solidFill>
                <a:latin typeface="Arial"/>
                <a:ea typeface="Arial"/>
                <a:cs typeface="Arial"/>
              </a:defRPr>
            </a:pPr>
            <a:r>
              <a:rPr sz="2175" b="0">
                <a:solidFill>
                  <a:srgbClr val="142735"/>
                </a:solidFill>
                <a:latin typeface="Arial"/>
                <a:ea typeface="Arial"/>
                <a:cs typeface="Arial"/>
              </a:rPr>
              <a:t>20 original inputs and target y</a:t>
            </a:r>
          </a:p>
        </p:txBody>
      </p:sp>
      <p:sp>
        <p:nvSpPr>
          <p:cNvPr id="6" name="">
            <a:extLst xmlns:a="http://schemas.openxmlformats.org/drawingml/2006/main">
              <a:ext uri="{FF2B5EF4-FFF2-40B4-BE49-F238E27FC236}">
                <a16:creationId xmlns:a16="http://schemas.microsoft.com/office/drawing/2014/main" id="{60A7E45C-A235-4C5F-BA89-D89C0A94FD08}"/>
              </a:ext>
            </a:extLst>
          </p:cNvPr>
          <p:cNvSpPr>
            <a:spLocks xmlns:a="http://schemas.openxmlformats.org/drawingml/2006/main" noGrp="1"/>
          </p:cNvSpPr>
          <p:nvPr/>
        </p:nvSpPr>
        <p:spPr>
          <a:xfrm xmlns:a="http://schemas.openxmlformats.org/drawingml/2006/main">
            <a:off x="609600" y="3886200"/>
            <a:ext cx="4476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4748B"/>
                </a:solidFill>
                <a:latin typeface="Arial"/>
                <a:ea typeface="Arial"/>
                <a:cs typeface="Arial"/>
              </a:defRPr>
            </a:pPr>
            <a:r>
              <a:rPr sz="1875" b="0">
                <a:solidFill>
                  <a:srgbClr val="64748B"/>
                </a:solidFill>
                <a:latin typeface="Arial"/>
                <a:ea typeface="Arial"/>
                <a:cs typeface="Arial"/>
              </a:rPr>
              <a:t>Portuguese bank, 2008–2010</a:t>
            </a:r>
          </a:p>
          <a:p xmlns:a="http://schemas.openxmlformats.org/drawingml/2006/main">
            <a:pPr algn="l">
              <a:defRPr sz="1875" b="0">
                <a:solidFill>
                  <a:srgbClr val="64748B"/>
                </a:solidFill>
                <a:latin typeface="Arial"/>
                <a:ea typeface="Arial"/>
                <a:cs typeface="Arial"/>
              </a:defRPr>
            </a:pPr>
            <a:r>
              <a:rPr sz="1875" b="0">
                <a:solidFill>
                  <a:srgbClr val="64748B"/>
                </a:solidFill>
                <a:latin typeface="Arial"/>
                <a:ea typeface="Arial"/>
                <a:cs typeface="Arial"/>
              </a:rPr>
              <a:t>CC BY 4.0</a:t>
            </a:r>
          </a:p>
          <a:p xmlns:a="http://schemas.openxmlformats.org/drawingml/2006/main">
            <a:pPr algn="l">
              <a:defRPr sz="1875" b="0">
                <a:solidFill>
                  <a:srgbClr val="64748B"/>
                </a:solidFill>
                <a:latin typeface="Arial"/>
                <a:ea typeface="Arial"/>
                <a:cs typeface="Arial"/>
              </a:defRPr>
            </a:pPr>
            <a:r>
              <a:rPr sz="1875" b="0">
                <a:solidFill>
                  <a:srgbClr val="64748B"/>
                </a:solidFill>
                <a:latin typeface="Arial"/>
                <a:ea typeface="Arial"/>
                <a:cs typeface="Arial"/>
              </a:rPr>
              <a:t>No client IDs or full timestamps</a:t>
            </a:r>
          </a:p>
        </p:txBody>
      </p:sp>
      <p:graphicFrame>
        <p:nvGraphicFramePr>
          <p:cNvPr id="15" name="Chart"/>
          <p:cNvGraphicFramePr/>
          <p:nvPr/>
        </p:nvGraphicFramePr>
        <p:xfrm>
          <a:off xmlns:a="http://schemas.openxmlformats.org/drawingml/2006/main" x="5381625" y="1714500"/>
          <a:ext xmlns:a="http://schemas.openxmlformats.org/drawingml/2006/main" cx="6191250" cy="3676650"/>
        </p:xfrm>
        <a:graphic xmlns:a="http://schemas.openxmlformats.org/drawingml/2006/main">
          <a:graphicData uri="http://schemas.openxmlformats.org/drawingml/2006/chart">
            <c:chart xmlns:r="http://schemas.openxmlformats.org/officeDocument/2006/relationships" xmlns:c="http://schemas.openxmlformats.org/drawingml/2006/chart" r:id="R4947fd3c66ac49d9"/>
          </a:graphicData>
        </a:graphic>
      </p:graphicFrame>
      <p:sp>
        <p:nvSpPr>
          <p:cNvPr id="8" name="">
            <a:extLst xmlns:a="http://schemas.openxmlformats.org/drawingml/2006/main">
              <a:ext uri="{FF2B5EF4-FFF2-40B4-BE49-F238E27FC236}">
                <a16:creationId xmlns:a16="http://schemas.microsoft.com/office/drawing/2014/main" id="{867FF1C1-B0CB-4EBC-ABC1-7657E32426F3}"/>
              </a:ext>
            </a:extLst>
          </p:cNvPr>
          <p:cNvSpPr>
            <a:spLocks xmlns:a="http://schemas.openxmlformats.org/drawingml/2006/main" noGrp="1"/>
          </p:cNvSpPr>
          <p:nvPr/>
        </p:nvSpPr>
        <p:spPr>
          <a:xfrm xmlns:a="http://schemas.openxmlformats.org/drawingml/2006/main">
            <a:off x="609600" y="57054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2735"/>
                </a:solidFill>
                <a:latin typeface="Arial"/>
                <a:ea typeface="Arial"/>
                <a:cs typeface="Arial"/>
              </a:defRPr>
            </a:pPr>
            <a:r>
              <a:rPr sz="1950" b="1">
                <a:solidFill>
                  <a:srgbClr val="142735"/>
                </a:solidFill>
                <a:latin typeface="Arial"/>
                <a:ea typeface="Arial"/>
                <a:cs typeface="Arial"/>
              </a:rPr>
              <a:t>Only 11.27% subscribe in train. The majority baseline reaches 88.73% accuracy but F1 = 0.</a:t>
            </a:r>
          </a:p>
        </p:txBody>
      </p:sp>
    </p:spTree>
    <p:extLst>
      <p:ext uri="{BB962C8B-B14F-4D97-AF65-F5344CB8AC3E}">
        <p14:creationId xmlns:p14="http://schemas.microsoft.com/office/powerpoint/2010/main" val="16616335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11E0CD-BFD1-4C1D-8C34-CC9DEEB337D9}"/>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735"/>
                </a:solidFill>
                <a:latin typeface="Arial"/>
                <a:ea typeface="Arial"/>
                <a:cs typeface="Arial"/>
              </a:defRPr>
            </a:pPr>
            <a:r>
              <a:rPr sz="3300" b="1">
                <a:solidFill>
                  <a:srgbClr val="142735"/>
                </a:solidFill>
                <a:latin typeface="Arial"/>
                <a:ea typeface="Arial"/>
                <a:cs typeface="Arial"/>
              </a:rPr>
              <a:t>Client characteristics</a:t>
            </a:r>
          </a:p>
        </p:txBody>
      </p:sp>
      <p:sp>
        <p:nvSpPr>
          <p:cNvPr id="2" name="">
            <a:extLst xmlns:a="http://schemas.openxmlformats.org/drawingml/2006/main">
              <a:ext uri="{FF2B5EF4-FFF2-40B4-BE49-F238E27FC236}">
                <a16:creationId xmlns:a16="http://schemas.microsoft.com/office/drawing/2014/main" id="{68480021-F83F-4DA6-A033-CDAC72221892}"/>
              </a:ext>
            </a:extLst>
          </p:cNvPr>
          <p:cNvSpPr>
            <a:spLocks xmlns:a="http://schemas.openxmlformats.org/drawingml/2006/main" noGrp="1"/>
          </p:cNvSpPr>
          <p:nvPr/>
        </p:nvSpPr>
        <p:spPr>
          <a:xfrm xmlns:a="http://schemas.openxmlformats.org/drawingml/2006/main">
            <a:off x="609600" y="1143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748B"/>
                </a:solidFill>
                <a:latin typeface="Arial"/>
                <a:ea typeface="Arial"/>
                <a:cs typeface="Arial"/>
              </a:defRPr>
            </a:pPr>
            <a:r>
              <a:rPr sz="1725" b="0">
                <a:solidFill>
                  <a:srgbClr val="64748B"/>
                </a:solidFill>
                <a:latin typeface="Arial"/>
                <a:ea typeface="Arial"/>
                <a:cs typeface="Arial"/>
              </a:rPr>
              <a:t>Exploratory analysis on 24,713 training records</a:t>
            </a:r>
          </a:p>
        </p:txBody>
      </p:sp>
      <p:sp>
        <p:nvSpPr>
          <p:cNvPr id="3" name="">
            <a:extLst xmlns:a="http://schemas.openxmlformats.org/drawingml/2006/main">
              <a:ext uri="{FF2B5EF4-FFF2-40B4-BE49-F238E27FC236}">
                <a16:creationId xmlns:a16="http://schemas.microsoft.com/office/drawing/2014/main" id="{ECDA3BD9-3921-4820-9B7D-04F0B6421E0E}"/>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4748B"/>
                </a:solidFill>
                <a:latin typeface="Arial"/>
                <a:ea typeface="Arial"/>
                <a:cs typeface="Arial"/>
              </a:defRPr>
            </a:pPr>
            <a:r>
              <a:rPr sz="1350" b="0">
                <a:solidFill>
                  <a:srgbClr val="64748B"/>
                </a:solidFill>
                <a:latin typeface="Arial"/>
                <a:ea typeface="Arial"/>
                <a:cs typeface="Arial"/>
              </a:rPr>
              <a:t>03</a:t>
            </a:r>
          </a:p>
        </p:txBody>
      </p:sp>
      <p:graphicFrame>
        <p:nvGraphicFramePr>
          <p:cNvPr id="11" name="Chart"/>
          <p:cNvGraphicFramePr/>
          <p:nvPr/>
        </p:nvGraphicFramePr>
        <p:xfrm>
          <a:off xmlns:a="http://schemas.openxmlformats.org/drawingml/2006/main" x="609600" y="1762125"/>
          <a:ext xmlns:a="http://schemas.openxmlformats.org/drawingml/2006/main" cx="5172075" cy="3314700"/>
        </p:xfrm>
        <a:graphic xmlns:a="http://schemas.openxmlformats.org/drawingml/2006/main">
          <a:graphicData uri="http://schemas.openxmlformats.org/drawingml/2006/chart">
            <c:chart xmlns:r="http://schemas.openxmlformats.org/officeDocument/2006/relationships" xmlns:c="http://schemas.openxmlformats.org/drawingml/2006/chart" r:id="Re301ce96726b491b"/>
          </a:graphicData>
        </a:graphic>
      </p:graphicFrame>
      <p:graphicFrame>
        <p:nvGraphicFramePr>
          <p:cNvPr id="12" name="Chart"/>
          <p:cNvGraphicFramePr/>
          <p:nvPr/>
        </p:nvGraphicFramePr>
        <p:xfrm>
          <a:off xmlns:a="http://schemas.openxmlformats.org/drawingml/2006/main" x="6162675" y="1762125"/>
          <a:ext xmlns:a="http://schemas.openxmlformats.org/drawingml/2006/main" cx="5410200" cy="3314700"/>
        </p:xfrm>
        <a:graphic xmlns:a="http://schemas.openxmlformats.org/drawingml/2006/main">
          <a:graphicData uri="http://schemas.openxmlformats.org/drawingml/2006/chart">
            <c:chart xmlns:r="http://schemas.openxmlformats.org/officeDocument/2006/relationships" xmlns:c="http://schemas.openxmlformats.org/drawingml/2006/chart" r:id="R9f2b6c5143ac4cea"/>
          </a:graphicData>
        </a:graphic>
      </p:graphicFrame>
      <p:sp>
        <p:nvSpPr>
          <p:cNvPr id="6" name="">
            <a:extLst xmlns:a="http://schemas.openxmlformats.org/drawingml/2006/main">
              <a:ext uri="{FF2B5EF4-FFF2-40B4-BE49-F238E27FC236}">
                <a16:creationId xmlns:a16="http://schemas.microsoft.com/office/drawing/2014/main" id="{FAC48896-224A-43F1-BE28-7ED9CBCD3E85}"/>
              </a:ext>
            </a:extLst>
          </p:cNvPr>
          <p:cNvSpPr>
            <a:spLocks xmlns:a="http://schemas.openxmlformats.org/drawingml/2006/main" noGrp="1"/>
          </p:cNvSpPr>
          <p:nvPr/>
        </p:nvSpPr>
        <p:spPr>
          <a:xfrm xmlns:a="http://schemas.openxmlformats.org/drawingml/2006/main">
            <a:off x="609600" y="531495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Age distributions overlap.</a:t>
            </a:r>
          </a:p>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Age alone cannot separate outcomes.</a:t>
            </a:r>
          </a:p>
        </p:txBody>
      </p:sp>
      <p:sp>
        <p:nvSpPr>
          <p:cNvPr id="7" name="">
            <a:extLst xmlns:a="http://schemas.openxmlformats.org/drawingml/2006/main">
              <a:ext uri="{FF2B5EF4-FFF2-40B4-BE49-F238E27FC236}">
                <a16:creationId xmlns:a16="http://schemas.microsoft.com/office/drawing/2014/main" id="{9EAA673E-0B70-4080-B6ED-AED5600AD173}"/>
              </a:ext>
            </a:extLst>
          </p:cNvPr>
          <p:cNvSpPr>
            <a:spLocks xmlns:a="http://schemas.openxmlformats.org/drawingml/2006/main" noGrp="1"/>
          </p:cNvSpPr>
          <p:nvPr/>
        </p:nvSpPr>
        <p:spPr>
          <a:xfrm xmlns:a="http://schemas.openxmlformats.org/drawingml/2006/main">
            <a:off x="6162675" y="5314950"/>
            <a:ext cx="5410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Students: 31.8% (n=519)</a:t>
            </a:r>
          </a:p>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Blue-collar: 6.9% (n=5,510)</a:t>
            </a:r>
          </a:p>
        </p:txBody>
      </p:sp>
    </p:spTree>
    <p:extLst>
      <p:ext uri="{BB962C8B-B14F-4D97-AF65-F5344CB8AC3E}">
        <p14:creationId xmlns:p14="http://schemas.microsoft.com/office/powerpoint/2010/main" val="2204570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7F0C95-8CF1-4E3E-B3B3-8EEA89168F0E}"/>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735"/>
                </a:solidFill>
                <a:latin typeface="Arial"/>
                <a:ea typeface="Arial"/>
                <a:cs typeface="Arial"/>
              </a:defRPr>
            </a:pPr>
            <a:r>
              <a:rPr sz="3300" b="1">
                <a:solidFill>
                  <a:srgbClr val="142735"/>
                </a:solidFill>
                <a:latin typeface="Arial"/>
                <a:ea typeface="Arial"/>
                <a:cs typeface="Arial"/>
              </a:rPr>
              <a:t>Campaign history and response</a:t>
            </a:r>
          </a:p>
        </p:txBody>
      </p:sp>
      <p:sp>
        <p:nvSpPr>
          <p:cNvPr id="2" name="">
            <a:extLst xmlns:a="http://schemas.openxmlformats.org/drawingml/2006/main">
              <a:ext uri="{FF2B5EF4-FFF2-40B4-BE49-F238E27FC236}">
                <a16:creationId xmlns:a16="http://schemas.microsoft.com/office/drawing/2014/main" id="{1A81A181-3761-4244-865A-6BE4E627E0EE}"/>
              </a:ext>
            </a:extLst>
          </p:cNvPr>
          <p:cNvSpPr>
            <a:spLocks xmlns:a="http://schemas.openxmlformats.org/drawingml/2006/main" noGrp="1"/>
          </p:cNvSpPr>
          <p:nvPr/>
        </p:nvSpPr>
        <p:spPr>
          <a:xfrm xmlns:a="http://schemas.openxmlformats.org/drawingml/2006/main">
            <a:off x="609600" y="1143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748B"/>
                </a:solidFill>
                <a:latin typeface="Arial"/>
                <a:ea typeface="Arial"/>
                <a:cs typeface="Arial"/>
              </a:defRPr>
            </a:pPr>
            <a:r>
              <a:rPr sz="1725" b="0">
                <a:solidFill>
                  <a:srgbClr val="64748B"/>
                </a:solidFill>
                <a:latin typeface="Arial"/>
                <a:ea typeface="Arial"/>
                <a:cs typeface="Arial"/>
              </a:rPr>
              <a:t>Training associations, with sample sizes shown in the labels</a:t>
            </a:r>
          </a:p>
        </p:txBody>
      </p:sp>
      <p:sp>
        <p:nvSpPr>
          <p:cNvPr id="3" name="">
            <a:extLst xmlns:a="http://schemas.openxmlformats.org/drawingml/2006/main">
              <a:ext uri="{FF2B5EF4-FFF2-40B4-BE49-F238E27FC236}">
                <a16:creationId xmlns:a16="http://schemas.microsoft.com/office/drawing/2014/main" id="{A599847A-320C-4DD0-A07C-80009E556884}"/>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4748B"/>
                </a:solidFill>
                <a:latin typeface="Arial"/>
                <a:ea typeface="Arial"/>
                <a:cs typeface="Arial"/>
              </a:defRPr>
            </a:pPr>
            <a:r>
              <a:rPr sz="1350" b="0">
                <a:solidFill>
                  <a:srgbClr val="64748B"/>
                </a:solidFill>
                <a:latin typeface="Arial"/>
                <a:ea typeface="Arial"/>
                <a:cs typeface="Arial"/>
              </a:rPr>
              <a:t>04</a:t>
            </a:r>
          </a:p>
        </p:txBody>
      </p:sp>
      <p:graphicFrame>
        <p:nvGraphicFramePr>
          <p:cNvPr id="11" name="Chart"/>
          <p:cNvGraphicFramePr/>
          <p:nvPr/>
        </p:nvGraphicFramePr>
        <p:xfrm>
          <a:off xmlns:a="http://schemas.openxmlformats.org/drawingml/2006/main" x="609600" y="1762125"/>
          <a:ext xmlns:a="http://schemas.openxmlformats.org/drawingml/2006/main" cx="5172075" cy="3314700"/>
        </p:xfrm>
        <a:graphic xmlns:a="http://schemas.openxmlformats.org/drawingml/2006/main">
          <a:graphicData uri="http://schemas.openxmlformats.org/drawingml/2006/chart">
            <c:chart xmlns:r="http://schemas.openxmlformats.org/officeDocument/2006/relationships" xmlns:c="http://schemas.openxmlformats.org/drawingml/2006/chart" r:id="R59ed53e149504cdd"/>
          </a:graphicData>
        </a:graphic>
      </p:graphicFrame>
      <p:graphicFrame>
        <p:nvGraphicFramePr>
          <p:cNvPr id="12" name="Chart"/>
          <p:cNvGraphicFramePr/>
          <p:nvPr/>
        </p:nvGraphicFramePr>
        <p:xfrm>
          <a:off xmlns:a="http://schemas.openxmlformats.org/drawingml/2006/main" x="6162675" y="1762125"/>
          <a:ext xmlns:a="http://schemas.openxmlformats.org/drawingml/2006/main" cx="5410200" cy="3314700"/>
        </p:xfrm>
        <a:graphic xmlns:a="http://schemas.openxmlformats.org/drawingml/2006/main">
          <a:graphicData uri="http://schemas.openxmlformats.org/drawingml/2006/chart">
            <c:chart xmlns:r="http://schemas.openxmlformats.org/officeDocument/2006/relationships" xmlns:c="http://schemas.openxmlformats.org/drawingml/2006/chart" r:id="Rb52dfe2d2baa48f6"/>
          </a:graphicData>
        </a:graphic>
      </p:graphicFrame>
      <p:sp>
        <p:nvSpPr>
          <p:cNvPr id="6" name="">
            <a:extLst xmlns:a="http://schemas.openxmlformats.org/drawingml/2006/main">
              <a:ext uri="{FF2B5EF4-FFF2-40B4-BE49-F238E27FC236}">
                <a16:creationId xmlns:a16="http://schemas.microsoft.com/office/drawing/2014/main" id="{A10A2970-5012-4C97-AD12-1AF0100ED2A4}"/>
              </a:ext>
            </a:extLst>
          </p:cNvPr>
          <p:cNvSpPr>
            <a:spLocks xmlns:a="http://schemas.openxmlformats.org/drawingml/2006/main" noGrp="1"/>
          </p:cNvSpPr>
          <p:nvPr/>
        </p:nvSpPr>
        <p:spPr>
          <a:xfrm xmlns:a="http://schemas.openxmlformats.org/drawingml/2006/main">
            <a:off x="609600" y="531495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Previous success: 65.0% response</a:t>
            </a:r>
          </a:p>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No previous outcome: 8.9%</a:t>
            </a:r>
          </a:p>
        </p:txBody>
      </p:sp>
      <p:sp>
        <p:nvSpPr>
          <p:cNvPr id="7" name="">
            <a:extLst xmlns:a="http://schemas.openxmlformats.org/drawingml/2006/main">
              <a:ext uri="{FF2B5EF4-FFF2-40B4-BE49-F238E27FC236}">
                <a16:creationId xmlns:a16="http://schemas.microsoft.com/office/drawing/2014/main" id="{A9018F0E-6A94-4E61-A973-D2603D92B41E}"/>
              </a:ext>
            </a:extLst>
          </p:cNvPr>
          <p:cNvSpPr>
            <a:spLocks xmlns:a="http://schemas.openxmlformats.org/drawingml/2006/main" noGrp="1"/>
          </p:cNvSpPr>
          <p:nvPr/>
        </p:nvSpPr>
        <p:spPr>
          <a:xfrm xmlns:a="http://schemas.openxmlformats.org/drawingml/2006/main">
            <a:off x="6162675" y="5314950"/>
            <a:ext cx="5410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First contact: 12.9% response</a:t>
            </a:r>
          </a:p>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Six or more contacts: 5.6%</a:t>
            </a:r>
          </a:p>
        </p:txBody>
      </p:sp>
    </p:spTree>
    <p:extLst>
      <p:ext uri="{BB962C8B-B14F-4D97-AF65-F5344CB8AC3E}">
        <p14:creationId xmlns:p14="http://schemas.microsoft.com/office/powerpoint/2010/main" val="17625234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FC9F0D-20FA-4530-9A83-4FCA53BAE9A7}"/>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735"/>
                </a:solidFill>
                <a:latin typeface="Arial"/>
                <a:ea typeface="Arial"/>
                <a:cs typeface="Arial"/>
              </a:defRPr>
            </a:pPr>
            <a:r>
              <a:rPr sz="3300" b="1">
                <a:solidFill>
                  <a:srgbClr val="142735"/>
                </a:solidFill>
                <a:latin typeface="Arial"/>
                <a:ea typeface="Arial"/>
                <a:cs typeface="Arial"/>
              </a:rPr>
              <a:t>Data preparation</a:t>
            </a:r>
          </a:p>
        </p:txBody>
      </p:sp>
      <p:sp>
        <p:nvSpPr>
          <p:cNvPr id="2" name="">
            <a:extLst xmlns:a="http://schemas.openxmlformats.org/drawingml/2006/main">
              <a:ext uri="{FF2B5EF4-FFF2-40B4-BE49-F238E27FC236}">
                <a16:creationId xmlns:a16="http://schemas.microsoft.com/office/drawing/2014/main" id="{725605E0-56F9-4A88-A504-6A3B3A638AD3}"/>
              </a:ext>
            </a:extLst>
          </p:cNvPr>
          <p:cNvSpPr>
            <a:spLocks xmlns:a="http://schemas.openxmlformats.org/drawingml/2006/main" noGrp="1"/>
          </p:cNvSpPr>
          <p:nvPr/>
        </p:nvSpPr>
        <p:spPr>
          <a:xfrm xmlns:a="http://schemas.openxmlformats.org/drawingml/2006/main">
            <a:off x="609600" y="1143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748B"/>
                </a:solidFill>
                <a:latin typeface="Arial"/>
                <a:ea typeface="Arial"/>
                <a:cs typeface="Arial"/>
              </a:defRPr>
            </a:pPr>
            <a:r>
              <a:rPr sz="1725" b="0">
                <a:solidFill>
                  <a:srgbClr val="64748B"/>
                </a:solidFill>
                <a:latin typeface="Arial"/>
                <a:ea typeface="Arial"/>
                <a:cs typeface="Arial"/>
              </a:rPr>
              <a:t>Types, ranges, missing values, categories and repeated records checked</a:t>
            </a:r>
          </a:p>
        </p:txBody>
      </p:sp>
      <p:sp>
        <p:nvSpPr>
          <p:cNvPr id="3" name="">
            <a:extLst xmlns:a="http://schemas.openxmlformats.org/drawingml/2006/main">
              <a:ext uri="{FF2B5EF4-FFF2-40B4-BE49-F238E27FC236}">
                <a16:creationId xmlns:a16="http://schemas.microsoft.com/office/drawing/2014/main" id="{F46A8D45-3980-4D84-B7EC-5DA7EC269FC8}"/>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4748B"/>
                </a:solidFill>
                <a:latin typeface="Arial"/>
                <a:ea typeface="Arial"/>
                <a:cs typeface="Arial"/>
              </a:defRPr>
            </a:pPr>
            <a:r>
              <a:rPr sz="1350" b="0">
                <a:solidFill>
                  <a:srgbClr val="64748B"/>
                </a:solidFill>
                <a:latin typeface="Arial"/>
                <a:ea typeface="Arial"/>
                <a:cs typeface="Arial"/>
              </a:rPr>
              <a:t>05</a:t>
            </a:r>
          </a:p>
        </p:txBody>
      </p:sp>
      <p:graphicFrame>
        <p:nvGraphicFramePr>
          <p:cNvPr id="9" name=""/>
          <p:cNvGraphicFramePr/>
          <p:nvPr/>
        </p:nvGraphicFramePr>
        <p:xfrm>
          <a:off xmlns:a="http://schemas.openxmlformats.org/drawingml/2006/main" x="609600" y="1847850"/>
          <a:ext xmlns:a="http://schemas.openxmlformats.org/drawingml/2006/main" cx="10972800" cy="3600450"/>
        </p:xfrm>
        <a:graphic xmlns:a="http://schemas.openxmlformats.org/drawingml/2006/main">
          <a:graphicData uri="http://schemas.openxmlformats.org/drawingml/2006/table">
            <a:tbl>
              <a:tblPr firstRow="0" bandRow="0"/>
              <a:tblGrid>
                <a:gridCol w="2381250"/>
                <a:gridCol w="4000500"/>
                <a:gridCol w="4591050"/>
              </a:tblGrid>
              <a:tr h="514350">
                <a:tc>
                  <a:txBody>
                    <a:bodyPr>
                      <a:noAutofit/>
                    </a:bodyPr>
                    <a:lstStyle/>
                    <a:p>
                      <a:pPr algn="l"/>
                      <a:r>
                        <a:rPr sz="1725" b="1">
                          <a:solidFill>
                            <a:srgbClr val="FFFFFF"/>
                          </a:solidFill>
                          <a:latin typeface="Arial"/>
                          <a:ea typeface="Arial"/>
                          <a:cs typeface="Arial"/>
                        </a:rPr>
                        <a:t>Input</a:t>
                      </a:r>
                    </a:p>
                  </a:txBody>
                  <a:tcPr marL="95250" marR="95250" marT="38100" marB="38100" anchor="ctr">
                    <a:solidFill>
                      <a:srgbClr val="147D92"/>
                    </a:solidFill>
                  </a:tcPr>
                </a:tc>
                <a:tc>
                  <a:txBody>
                    <a:bodyPr>
                      <a:noAutofit/>
                    </a:bodyPr>
                    <a:lstStyle/>
                    <a:p>
                      <a:pPr algn="ctr"/>
                      <a:r>
                        <a:rPr sz="1725" b="1">
                          <a:solidFill>
                            <a:srgbClr val="FFFFFF"/>
                          </a:solidFill>
                          <a:latin typeface="Arial"/>
                          <a:ea typeface="Arial"/>
                          <a:cs typeface="Arial"/>
                        </a:rPr>
                        <a:t>Treatment</a:t>
                      </a:r>
                    </a:p>
                  </a:txBody>
                  <a:tcPr marL="95250" marR="95250" marT="38100" marB="38100" anchor="ctr">
                    <a:solidFill>
                      <a:srgbClr val="147D92"/>
                    </a:solidFill>
                  </a:tcPr>
                </a:tc>
                <a:tc>
                  <a:txBody>
                    <a:bodyPr>
                      <a:noAutofit/>
                    </a:bodyPr>
                    <a:lstStyle/>
                    <a:p>
                      <a:pPr algn="ctr"/>
                      <a:r>
                        <a:rPr sz="1725" b="1">
                          <a:solidFill>
                            <a:srgbClr val="FFFFFF"/>
                          </a:solidFill>
                          <a:latin typeface="Arial"/>
                          <a:ea typeface="Arial"/>
                          <a:cs typeface="Arial"/>
                        </a:rPr>
                        <a:t>Reason</a:t>
                      </a:r>
                    </a:p>
                  </a:txBody>
                  <a:tcPr marL="95250" marR="95250" marT="38100" marB="38100" anchor="ctr">
                    <a:solidFill>
                      <a:srgbClr val="147D92"/>
                    </a:solidFill>
                  </a:tcPr>
                </a:tc>
              </a:tr>
              <a:tr h="514350">
                <a:tc>
                  <a:txBody>
                    <a:bodyPr>
                      <a:noAutofit/>
                    </a:bodyPr>
                    <a:lstStyle/>
                    <a:p>
                      <a:pPr algn="l"/>
                      <a:r>
                        <a:rPr sz="1725" b="0">
                          <a:solidFill>
                            <a:srgbClr val="142735"/>
                          </a:solidFill>
                          <a:latin typeface="Arial"/>
                          <a:ea typeface="Arial"/>
                          <a:cs typeface="Arial"/>
                        </a:rPr>
                        <a:t>duration</a:t>
                      </a:r>
                    </a:p>
                  </a:txBody>
                  <a:tcPr marL="95250" marR="95250" marT="38100" marB="38100" anchor="ctr">
                    <a:solidFill>
                      <a:srgbClr val="FFFFFF"/>
                    </a:solidFill>
                  </a:tcPr>
                </a:tc>
                <a:tc>
                  <a:txBody>
                    <a:bodyPr>
                      <a:noAutofit/>
                    </a:bodyPr>
                    <a:lstStyle/>
                    <a:p>
                      <a:pPr algn="ctr"/>
                      <a:r>
                        <a:rPr sz="1725" b="0">
                          <a:solidFill>
                            <a:srgbClr val="142735"/>
                          </a:solidFill>
                          <a:latin typeface="Arial"/>
                          <a:ea typeface="Arial"/>
                          <a:cs typeface="Arial"/>
                        </a:rPr>
                        <a:t>Exclude</a:t>
                      </a:r>
                    </a:p>
                  </a:txBody>
                  <a:tcPr marL="95250" marR="95250" marT="38100" marB="38100" anchor="ctr">
                    <a:solidFill>
                      <a:srgbClr val="FFFFFF"/>
                    </a:solidFill>
                  </a:tcPr>
                </a:tc>
                <a:tc>
                  <a:txBody>
                    <a:bodyPr>
                      <a:noAutofit/>
                    </a:bodyPr>
                    <a:lstStyle/>
                    <a:p>
                      <a:pPr algn="ctr"/>
                      <a:r>
                        <a:rPr sz="1725" b="0">
                          <a:solidFill>
                            <a:srgbClr val="142735"/>
                          </a:solidFill>
                          <a:latin typeface="Arial"/>
                          <a:ea typeface="Arial"/>
                          <a:cs typeface="Arial"/>
                        </a:rPr>
                        <a:t>Unknown before the call</a:t>
                      </a:r>
                    </a:p>
                  </a:txBody>
                  <a:tcPr marL="95250" marR="95250" marT="38100" marB="38100" anchor="ctr">
                    <a:solidFill>
                      <a:srgbClr val="FFFFFF"/>
                    </a:solidFill>
                  </a:tcPr>
                </a:tc>
              </a:tr>
              <a:tr h="514350">
                <a:tc>
                  <a:txBody>
                    <a:bodyPr>
                      <a:noAutofit/>
                    </a:bodyPr>
                    <a:lstStyle/>
                    <a:p>
                      <a:pPr algn="l"/>
                      <a:r>
                        <a:rPr sz="1725" b="0">
                          <a:solidFill>
                            <a:srgbClr val="142735"/>
                          </a:solidFill>
                          <a:latin typeface="Arial"/>
                          <a:ea typeface="Arial"/>
                          <a:cs typeface="Arial"/>
                        </a:rPr>
                        <a:t>Unknown categories</a:t>
                      </a:r>
                    </a:p>
                  </a:txBody>
                  <a:tcPr marL="95250" marR="95250" marT="38100" marB="38100" anchor="ctr">
                    <a:solidFill>
                      <a:srgbClr val="FFFFFF"/>
                    </a:solidFill>
                  </a:tcPr>
                </a:tc>
                <a:tc>
                  <a:txBody>
                    <a:bodyPr>
                      <a:noAutofit/>
                    </a:bodyPr>
                    <a:lstStyle/>
                    <a:p>
                      <a:pPr algn="ctr"/>
                      <a:r>
                        <a:rPr sz="1725" b="0">
                          <a:solidFill>
                            <a:srgbClr val="142735"/>
                          </a:solidFill>
                          <a:latin typeface="Arial"/>
                          <a:ea typeface="Arial"/>
                          <a:cs typeface="Arial"/>
                        </a:rPr>
                        <a:t>Keep an explicit category</a:t>
                      </a:r>
                    </a:p>
                  </a:txBody>
                  <a:tcPr marL="95250" marR="95250" marT="38100" marB="38100" anchor="ctr">
                    <a:solidFill>
                      <a:srgbClr val="FFFFFF"/>
                    </a:solidFill>
                  </a:tcPr>
                </a:tc>
                <a:tc>
                  <a:txBody>
                    <a:bodyPr>
                      <a:noAutofit/>
                    </a:bodyPr>
                    <a:lstStyle/>
                    <a:p>
                      <a:pPr algn="ctr"/>
                      <a:r>
                        <a:rPr sz="1725" b="0">
                          <a:solidFill>
                            <a:srgbClr val="142735"/>
                          </a:solidFill>
                          <a:latin typeface="Arial"/>
                          <a:ea typeface="Arial"/>
                          <a:cs typeface="Arial"/>
                        </a:rPr>
                        <a:t>Avoid deleting observations</a:t>
                      </a:r>
                    </a:p>
                  </a:txBody>
                  <a:tcPr marL="95250" marR="95250" marT="38100" marB="38100" anchor="ctr">
                    <a:solidFill>
                      <a:srgbClr val="FFFFFF"/>
                    </a:solidFill>
                  </a:tcPr>
                </a:tc>
              </a:tr>
              <a:tr h="514350">
                <a:tc>
                  <a:txBody>
                    <a:bodyPr>
                      <a:noAutofit/>
                    </a:bodyPr>
                    <a:lstStyle/>
                    <a:p>
                      <a:pPr algn="l"/>
                      <a:r>
                        <a:rPr sz="1725" b="0">
                          <a:solidFill>
                            <a:srgbClr val="142735"/>
                          </a:solidFill>
                          <a:latin typeface="Arial"/>
                          <a:ea typeface="Arial"/>
                          <a:cs typeface="Arial"/>
                        </a:rPr>
                        <a:t>pdays = 999</a:t>
                      </a:r>
                    </a:p>
                  </a:txBody>
                  <a:tcPr marL="95250" marR="95250" marT="38100" marB="38100" anchor="ctr">
                    <a:solidFill>
                      <a:srgbClr val="FFFFFF"/>
                    </a:solidFill>
                  </a:tcPr>
                </a:tc>
                <a:tc>
                  <a:txBody>
                    <a:bodyPr>
                      <a:noAutofit/>
                    </a:bodyPr>
                    <a:lstStyle/>
                    <a:p>
                      <a:pPr algn="ctr"/>
                      <a:r>
                        <a:rPr sz="1725" b="0">
                          <a:solidFill>
                            <a:srgbClr val="142735"/>
                          </a:solidFill>
                          <a:latin typeface="Arial"/>
                          <a:ea typeface="Arial"/>
                          <a:cs typeface="Arial"/>
                        </a:rPr>
                        <a:t>Contact flag + imputation</a:t>
                      </a:r>
                    </a:p>
                  </a:txBody>
                  <a:tcPr marL="95250" marR="95250" marT="38100" marB="38100" anchor="ctr">
                    <a:solidFill>
                      <a:srgbClr val="FFFFFF"/>
                    </a:solidFill>
                  </a:tcPr>
                </a:tc>
                <a:tc>
                  <a:txBody>
                    <a:bodyPr>
                      <a:noAutofit/>
                    </a:bodyPr>
                    <a:lstStyle/>
                    <a:p>
                      <a:pPr algn="ctr"/>
                      <a:r>
                        <a:rPr sz="1725" b="0">
                          <a:solidFill>
                            <a:srgbClr val="142735"/>
                          </a:solidFill>
                          <a:latin typeface="Arial"/>
                          <a:ea typeface="Arial"/>
                          <a:cs typeface="Arial"/>
                        </a:rPr>
                        <a:t>Separate absence from elapsed days</a:t>
                      </a:r>
                    </a:p>
                  </a:txBody>
                  <a:tcPr marL="95250" marR="95250" marT="38100" marB="38100" anchor="ctr">
                    <a:solidFill>
                      <a:srgbClr val="FFFFFF"/>
                    </a:solidFill>
                  </a:tcPr>
                </a:tc>
              </a:tr>
              <a:tr h="514350">
                <a:tc>
                  <a:txBody>
                    <a:bodyPr>
                      <a:noAutofit/>
                    </a:bodyPr>
                    <a:lstStyle/>
                    <a:p>
                      <a:pPr algn="l"/>
                      <a:r>
                        <a:rPr sz="1725" b="0">
                          <a:solidFill>
                            <a:srgbClr val="142735"/>
                          </a:solidFill>
                          <a:latin typeface="Arial"/>
                          <a:ea typeface="Arial"/>
                          <a:cs typeface="Arial"/>
                        </a:rPr>
                        <a:t>Categorical features</a:t>
                      </a:r>
                    </a:p>
                  </a:txBody>
                  <a:tcPr marL="95250" marR="95250" marT="38100" marB="38100" anchor="ctr">
                    <a:solidFill>
                      <a:srgbClr val="FFFFFF"/>
                    </a:solidFill>
                  </a:tcPr>
                </a:tc>
                <a:tc>
                  <a:txBody>
                    <a:bodyPr>
                      <a:noAutofit/>
                    </a:bodyPr>
                    <a:lstStyle/>
                    <a:p>
                      <a:pPr algn="ctr"/>
                      <a:r>
                        <a:rPr sz="1725" b="0">
                          <a:solidFill>
                            <a:srgbClr val="142735"/>
                          </a:solidFill>
                          <a:latin typeface="Arial"/>
                          <a:ea typeface="Arial"/>
                          <a:cs typeface="Arial"/>
                        </a:rPr>
                        <a:t>One-hot encoding</a:t>
                      </a:r>
                    </a:p>
                  </a:txBody>
                  <a:tcPr marL="95250" marR="95250" marT="38100" marB="38100" anchor="ctr">
                    <a:solidFill>
                      <a:srgbClr val="FFFFFF"/>
                    </a:solidFill>
                  </a:tcPr>
                </a:tc>
                <a:tc>
                  <a:txBody>
                    <a:bodyPr>
                      <a:noAutofit/>
                    </a:bodyPr>
                    <a:lstStyle/>
                    <a:p>
                      <a:pPr algn="ctr"/>
                      <a:r>
                        <a:rPr sz="1725" b="0">
                          <a:solidFill>
                            <a:srgbClr val="142735"/>
                          </a:solidFill>
                          <a:latin typeface="Arial"/>
                          <a:ea typeface="Arial"/>
                          <a:cs typeface="Arial"/>
                        </a:rPr>
                        <a:t>Avoid an artificial numeric order</a:t>
                      </a:r>
                    </a:p>
                  </a:txBody>
                  <a:tcPr marL="95250" marR="95250" marT="38100" marB="38100" anchor="ctr">
                    <a:solidFill>
                      <a:srgbClr val="FFFFFF"/>
                    </a:solidFill>
                  </a:tcPr>
                </a:tc>
              </a:tr>
              <a:tr h="514350">
                <a:tc>
                  <a:txBody>
                    <a:bodyPr>
                      <a:noAutofit/>
                    </a:bodyPr>
                    <a:lstStyle/>
                    <a:p>
                      <a:pPr algn="l"/>
                      <a:r>
                        <a:rPr sz="1725" b="0">
                          <a:solidFill>
                            <a:srgbClr val="142735"/>
                          </a:solidFill>
                          <a:latin typeface="Arial"/>
                          <a:ea typeface="Arial"/>
                          <a:cs typeface="Arial"/>
                        </a:rPr>
                        <a:t>Contact counts</a:t>
                      </a:r>
                    </a:p>
                  </a:txBody>
                  <a:tcPr marL="95250" marR="95250" marT="38100" marB="38100" anchor="ctr">
                    <a:solidFill>
                      <a:srgbClr val="FFFFFF"/>
                    </a:solidFill>
                  </a:tcPr>
                </a:tc>
                <a:tc>
                  <a:txBody>
                    <a:bodyPr>
                      <a:noAutofit/>
                    </a:bodyPr>
                    <a:lstStyle/>
                    <a:p>
                      <a:pPr algn="ctr"/>
                      <a:r>
                        <a:rPr sz="1725" b="0">
                          <a:solidFill>
                            <a:srgbClr val="142735"/>
                          </a:solidFill>
                          <a:latin typeface="Arial"/>
                          <a:ea typeface="Arial"/>
                          <a:cs typeface="Arial"/>
                        </a:rPr>
                        <a:t>Prior counts + log transform</a:t>
                      </a:r>
                    </a:p>
                  </a:txBody>
                  <a:tcPr marL="95250" marR="95250" marT="38100" marB="38100" anchor="ctr">
                    <a:solidFill>
                      <a:srgbClr val="FFFFFF"/>
                    </a:solidFill>
                  </a:tcPr>
                </a:tc>
                <a:tc>
                  <a:txBody>
                    <a:bodyPr>
                      <a:noAutofit/>
                    </a:bodyPr>
                    <a:lstStyle/>
                    <a:p>
                      <a:pPr algn="ctr"/>
                      <a:r>
                        <a:rPr sz="1725" b="0">
                          <a:solidFill>
                            <a:srgbClr val="142735"/>
                          </a:solidFill>
                          <a:latin typeface="Arial"/>
                          <a:ea typeface="Arial"/>
                          <a:cs typeface="Arial"/>
                        </a:rPr>
                        <a:t>Represent prior history and skew</a:t>
                      </a:r>
                    </a:p>
                  </a:txBody>
                  <a:tcPr marL="95250" marR="95250" marT="38100" marB="38100" anchor="ctr">
                    <a:solidFill>
                      <a:srgbClr val="FFFFFF"/>
                    </a:solidFill>
                  </a:tcPr>
                </a:tc>
              </a:tr>
              <a:tr h="514350">
                <a:tc>
                  <a:txBody>
                    <a:bodyPr>
                      <a:noAutofit/>
                    </a:bodyPr>
                    <a:lstStyle/>
                    <a:p>
                      <a:pPr algn="l"/>
                      <a:r>
                        <a:rPr sz="1725" b="0">
                          <a:solidFill>
                            <a:srgbClr val="142735"/>
                          </a:solidFill>
                          <a:latin typeface="Arial"/>
                          <a:ea typeface="Arial"/>
                          <a:cs typeface="Arial"/>
                        </a:rPr>
                        <a:t>Numeric features</a:t>
                      </a:r>
                    </a:p>
                  </a:txBody>
                  <a:tcPr marL="95250" marR="95250" marT="38100" marB="38100" anchor="ctr">
                    <a:solidFill>
                      <a:srgbClr val="FFFFFF"/>
                    </a:solidFill>
                  </a:tcPr>
                </a:tc>
                <a:tc>
                  <a:txBody>
                    <a:bodyPr>
                      <a:noAutofit/>
                    </a:bodyPr>
                    <a:lstStyle/>
                    <a:p>
                      <a:pPr algn="ctr"/>
                      <a:r>
                        <a:rPr sz="1725" b="0">
                          <a:solidFill>
                            <a:srgbClr val="142735"/>
                          </a:solidFill>
                          <a:latin typeface="Arial"/>
                          <a:ea typeface="Arial"/>
                          <a:cs typeface="Arial"/>
                        </a:rPr>
                        <a:t>Scale for KNN and SVM</a:t>
                      </a:r>
                    </a:p>
                  </a:txBody>
                  <a:tcPr marL="95250" marR="95250" marT="38100" marB="38100" anchor="ctr">
                    <a:solidFill>
                      <a:srgbClr val="FFFFFF"/>
                    </a:solidFill>
                  </a:tcPr>
                </a:tc>
                <a:tc>
                  <a:txBody>
                    <a:bodyPr>
                      <a:noAutofit/>
                    </a:bodyPr>
                    <a:lstStyle/>
                    <a:p>
                      <a:pPr algn="ctr"/>
                      <a:r>
                        <a:rPr sz="1725" b="0">
                          <a:solidFill>
                            <a:srgbClr val="142735"/>
                          </a:solidFill>
                          <a:latin typeface="Arial"/>
                          <a:ea typeface="Arial"/>
                          <a:cs typeface="Arial"/>
                        </a:rPr>
                        <a:t>Comparable distances and margins</a:t>
                      </a:r>
                    </a:p>
                  </a:txBody>
                  <a:tcPr marL="95250" marR="95250" marT="38100" marB="381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12BF9D6-A958-4303-889A-520DCADDD2CB}"/>
              </a:ext>
            </a:extLst>
          </p:cNvPr>
          <p:cNvSpPr>
            <a:spLocks xmlns:a="http://schemas.openxmlformats.org/drawingml/2006/main" noGrp="1"/>
          </p:cNvSpPr>
          <p:nvPr/>
        </p:nvSpPr>
        <p:spPr>
          <a:xfrm xmlns:a="http://schemas.openxmlformats.org/drawingml/2006/main">
            <a:off x="609600" y="5724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All learned transformations fit inside each training fold.</a:t>
            </a:r>
          </a:p>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We retain 12 exact repeated records and keep identical predictor profiles together.</a:t>
            </a:r>
          </a:p>
        </p:txBody>
      </p:sp>
    </p:spTree>
    <p:extLst>
      <p:ext uri="{BB962C8B-B14F-4D97-AF65-F5344CB8AC3E}">
        <p14:creationId xmlns:p14="http://schemas.microsoft.com/office/powerpoint/2010/main" val="17595760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3D37D2-2CF6-4298-92AD-1D481085D0AC}"/>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735"/>
                </a:solidFill>
                <a:latin typeface="Arial"/>
                <a:ea typeface="Arial"/>
                <a:cs typeface="Arial"/>
              </a:defRPr>
            </a:pPr>
            <a:r>
              <a:rPr sz="3300" b="1">
                <a:solidFill>
                  <a:srgbClr val="142735"/>
                </a:solidFill>
                <a:latin typeface="Arial"/>
                <a:ea typeface="Arial"/>
                <a:cs typeface="Arial"/>
              </a:rPr>
              <a:t>Evaluation design</a:t>
            </a:r>
          </a:p>
        </p:txBody>
      </p:sp>
      <p:sp>
        <p:nvSpPr>
          <p:cNvPr id="2" name="">
            <a:extLst xmlns:a="http://schemas.openxmlformats.org/drawingml/2006/main">
              <a:ext uri="{FF2B5EF4-FFF2-40B4-BE49-F238E27FC236}">
                <a16:creationId xmlns:a16="http://schemas.microsoft.com/office/drawing/2014/main" id="{44D59E6B-6498-4E4C-A93E-986E8969AC99}"/>
              </a:ext>
            </a:extLst>
          </p:cNvPr>
          <p:cNvSpPr>
            <a:spLocks xmlns:a="http://schemas.openxmlformats.org/drawingml/2006/main" noGrp="1"/>
          </p:cNvSpPr>
          <p:nvPr/>
        </p:nvSpPr>
        <p:spPr>
          <a:xfrm xmlns:a="http://schemas.openxmlformats.org/drawingml/2006/main">
            <a:off x="609600" y="1143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748B"/>
                </a:solidFill>
                <a:latin typeface="Arial"/>
                <a:ea typeface="Arial"/>
                <a:cs typeface="Arial"/>
              </a:defRPr>
            </a:pPr>
            <a:r>
              <a:rPr sz="1725" b="0">
                <a:solidFill>
                  <a:srgbClr val="64748B"/>
                </a:solidFill>
                <a:latin typeface="Arial"/>
                <a:ea typeface="Arial"/>
                <a:cs typeface="Arial"/>
              </a:rPr>
              <a:t>Approximately stratified, grouped random benchmark</a:t>
            </a:r>
          </a:p>
        </p:txBody>
      </p:sp>
      <p:sp>
        <p:nvSpPr>
          <p:cNvPr id="3" name="">
            <a:extLst xmlns:a="http://schemas.openxmlformats.org/drawingml/2006/main">
              <a:ext uri="{FF2B5EF4-FFF2-40B4-BE49-F238E27FC236}">
                <a16:creationId xmlns:a16="http://schemas.microsoft.com/office/drawing/2014/main" id="{E1FC346F-CF31-42A2-9683-7C4B79D61995}"/>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4748B"/>
                </a:solidFill>
                <a:latin typeface="Arial"/>
                <a:ea typeface="Arial"/>
                <a:cs typeface="Arial"/>
              </a:defRPr>
            </a:pPr>
            <a:r>
              <a:rPr sz="1350" b="0">
                <a:solidFill>
                  <a:srgbClr val="64748B"/>
                </a:solidFill>
                <a:latin typeface="Arial"/>
                <a:ea typeface="Arial"/>
                <a:cs typeface="Arial"/>
              </a:rPr>
              <a:t>06</a:t>
            </a:r>
          </a:p>
        </p:txBody>
      </p:sp>
      <p:graphicFrame>
        <p:nvGraphicFramePr>
          <p:cNvPr id="10" name=""/>
          <p:cNvGraphicFramePr/>
          <p:nvPr/>
        </p:nvGraphicFramePr>
        <p:xfrm>
          <a:off xmlns:a="http://schemas.openxmlformats.org/drawingml/2006/main" x="609600" y="1838325"/>
          <a:ext xmlns:a="http://schemas.openxmlformats.org/drawingml/2006/main" cx="10972800" cy="2324100"/>
        </p:xfrm>
        <a:graphic xmlns:a="http://schemas.openxmlformats.org/drawingml/2006/main">
          <a:graphicData uri="http://schemas.openxmlformats.org/drawingml/2006/table">
            <a:tbl>
              <a:tblPr firstRow="0" bandRow="0"/>
              <a:tblGrid>
                <a:gridCol w="2238375"/>
                <a:gridCol w="2238375"/>
                <a:gridCol w="6496050"/>
              </a:tblGrid>
              <a:tr h="581025">
                <a:tc>
                  <a:txBody>
                    <a:bodyPr>
                      <a:noAutofit/>
                    </a:bodyPr>
                    <a:lstStyle/>
                    <a:p>
                      <a:pPr algn="l"/>
                      <a:r>
                        <a:rPr sz="1875" b="1">
                          <a:solidFill>
                            <a:srgbClr val="FFFFFF"/>
                          </a:solidFill>
                          <a:latin typeface="Arial"/>
                          <a:ea typeface="Arial"/>
                          <a:cs typeface="Arial"/>
                        </a:rPr>
                        <a:t>Partition</a:t>
                      </a:r>
                    </a:p>
                  </a:txBody>
                  <a:tcPr marL="95250" marR="95250" marT="38100" marB="38100" anchor="ctr">
                    <a:solidFill>
                      <a:srgbClr val="147D92"/>
                    </a:solidFill>
                  </a:tcPr>
                </a:tc>
                <a:tc>
                  <a:txBody>
                    <a:bodyPr>
                      <a:noAutofit/>
                    </a:bodyPr>
                    <a:lstStyle/>
                    <a:p>
                      <a:pPr algn="ctr"/>
                      <a:r>
                        <a:rPr sz="1875" b="1">
                          <a:solidFill>
                            <a:srgbClr val="FFFFFF"/>
                          </a:solidFill>
                          <a:latin typeface="Arial"/>
                          <a:ea typeface="Arial"/>
                          <a:cs typeface="Arial"/>
                        </a:rPr>
                        <a:t>Records</a:t>
                      </a:r>
                    </a:p>
                  </a:txBody>
                  <a:tcPr marL="95250" marR="95250" marT="38100" marB="38100" anchor="ctr">
                    <a:solidFill>
                      <a:srgbClr val="147D92"/>
                    </a:solidFill>
                  </a:tcPr>
                </a:tc>
                <a:tc>
                  <a:txBody>
                    <a:bodyPr>
                      <a:noAutofit/>
                    </a:bodyPr>
                    <a:lstStyle/>
                    <a:p>
                      <a:pPr algn="ctr"/>
                      <a:r>
                        <a:rPr sz="1875" b="1">
                          <a:solidFill>
                            <a:srgbClr val="FFFFFF"/>
                          </a:solidFill>
                          <a:latin typeface="Arial"/>
                          <a:ea typeface="Arial"/>
                          <a:cs typeface="Arial"/>
                        </a:rPr>
                        <a:t>Purpose</a:t>
                      </a:r>
                    </a:p>
                  </a:txBody>
                  <a:tcPr marL="95250" marR="95250" marT="38100" marB="38100" anchor="ctr">
                    <a:solidFill>
                      <a:srgbClr val="147D92"/>
                    </a:solidFill>
                  </a:tcPr>
                </a:tc>
              </a:tr>
              <a:tr h="581025">
                <a:tc>
                  <a:txBody>
                    <a:bodyPr>
                      <a:noAutofit/>
                    </a:bodyPr>
                    <a:lstStyle/>
                    <a:p>
                      <a:pPr algn="l"/>
                      <a:r>
                        <a:rPr sz="1875" b="0">
                          <a:solidFill>
                            <a:srgbClr val="142735"/>
                          </a:solidFill>
                          <a:latin typeface="Arial"/>
                          <a:ea typeface="Arial"/>
                          <a:cs typeface="Arial"/>
                        </a:rPr>
                        <a:t>Train</a:t>
                      </a:r>
                    </a:p>
                  </a:txBody>
                  <a:tcPr marL="95250" marR="95250" marT="38100" marB="38100" anchor="ctr">
                    <a:solidFill>
                      <a:srgbClr val="FFFFFF"/>
                    </a:solidFill>
                  </a:tcPr>
                </a:tc>
                <a:tc>
                  <a:txBody>
                    <a:bodyPr>
                      <a:noAutofit/>
                    </a:bodyPr>
                    <a:lstStyle/>
                    <a:p>
                      <a:pPr algn="ctr"/>
                      <a:r>
                        <a:rPr sz="1875" b="0">
                          <a:solidFill>
                            <a:srgbClr val="142735"/>
                          </a:solidFill>
                          <a:latin typeface="Arial"/>
                          <a:ea typeface="Arial"/>
                          <a:cs typeface="Arial"/>
                        </a:rPr>
                        <a:t>24,713</a:t>
                      </a:r>
                    </a:p>
                  </a:txBody>
                  <a:tcPr marL="95250" marR="95250" marT="38100" marB="38100" anchor="ctr">
                    <a:solidFill>
                      <a:srgbClr val="FFFFFF"/>
                    </a:solidFill>
                  </a:tcPr>
                </a:tc>
                <a:tc>
                  <a:txBody>
                    <a:bodyPr>
                      <a:noAutofit/>
                    </a:bodyPr>
                    <a:lstStyle/>
                    <a:p>
                      <a:pPr algn="ctr"/>
                      <a:r>
                        <a:rPr sz="1875" b="0">
                          <a:solidFill>
                            <a:srgbClr val="142735"/>
                          </a:solidFill>
                          <a:latin typeface="Arial"/>
                          <a:ea typeface="Arial"/>
                          <a:cs typeface="Arial"/>
                        </a:rPr>
                        <a:t>EDA, fitting and cross-validation</a:t>
                      </a:r>
                    </a:p>
                  </a:txBody>
                  <a:tcPr marL="95250" marR="95250" marT="38100" marB="38100" anchor="ctr">
                    <a:solidFill>
                      <a:srgbClr val="FFFFFF"/>
                    </a:solidFill>
                  </a:tcPr>
                </a:tc>
              </a:tr>
              <a:tr h="581025">
                <a:tc>
                  <a:txBody>
                    <a:bodyPr>
                      <a:noAutofit/>
                    </a:bodyPr>
                    <a:lstStyle/>
                    <a:p>
                      <a:pPr algn="l"/>
                      <a:r>
                        <a:rPr sz="1875" b="0">
                          <a:solidFill>
                            <a:srgbClr val="142735"/>
                          </a:solidFill>
                          <a:latin typeface="Arial"/>
                          <a:ea typeface="Arial"/>
                          <a:cs typeface="Arial"/>
                        </a:rPr>
                        <a:t>Validation</a:t>
                      </a:r>
                    </a:p>
                  </a:txBody>
                  <a:tcPr marL="95250" marR="95250" marT="38100" marB="38100" anchor="ctr">
                    <a:solidFill>
                      <a:srgbClr val="FFFFFF"/>
                    </a:solidFill>
                  </a:tcPr>
                </a:tc>
                <a:tc>
                  <a:txBody>
                    <a:bodyPr>
                      <a:noAutofit/>
                    </a:bodyPr>
                    <a:lstStyle/>
                    <a:p>
                      <a:pPr algn="ctr"/>
                      <a:r>
                        <a:rPr sz="1875" b="0">
                          <a:solidFill>
                            <a:srgbClr val="142735"/>
                          </a:solidFill>
                          <a:latin typeface="Arial"/>
                          <a:ea typeface="Arial"/>
                          <a:cs typeface="Arial"/>
                        </a:rPr>
                        <a:t>8,238</a:t>
                      </a:r>
                    </a:p>
                  </a:txBody>
                  <a:tcPr marL="95250" marR="95250" marT="38100" marB="38100" anchor="ctr">
                    <a:solidFill>
                      <a:srgbClr val="FFFFFF"/>
                    </a:solidFill>
                  </a:tcPr>
                </a:tc>
                <a:tc>
                  <a:txBody>
                    <a:bodyPr>
                      <a:noAutofit/>
                    </a:bodyPr>
                    <a:lstStyle/>
                    <a:p>
                      <a:pPr algn="ctr"/>
                      <a:r>
                        <a:rPr sz="1875" b="0">
                          <a:solidFill>
                            <a:srgbClr val="142735"/>
                          </a:solidFill>
                          <a:latin typeface="Arial"/>
                          <a:ea typeface="Arial"/>
                          <a:cs typeface="Arial"/>
                        </a:rPr>
                        <a:t>Compare candidates and inspect errors</a:t>
                      </a:r>
                    </a:p>
                  </a:txBody>
                  <a:tcPr marL="95250" marR="95250" marT="38100" marB="38100" anchor="ctr">
                    <a:solidFill>
                      <a:srgbClr val="FFFFFF"/>
                    </a:solidFill>
                  </a:tcPr>
                </a:tc>
              </a:tr>
              <a:tr h="581025">
                <a:tc>
                  <a:txBody>
                    <a:bodyPr>
                      <a:noAutofit/>
                    </a:bodyPr>
                    <a:lstStyle/>
                    <a:p>
                      <a:pPr algn="l"/>
                      <a:r>
                        <a:rPr sz="1875" b="0">
                          <a:solidFill>
                            <a:srgbClr val="142735"/>
                          </a:solidFill>
                          <a:latin typeface="Arial"/>
                          <a:ea typeface="Arial"/>
                          <a:cs typeface="Arial"/>
                        </a:rPr>
                        <a:t>Test</a:t>
                      </a:r>
                    </a:p>
                  </a:txBody>
                  <a:tcPr marL="95250" marR="95250" marT="38100" marB="38100" anchor="ctr">
                    <a:solidFill>
                      <a:srgbClr val="FFFFFF"/>
                    </a:solidFill>
                  </a:tcPr>
                </a:tc>
                <a:tc>
                  <a:txBody>
                    <a:bodyPr>
                      <a:noAutofit/>
                    </a:bodyPr>
                    <a:lstStyle/>
                    <a:p>
                      <a:pPr algn="ctr"/>
                      <a:r>
                        <a:rPr sz="1875" b="0">
                          <a:solidFill>
                            <a:srgbClr val="142735"/>
                          </a:solidFill>
                          <a:latin typeface="Arial"/>
                          <a:ea typeface="Arial"/>
                          <a:cs typeface="Arial"/>
                        </a:rPr>
                        <a:t>8,237</a:t>
                      </a:r>
                    </a:p>
                  </a:txBody>
                  <a:tcPr marL="95250" marR="95250" marT="38100" marB="38100" anchor="ctr">
                    <a:solidFill>
                      <a:srgbClr val="FFFFFF"/>
                    </a:solidFill>
                  </a:tcPr>
                </a:tc>
                <a:tc>
                  <a:txBody>
                    <a:bodyPr>
                      <a:noAutofit/>
                    </a:bodyPr>
                    <a:lstStyle/>
                    <a:p>
                      <a:pPr algn="ctr"/>
                      <a:r>
                        <a:rPr sz="1875" b="0">
                          <a:solidFill>
                            <a:srgbClr val="142735"/>
                          </a:solidFill>
                          <a:latin typeface="Arial"/>
                          <a:ea typeface="Arial"/>
                          <a:cs typeface="Arial"/>
                        </a:rPr>
                        <a:t>Reserved for the final stage</a:t>
                      </a:r>
                    </a:p>
                  </a:txBody>
                  <a:tcPr marL="95250" marR="95250" marT="38100" marB="381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704FD39-AEC0-4F26-941B-60456BA4F768}"/>
              </a:ext>
            </a:extLst>
          </p:cNvPr>
          <p:cNvSpPr>
            <a:spLocks xmlns:a="http://schemas.openxmlformats.org/drawingml/2006/main" noGrp="1"/>
          </p:cNvSpPr>
          <p:nvPr/>
        </p:nvSpPr>
        <p:spPr>
          <a:xfrm xmlns:a="http://schemas.openxmlformats.org/drawingml/2006/main">
            <a:off x="609600" y="45529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47D92"/>
                </a:solidFill>
                <a:latin typeface="Arial"/>
                <a:ea typeface="Arial"/>
                <a:cs typeface="Arial"/>
              </a:defRPr>
            </a:pPr>
            <a:r>
              <a:rPr sz="2100" b="1">
                <a:solidFill>
                  <a:srgbClr val="147D92"/>
                </a:solidFill>
                <a:latin typeface="Arial"/>
                <a:ea typeface="Arial"/>
                <a:cs typeface="Arial"/>
              </a:rPr>
              <a:t>Identical predictor profiles stay together across partitions and CV folds.</a:t>
            </a:r>
          </a:p>
        </p:txBody>
      </p:sp>
      <p:sp>
        <p:nvSpPr>
          <p:cNvPr id="6" name="">
            <a:extLst xmlns:a="http://schemas.openxmlformats.org/drawingml/2006/main">
              <a:ext uri="{FF2B5EF4-FFF2-40B4-BE49-F238E27FC236}">
                <a16:creationId xmlns:a16="http://schemas.microsoft.com/office/drawing/2014/main" id="{60698448-F519-4496-B5E7-B56809C2820F}"/>
              </a:ext>
            </a:extLst>
          </p:cNvPr>
          <p:cNvSpPr>
            <a:spLocks xmlns:a="http://schemas.openxmlformats.org/drawingml/2006/main" noGrp="1"/>
          </p:cNvSpPr>
          <p:nvPr/>
        </p:nvSpPr>
        <p:spPr>
          <a:xfrm xmlns:a="http://schemas.openxmlformats.org/drawingml/2006/main">
            <a:off x="609600" y="5391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Five-fold grouped CV selects hyperparameters using positive-class F1.</a:t>
            </a:r>
          </a:p>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Random splits mix historical periods. Future-campaign performance remains untested.</a:t>
            </a:r>
          </a:p>
        </p:txBody>
      </p:sp>
    </p:spTree>
    <p:extLst>
      <p:ext uri="{BB962C8B-B14F-4D97-AF65-F5344CB8AC3E}">
        <p14:creationId xmlns:p14="http://schemas.microsoft.com/office/powerpoint/2010/main" val="19750671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DA3E98-C7D5-4D1C-A663-A1EB5FDED34E}"/>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735"/>
                </a:solidFill>
                <a:latin typeface="Arial"/>
                <a:ea typeface="Arial"/>
                <a:cs typeface="Arial"/>
              </a:defRPr>
            </a:pPr>
            <a:r>
              <a:rPr sz="3300" b="1">
                <a:solidFill>
                  <a:srgbClr val="142735"/>
                </a:solidFill>
                <a:latin typeface="Arial"/>
                <a:ea typeface="Arial"/>
                <a:cs typeface="Arial"/>
              </a:rPr>
              <a:t>Baseline and lecture algorithms</a:t>
            </a:r>
          </a:p>
        </p:txBody>
      </p:sp>
      <p:sp>
        <p:nvSpPr>
          <p:cNvPr id="2" name="">
            <a:extLst xmlns:a="http://schemas.openxmlformats.org/drawingml/2006/main">
              <a:ext uri="{FF2B5EF4-FFF2-40B4-BE49-F238E27FC236}">
                <a16:creationId xmlns:a16="http://schemas.microsoft.com/office/drawing/2014/main" id="{6F028B85-48D3-475E-9B73-2078515493D4}"/>
              </a:ext>
            </a:extLst>
          </p:cNvPr>
          <p:cNvSpPr>
            <a:spLocks xmlns:a="http://schemas.openxmlformats.org/drawingml/2006/main" noGrp="1"/>
          </p:cNvSpPr>
          <p:nvPr/>
        </p:nvSpPr>
        <p:spPr>
          <a:xfrm xmlns:a="http://schemas.openxmlformats.org/drawingml/2006/main">
            <a:off x="609600" y="1143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748B"/>
                </a:solidFill>
                <a:latin typeface="Arial"/>
                <a:ea typeface="Arial"/>
                <a:cs typeface="Arial"/>
              </a:defRPr>
            </a:pPr>
            <a:r>
              <a:rPr sz="1725" b="0">
                <a:solidFill>
                  <a:srgbClr val="64748B"/>
                </a:solidFill>
                <a:latin typeface="Arial"/>
                <a:ea typeface="Arial"/>
                <a:cs typeface="Arial"/>
              </a:rPr>
              <a:t>Settings selected by mean training-CV F1</a:t>
            </a:r>
          </a:p>
        </p:txBody>
      </p:sp>
      <p:sp>
        <p:nvSpPr>
          <p:cNvPr id="3" name="">
            <a:extLst xmlns:a="http://schemas.openxmlformats.org/drawingml/2006/main">
              <a:ext uri="{FF2B5EF4-FFF2-40B4-BE49-F238E27FC236}">
                <a16:creationId xmlns:a16="http://schemas.microsoft.com/office/drawing/2014/main" id="{4CB65A9F-A470-44E6-ACF3-D21FD2655EC9}"/>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4748B"/>
                </a:solidFill>
                <a:latin typeface="Arial"/>
                <a:ea typeface="Arial"/>
                <a:cs typeface="Arial"/>
              </a:defRPr>
            </a:pPr>
            <a:r>
              <a:rPr sz="1350" b="0">
                <a:solidFill>
                  <a:srgbClr val="64748B"/>
                </a:solidFill>
                <a:latin typeface="Arial"/>
                <a:ea typeface="Arial"/>
                <a:cs typeface="Arial"/>
              </a:rPr>
              <a:t>07</a:t>
            </a:r>
          </a:p>
        </p:txBody>
      </p:sp>
      <p:graphicFrame>
        <p:nvGraphicFramePr>
          <p:cNvPr id="9" name=""/>
          <p:cNvGraphicFramePr/>
          <p:nvPr/>
        </p:nvGraphicFramePr>
        <p:xfrm>
          <a:off xmlns:a="http://schemas.openxmlformats.org/drawingml/2006/main" x="609600" y="1828800"/>
          <a:ext xmlns:a="http://schemas.openxmlformats.org/drawingml/2006/main" cx="10972800" cy="3476625"/>
        </p:xfrm>
        <a:graphic xmlns:a="http://schemas.openxmlformats.org/drawingml/2006/main">
          <a:graphicData uri="http://schemas.openxmlformats.org/drawingml/2006/table">
            <a:tbl>
              <a:tblPr firstRow="0" bandRow="0"/>
              <a:tblGrid>
                <a:gridCol w="2000250"/>
                <a:gridCol w="4619625"/>
                <a:gridCol w="2571750"/>
                <a:gridCol w="1781175"/>
              </a:tblGrid>
              <a:tr h="695325">
                <a:tc>
                  <a:txBody>
                    <a:bodyPr>
                      <a:noAutofit/>
                    </a:bodyPr>
                    <a:lstStyle/>
                    <a:p>
                      <a:pPr algn="l"/>
                      <a:r>
                        <a:rPr sz="1800" b="1">
                          <a:solidFill>
                            <a:srgbClr val="FFFFFF"/>
                          </a:solidFill>
                          <a:latin typeface="Arial"/>
                          <a:ea typeface="Arial"/>
                          <a:cs typeface="Arial"/>
                        </a:rPr>
                        <a:t>Model</a:t>
                      </a:r>
                    </a:p>
                  </a:txBody>
                  <a:tcPr marL="95250" marR="95250" marT="38100" marB="38100" anchor="ctr">
                    <a:solidFill>
                      <a:srgbClr val="147D92"/>
                    </a:solidFill>
                  </a:tcPr>
                </a:tc>
                <a:tc>
                  <a:txBody>
                    <a:bodyPr>
                      <a:noAutofit/>
                    </a:bodyPr>
                    <a:lstStyle/>
                    <a:p>
                      <a:pPr algn="ctr"/>
                      <a:r>
                        <a:rPr sz="1800" b="1">
                          <a:solidFill>
                            <a:srgbClr val="FFFFFF"/>
                          </a:solidFill>
                          <a:latin typeface="Arial"/>
                          <a:ea typeface="Arial"/>
                          <a:cs typeface="Arial"/>
                        </a:rPr>
                        <a:t>Selected settings</a:t>
                      </a:r>
                    </a:p>
                  </a:txBody>
                  <a:tcPr marL="95250" marR="95250" marT="38100" marB="38100" anchor="ctr">
                    <a:solidFill>
                      <a:srgbClr val="147D92"/>
                    </a:solidFill>
                  </a:tcPr>
                </a:tc>
                <a:tc>
                  <a:txBody>
                    <a:bodyPr>
                      <a:noAutofit/>
                    </a:bodyPr>
                    <a:lstStyle/>
                    <a:p>
                      <a:pPr algn="ctr"/>
                      <a:r>
                        <a:rPr sz="1800" b="1">
                          <a:solidFill>
                            <a:srgbClr val="FFFFFF"/>
                          </a:solidFill>
                          <a:latin typeface="Arial"/>
                          <a:ea typeface="Arial"/>
                          <a:cs typeface="Arial"/>
                        </a:rPr>
                        <a:t>CV F1 ± SD</a:t>
                      </a:r>
                    </a:p>
                  </a:txBody>
                  <a:tcPr marL="95250" marR="95250" marT="38100" marB="38100" anchor="ctr">
                    <a:solidFill>
                      <a:srgbClr val="147D92"/>
                    </a:solidFill>
                  </a:tcPr>
                </a:tc>
                <a:tc>
                  <a:txBody>
                    <a:bodyPr>
                      <a:noAutofit/>
                    </a:bodyPr>
                    <a:lstStyle/>
                    <a:p>
                      <a:pPr algn="ctr"/>
                      <a:r>
                        <a:rPr sz="1800" b="1">
                          <a:solidFill>
                            <a:srgbClr val="FFFFFF"/>
                          </a:solidFill>
                          <a:latin typeface="Arial"/>
                          <a:ea typeface="Arial"/>
                          <a:cs typeface="Arial"/>
                        </a:rPr>
                        <a:t>Candidates</a:t>
                      </a:r>
                    </a:p>
                  </a:txBody>
                  <a:tcPr marL="95250" marR="95250" marT="38100" marB="38100" anchor="ctr">
                    <a:solidFill>
                      <a:srgbClr val="147D92"/>
                    </a:solidFill>
                  </a:tcPr>
                </a:tc>
              </a:tr>
              <a:tr h="695325">
                <a:tc>
                  <a:txBody>
                    <a:bodyPr>
                      <a:noAutofit/>
                    </a:bodyPr>
                    <a:lstStyle/>
                    <a:p>
                      <a:pPr algn="l"/>
                      <a:r>
                        <a:rPr sz="1800" b="0">
                          <a:solidFill>
                            <a:srgbClr val="142735"/>
                          </a:solidFill>
                          <a:latin typeface="Arial"/>
                          <a:ea typeface="Arial"/>
                          <a:cs typeface="Arial"/>
                        </a:rPr>
                        <a:t>Majority baseline</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Always predict no</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Not tuned</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1</a:t>
                      </a:r>
                    </a:p>
                  </a:txBody>
                  <a:tcPr marL="95250" marR="95250" marT="38100" marB="38100" anchor="ctr">
                    <a:solidFill>
                      <a:srgbClr val="FFFFFF"/>
                    </a:solidFill>
                  </a:tcPr>
                </a:tc>
              </a:tr>
              <a:tr h="695325">
                <a:tc>
                  <a:txBody>
                    <a:bodyPr>
                      <a:noAutofit/>
                    </a:bodyPr>
                    <a:lstStyle/>
                    <a:p>
                      <a:pPr algn="l"/>
                      <a:r>
                        <a:rPr sz="1800" b="0">
                          <a:solidFill>
                            <a:srgbClr val="142735"/>
                          </a:solidFill>
                          <a:latin typeface="Arial"/>
                          <a:ea typeface="Arial"/>
                          <a:cs typeface="Arial"/>
                        </a:rPr>
                        <a:t>Decision Tree</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Depth 10, minimum leaf 20</a:t>
                      </a:r>
                    </a:p>
                    <a:p>
                      <a:pPr algn="ctr"/>
                      <a:r>
                        <a:rPr sz="1800" b="0">
                          <a:solidFill>
                            <a:srgbClr val="142735"/>
                          </a:solidFill>
                          <a:latin typeface="Arial"/>
                          <a:ea typeface="Arial"/>
                          <a:cs typeface="Arial"/>
                        </a:rPr>
                        <a:t>Balanced class weights</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0.446 ± 0.023</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12</a:t>
                      </a:r>
                    </a:p>
                  </a:txBody>
                  <a:tcPr marL="95250" marR="95250" marT="38100" marB="38100" anchor="ctr">
                    <a:solidFill>
                      <a:srgbClr val="FFFFFF"/>
                    </a:solidFill>
                  </a:tcPr>
                </a:tc>
              </a:tr>
              <a:tr h="695325">
                <a:tc>
                  <a:txBody>
                    <a:bodyPr>
                      <a:noAutofit/>
                    </a:bodyPr>
                    <a:lstStyle/>
                    <a:p>
                      <a:pPr algn="l"/>
                      <a:r>
                        <a:rPr sz="1800" b="0">
                          <a:solidFill>
                            <a:srgbClr val="142735"/>
                          </a:solidFill>
                          <a:latin typeface="Arial"/>
                          <a:ea typeface="Arial"/>
                          <a:cs typeface="Arial"/>
                        </a:rPr>
                        <a:t>KNN</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15 neighbours</a:t>
                      </a:r>
                    </a:p>
                    <a:p>
                      <a:pPr algn="ctr"/>
                      <a:r>
                        <a:rPr sz="1800" b="0">
                          <a:solidFill>
                            <a:srgbClr val="142735"/>
                          </a:solidFill>
                          <a:latin typeface="Arial"/>
                          <a:ea typeface="Arial"/>
                          <a:cs typeface="Arial"/>
                        </a:rPr>
                        <a:t>Distance weighting</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0.354 ± 0.010</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6</a:t>
                      </a:r>
                    </a:p>
                  </a:txBody>
                  <a:tcPr marL="95250" marR="95250" marT="38100" marB="38100" anchor="ctr">
                    <a:solidFill>
                      <a:srgbClr val="FFFFFF"/>
                    </a:solidFill>
                  </a:tcPr>
                </a:tc>
              </a:tr>
              <a:tr h="695325">
                <a:tc>
                  <a:txBody>
                    <a:bodyPr>
                      <a:noAutofit/>
                    </a:bodyPr>
                    <a:lstStyle/>
                    <a:p>
                      <a:pPr algn="l"/>
                      <a:r>
                        <a:rPr sz="1800" b="0">
                          <a:solidFill>
                            <a:srgbClr val="142735"/>
                          </a:solidFill>
                          <a:latin typeface="Arial"/>
                          <a:ea typeface="Arial"/>
                          <a:cs typeface="Arial"/>
                        </a:rPr>
                        <a:t>Linear SVM</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Linear kernel, C = 1</a:t>
                      </a:r>
                    </a:p>
                    <a:p>
                      <a:pPr algn="ctr"/>
                      <a:r>
                        <a:rPr sz="1800" b="0">
                          <a:solidFill>
                            <a:srgbClr val="142735"/>
                          </a:solidFill>
                          <a:latin typeface="Arial"/>
                          <a:ea typeface="Arial"/>
                          <a:cs typeface="Arial"/>
                        </a:rPr>
                        <a:t>Balanced class weights</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0.448 ± 0.017</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6</a:t>
                      </a:r>
                    </a:p>
                  </a:txBody>
                  <a:tcPr marL="95250" marR="95250" marT="38100" marB="381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7B9A949-21EB-45E7-8B47-43F390098C32}"/>
              </a:ext>
            </a:extLst>
          </p:cNvPr>
          <p:cNvSpPr>
            <a:spLocks xmlns:a="http://schemas.openxmlformats.org/drawingml/2006/main" noGrp="1"/>
          </p:cNvSpPr>
          <p:nvPr/>
        </p:nvSpPr>
        <p:spPr>
          <a:xfrm xmlns:a="http://schemas.openxmlformats.org/drawingml/2006/main">
            <a:off x="609600" y="5638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All three lecture models use the same five training folds.</a:t>
            </a:r>
          </a:p>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Fold SD shows variation across folds. Selected CV scores include tuning optimism.</a:t>
            </a:r>
          </a:p>
        </p:txBody>
      </p:sp>
    </p:spTree>
    <p:extLst>
      <p:ext uri="{BB962C8B-B14F-4D97-AF65-F5344CB8AC3E}">
        <p14:creationId xmlns:p14="http://schemas.microsoft.com/office/powerpoint/2010/main" val="4557373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9B8B41-C3C6-4781-8448-35CBB52229D2}"/>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735"/>
                </a:solidFill>
                <a:latin typeface="Arial"/>
                <a:ea typeface="Arial"/>
                <a:cs typeface="Arial"/>
              </a:defRPr>
            </a:pPr>
            <a:r>
              <a:rPr sz="3300" b="1">
                <a:solidFill>
                  <a:srgbClr val="142735"/>
                </a:solidFill>
                <a:latin typeface="Arial"/>
                <a:ea typeface="Arial"/>
                <a:cs typeface="Arial"/>
              </a:rPr>
              <a:t>Validation results</a:t>
            </a:r>
          </a:p>
        </p:txBody>
      </p:sp>
      <p:sp>
        <p:nvSpPr>
          <p:cNvPr id="2" name="">
            <a:extLst xmlns:a="http://schemas.openxmlformats.org/drawingml/2006/main">
              <a:ext uri="{FF2B5EF4-FFF2-40B4-BE49-F238E27FC236}">
                <a16:creationId xmlns:a16="http://schemas.microsoft.com/office/drawing/2014/main" id="{1E54C633-5D52-47AC-A47B-72928884CEAB}"/>
              </a:ext>
            </a:extLst>
          </p:cNvPr>
          <p:cNvSpPr>
            <a:spLocks xmlns:a="http://schemas.openxmlformats.org/drawingml/2006/main" noGrp="1"/>
          </p:cNvSpPr>
          <p:nvPr/>
        </p:nvSpPr>
        <p:spPr>
          <a:xfrm xmlns:a="http://schemas.openxmlformats.org/drawingml/2006/main">
            <a:off x="609600" y="1143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748B"/>
                </a:solidFill>
                <a:latin typeface="Arial"/>
                <a:ea typeface="Arial"/>
                <a:cs typeface="Arial"/>
              </a:defRPr>
            </a:pPr>
            <a:r>
              <a:rPr sz="1725" b="0">
                <a:solidFill>
                  <a:srgbClr val="64748B"/>
                </a:solidFill>
                <a:latin typeface="Arial"/>
                <a:ea typeface="Arial"/>
                <a:cs typeface="Arial"/>
              </a:rPr>
              <a:t>Positive-class metrics on 8,238 validation records</a:t>
            </a:r>
          </a:p>
        </p:txBody>
      </p:sp>
      <p:sp>
        <p:nvSpPr>
          <p:cNvPr id="3" name="">
            <a:extLst xmlns:a="http://schemas.openxmlformats.org/drawingml/2006/main">
              <a:ext uri="{FF2B5EF4-FFF2-40B4-BE49-F238E27FC236}">
                <a16:creationId xmlns:a16="http://schemas.microsoft.com/office/drawing/2014/main" id="{2C258B45-C277-4F35-91C6-5B7AE4C1C1D0}"/>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4748B"/>
                </a:solidFill>
                <a:latin typeface="Arial"/>
                <a:ea typeface="Arial"/>
                <a:cs typeface="Arial"/>
              </a:defRPr>
            </a:pPr>
            <a:r>
              <a:rPr sz="1350" b="0">
                <a:solidFill>
                  <a:srgbClr val="64748B"/>
                </a:solidFill>
                <a:latin typeface="Arial"/>
                <a:ea typeface="Arial"/>
                <a:cs typeface="Arial"/>
              </a:rPr>
              <a:t>08</a:t>
            </a:r>
          </a:p>
        </p:txBody>
      </p:sp>
      <p:graphicFrame>
        <p:nvGraphicFramePr>
          <p:cNvPr id="10" name=""/>
          <p:cNvGraphicFramePr/>
          <p:nvPr/>
        </p:nvGraphicFramePr>
        <p:xfrm>
          <a:off xmlns:a="http://schemas.openxmlformats.org/drawingml/2006/main" x="609600" y="1847850"/>
          <a:ext xmlns:a="http://schemas.openxmlformats.org/drawingml/2006/main" cx="10972800" cy="2952750"/>
        </p:xfrm>
        <a:graphic xmlns:a="http://schemas.openxmlformats.org/drawingml/2006/main">
          <a:graphicData uri="http://schemas.openxmlformats.org/drawingml/2006/table">
            <a:tbl>
              <a:tblPr firstRow="0" bandRow="0"/>
              <a:tblGrid>
                <a:gridCol w="2571750"/>
                <a:gridCol w="1676400"/>
                <a:gridCol w="1676400"/>
                <a:gridCol w="1676400"/>
                <a:gridCol w="1676400"/>
                <a:gridCol w="1695450"/>
              </a:tblGrid>
              <a:tr h="590550">
                <a:tc>
                  <a:txBody>
                    <a:bodyPr>
                      <a:noAutofit/>
                    </a:bodyPr>
                    <a:lstStyle/>
                    <a:p>
                      <a:pPr algn="l"/>
                      <a:r>
                        <a:rPr sz="1950" b="1">
                          <a:solidFill>
                            <a:srgbClr val="FFFFFF"/>
                          </a:solidFill>
                          <a:latin typeface="Arial"/>
                          <a:ea typeface="Arial"/>
                          <a:cs typeface="Arial"/>
                        </a:rPr>
                        <a:t>Model</a:t>
                      </a:r>
                    </a:p>
                  </a:txBody>
                  <a:tcPr marL="95250" marR="95250" marT="38100" marB="38100" anchor="ctr">
                    <a:solidFill>
                      <a:srgbClr val="147D92"/>
                    </a:solidFill>
                  </a:tcPr>
                </a:tc>
                <a:tc>
                  <a:txBody>
                    <a:bodyPr>
                      <a:noAutofit/>
                    </a:bodyPr>
                    <a:lstStyle/>
                    <a:p>
                      <a:pPr algn="ctr"/>
                      <a:r>
                        <a:rPr sz="1950" b="1">
                          <a:solidFill>
                            <a:srgbClr val="FFFFFF"/>
                          </a:solidFill>
                          <a:latin typeface="Arial"/>
                          <a:ea typeface="Arial"/>
                          <a:cs typeface="Arial"/>
                        </a:rPr>
                        <a:t>Precision</a:t>
                      </a:r>
                    </a:p>
                  </a:txBody>
                  <a:tcPr marL="95250" marR="95250" marT="38100" marB="38100" anchor="ctr">
                    <a:solidFill>
                      <a:srgbClr val="147D92"/>
                    </a:solidFill>
                  </a:tcPr>
                </a:tc>
                <a:tc>
                  <a:txBody>
                    <a:bodyPr>
                      <a:noAutofit/>
                    </a:bodyPr>
                    <a:lstStyle/>
                    <a:p>
                      <a:pPr algn="ctr"/>
                      <a:r>
                        <a:rPr sz="1950" b="1">
                          <a:solidFill>
                            <a:srgbClr val="FFFFFF"/>
                          </a:solidFill>
                          <a:latin typeface="Arial"/>
                          <a:ea typeface="Arial"/>
                          <a:cs typeface="Arial"/>
                        </a:rPr>
                        <a:t>Recall</a:t>
                      </a:r>
                    </a:p>
                  </a:txBody>
                  <a:tcPr marL="95250" marR="95250" marT="38100" marB="38100" anchor="ctr">
                    <a:solidFill>
                      <a:srgbClr val="147D92"/>
                    </a:solidFill>
                  </a:tcPr>
                </a:tc>
                <a:tc>
                  <a:txBody>
                    <a:bodyPr>
                      <a:noAutofit/>
                    </a:bodyPr>
                    <a:lstStyle/>
                    <a:p>
                      <a:pPr algn="ctr"/>
                      <a:r>
                        <a:rPr sz="1950" b="1">
                          <a:solidFill>
                            <a:srgbClr val="FFFFFF"/>
                          </a:solidFill>
                          <a:latin typeface="Arial"/>
                          <a:ea typeface="Arial"/>
                          <a:cs typeface="Arial"/>
                        </a:rPr>
                        <a:t>F1</a:t>
                      </a:r>
                    </a:p>
                  </a:txBody>
                  <a:tcPr marL="95250" marR="95250" marT="38100" marB="38100" anchor="ctr">
                    <a:solidFill>
                      <a:srgbClr val="147D92"/>
                    </a:solidFill>
                  </a:tcPr>
                </a:tc>
                <a:tc>
                  <a:txBody>
                    <a:bodyPr>
                      <a:noAutofit/>
                    </a:bodyPr>
                    <a:lstStyle/>
                    <a:p>
                      <a:pPr algn="ctr"/>
                      <a:r>
                        <a:rPr sz="1950" b="1">
                          <a:solidFill>
                            <a:srgbClr val="FFFFFF"/>
                          </a:solidFill>
                          <a:latin typeface="Arial"/>
                          <a:ea typeface="Arial"/>
                          <a:cs typeface="Arial"/>
                        </a:rPr>
                        <a:t>ROC-AUC</a:t>
                      </a:r>
                    </a:p>
                  </a:txBody>
                  <a:tcPr marL="95250" marR="95250" marT="38100" marB="38100" anchor="ctr">
                    <a:solidFill>
                      <a:srgbClr val="147D92"/>
                    </a:solidFill>
                  </a:tcPr>
                </a:tc>
                <a:tc>
                  <a:txBody>
                    <a:bodyPr>
                      <a:noAutofit/>
                    </a:bodyPr>
                    <a:lstStyle/>
                    <a:p>
                      <a:pPr algn="ctr"/>
                      <a:r>
                        <a:rPr sz="1950" b="1">
                          <a:solidFill>
                            <a:srgbClr val="FFFFFF"/>
                          </a:solidFill>
                          <a:latin typeface="Arial"/>
                          <a:ea typeface="Arial"/>
                          <a:cs typeface="Arial"/>
                        </a:rPr>
                        <a:t>AP</a:t>
                      </a:r>
                    </a:p>
                  </a:txBody>
                  <a:tcPr marL="95250" marR="95250" marT="38100" marB="38100" anchor="ctr">
                    <a:solidFill>
                      <a:srgbClr val="147D92"/>
                    </a:solidFill>
                  </a:tcPr>
                </a:tc>
              </a:tr>
              <a:tr h="590550">
                <a:tc>
                  <a:txBody>
                    <a:bodyPr>
                      <a:noAutofit/>
                    </a:bodyPr>
                    <a:lstStyle/>
                    <a:p>
                      <a:pPr algn="l"/>
                      <a:r>
                        <a:rPr sz="1950" b="0">
                          <a:solidFill>
                            <a:srgbClr val="142735"/>
                          </a:solidFill>
                          <a:latin typeface="Arial"/>
                          <a:ea typeface="Arial"/>
                          <a:cs typeface="Arial"/>
                        </a:rPr>
                        <a:t>Decision Tree</a:t>
                      </a:r>
                    </a:p>
                  </a:txBody>
                  <a:tcPr marL="95250" marR="95250" marT="38100" marB="38100" anchor="ctr">
                    <a:solidFill>
                      <a:srgbClr val="E9F2F4"/>
                    </a:solidFill>
                  </a:tcPr>
                </a:tc>
                <a:tc>
                  <a:txBody>
                    <a:bodyPr>
                      <a:noAutofit/>
                    </a:bodyPr>
                    <a:lstStyle/>
                    <a:p>
                      <a:pPr algn="ctr"/>
                      <a:r>
                        <a:rPr sz="1950" b="0">
                          <a:solidFill>
                            <a:srgbClr val="142735"/>
                          </a:solidFill>
                          <a:latin typeface="Arial"/>
                          <a:ea typeface="Arial"/>
                          <a:cs typeface="Arial"/>
                        </a:rPr>
                        <a:t>0.353</a:t>
                      </a:r>
                    </a:p>
                  </a:txBody>
                  <a:tcPr marL="95250" marR="95250" marT="38100" marB="38100" anchor="ctr">
                    <a:solidFill>
                      <a:srgbClr val="E9F2F4"/>
                    </a:solidFill>
                  </a:tcPr>
                </a:tc>
                <a:tc>
                  <a:txBody>
                    <a:bodyPr>
                      <a:noAutofit/>
                    </a:bodyPr>
                    <a:lstStyle/>
                    <a:p>
                      <a:pPr algn="ctr"/>
                      <a:r>
                        <a:rPr sz="1950" b="0">
                          <a:solidFill>
                            <a:srgbClr val="142735"/>
                          </a:solidFill>
                          <a:latin typeface="Arial"/>
                          <a:ea typeface="Arial"/>
                          <a:cs typeface="Arial"/>
                        </a:rPr>
                        <a:t>0.622</a:t>
                      </a:r>
                    </a:p>
                  </a:txBody>
                  <a:tcPr marL="95250" marR="95250" marT="38100" marB="38100" anchor="ctr">
                    <a:solidFill>
                      <a:srgbClr val="E9F2F4"/>
                    </a:solidFill>
                  </a:tcPr>
                </a:tc>
                <a:tc>
                  <a:txBody>
                    <a:bodyPr>
                      <a:noAutofit/>
                    </a:bodyPr>
                    <a:lstStyle/>
                    <a:p>
                      <a:pPr algn="ctr"/>
                      <a:r>
                        <a:rPr sz="2100" b="1">
                          <a:solidFill>
                            <a:srgbClr val="147D92"/>
                          </a:solidFill>
                          <a:latin typeface="Arial"/>
                          <a:ea typeface="Arial"/>
                          <a:cs typeface="Arial"/>
                        </a:rPr>
                        <a:t>0.450</a:t>
                      </a:r>
                    </a:p>
                  </a:txBody>
                  <a:tcPr marL="95250" marR="95250" marT="38100" marB="38100" anchor="ctr">
                    <a:solidFill>
                      <a:srgbClr val="E9F2F4"/>
                    </a:solidFill>
                  </a:tcPr>
                </a:tc>
                <a:tc>
                  <a:txBody>
                    <a:bodyPr>
                      <a:noAutofit/>
                    </a:bodyPr>
                    <a:lstStyle/>
                    <a:p>
                      <a:pPr algn="ctr"/>
                      <a:r>
                        <a:rPr sz="1950" b="0">
                          <a:solidFill>
                            <a:srgbClr val="142735"/>
                          </a:solidFill>
                          <a:latin typeface="Arial"/>
                          <a:ea typeface="Arial"/>
                          <a:cs typeface="Arial"/>
                        </a:rPr>
                        <a:t>0.784</a:t>
                      </a:r>
                    </a:p>
                  </a:txBody>
                  <a:tcPr marL="95250" marR="95250" marT="38100" marB="38100" anchor="ctr">
                    <a:solidFill>
                      <a:srgbClr val="E9F2F4"/>
                    </a:solidFill>
                  </a:tcPr>
                </a:tc>
                <a:tc>
                  <a:txBody>
                    <a:bodyPr>
                      <a:noAutofit/>
                    </a:bodyPr>
                    <a:lstStyle/>
                    <a:p>
                      <a:pPr algn="ctr"/>
                      <a:r>
                        <a:rPr sz="1950" b="0">
                          <a:solidFill>
                            <a:srgbClr val="142735"/>
                          </a:solidFill>
                          <a:latin typeface="Arial"/>
                          <a:ea typeface="Arial"/>
                          <a:cs typeface="Arial"/>
                        </a:rPr>
                        <a:t>0.434</a:t>
                      </a:r>
                    </a:p>
                  </a:txBody>
                  <a:tcPr marL="95250" marR="95250" marT="38100" marB="38100" anchor="ctr">
                    <a:solidFill>
                      <a:srgbClr val="E9F2F4"/>
                    </a:solidFill>
                  </a:tcPr>
                </a:tc>
              </a:tr>
              <a:tr h="590550">
                <a:tc>
                  <a:txBody>
                    <a:bodyPr>
                      <a:noAutofit/>
                    </a:bodyPr>
                    <a:lstStyle/>
                    <a:p>
                      <a:pPr algn="l"/>
                      <a:r>
                        <a:rPr sz="1950" b="0">
                          <a:solidFill>
                            <a:srgbClr val="142735"/>
                          </a:solidFill>
                          <a:latin typeface="Arial"/>
                          <a:ea typeface="Arial"/>
                          <a:cs typeface="Arial"/>
                        </a:rPr>
                        <a:t>Linear SVM</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0.348</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0.630</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0.448</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0.791</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0.449</a:t>
                      </a:r>
                    </a:p>
                  </a:txBody>
                  <a:tcPr marL="95250" marR="95250" marT="38100" marB="38100" anchor="ctr">
                    <a:solidFill>
                      <a:srgbClr val="FFFFFF"/>
                    </a:solidFill>
                  </a:tcPr>
                </a:tc>
              </a:tr>
              <a:tr h="590550">
                <a:tc>
                  <a:txBody>
                    <a:bodyPr>
                      <a:noAutofit/>
                    </a:bodyPr>
                    <a:lstStyle/>
                    <a:p>
                      <a:pPr algn="l"/>
                      <a:r>
                        <a:rPr sz="1950" b="0">
                          <a:solidFill>
                            <a:srgbClr val="142735"/>
                          </a:solidFill>
                          <a:latin typeface="Arial"/>
                          <a:ea typeface="Arial"/>
                          <a:cs typeface="Arial"/>
                        </a:rPr>
                        <a:t>KNN</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0.585</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0.274</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0.373</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0.770</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0.414</a:t>
                      </a:r>
                    </a:p>
                  </a:txBody>
                  <a:tcPr marL="95250" marR="95250" marT="38100" marB="38100" anchor="ctr">
                    <a:solidFill>
                      <a:srgbClr val="FFFFFF"/>
                    </a:solidFill>
                  </a:tcPr>
                </a:tc>
              </a:tr>
              <a:tr h="590550">
                <a:tc>
                  <a:txBody>
                    <a:bodyPr>
                      <a:noAutofit/>
                    </a:bodyPr>
                    <a:lstStyle/>
                    <a:p>
                      <a:pPr algn="l"/>
                      <a:r>
                        <a:rPr sz="1950" b="0">
                          <a:solidFill>
                            <a:srgbClr val="142735"/>
                          </a:solidFill>
                          <a:latin typeface="Arial"/>
                          <a:ea typeface="Arial"/>
                          <a:cs typeface="Arial"/>
                        </a:rPr>
                        <a:t>Majority baseline</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0.000</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0.000</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0.000</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0.500</a:t>
                      </a:r>
                    </a:p>
                  </a:txBody>
                  <a:tcPr marL="95250" marR="95250" marT="38100" marB="38100" anchor="ctr">
                    <a:solidFill>
                      <a:srgbClr val="FFFFFF"/>
                    </a:solidFill>
                  </a:tcPr>
                </a:tc>
                <a:tc>
                  <a:txBody>
                    <a:bodyPr>
                      <a:noAutofit/>
                    </a:bodyPr>
                    <a:lstStyle/>
                    <a:p>
                      <a:pPr algn="ctr"/>
                      <a:r>
                        <a:rPr sz="1950" b="0">
                          <a:solidFill>
                            <a:srgbClr val="142735"/>
                          </a:solidFill>
                          <a:latin typeface="Arial"/>
                          <a:ea typeface="Arial"/>
                          <a:cs typeface="Arial"/>
                        </a:rPr>
                        <a:t>0.113</a:t>
                      </a:r>
                    </a:p>
                  </a:txBody>
                  <a:tcPr marL="95250" marR="95250" marT="38100" marB="381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956D19D-1C49-4236-845C-010183ABCC7A}"/>
              </a:ext>
            </a:extLst>
          </p:cNvPr>
          <p:cNvSpPr>
            <a:spLocks xmlns:a="http://schemas.openxmlformats.org/drawingml/2006/main" noGrp="1"/>
          </p:cNvSpPr>
          <p:nvPr/>
        </p:nvSpPr>
        <p:spPr>
          <a:xfrm xmlns:a="http://schemas.openxmlformats.org/drawingml/2006/main">
            <a:off x="609600" y="5191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47D92"/>
                </a:solidFill>
                <a:latin typeface="Arial"/>
                <a:ea typeface="Arial"/>
                <a:cs typeface="Arial"/>
              </a:defRPr>
            </a:pPr>
            <a:r>
              <a:rPr sz="2100" b="1">
                <a:solidFill>
                  <a:srgbClr val="147D92"/>
                </a:solidFill>
                <a:latin typeface="Arial"/>
                <a:ea typeface="Arial"/>
                <a:cs typeface="Arial"/>
              </a:rPr>
              <a:t>The tree leads by only 0.002 F1. The results support similar performance.</a:t>
            </a:r>
          </a:p>
        </p:txBody>
      </p:sp>
      <p:sp>
        <p:nvSpPr>
          <p:cNvPr id="6" name="">
            <a:extLst xmlns:a="http://schemas.openxmlformats.org/drawingml/2006/main">
              <a:ext uri="{FF2B5EF4-FFF2-40B4-BE49-F238E27FC236}">
                <a16:creationId xmlns:a16="http://schemas.microsoft.com/office/drawing/2014/main" id="{521B6C25-60B4-4DC7-9B0C-6DF8F228F0E6}"/>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735"/>
                </a:solidFill>
                <a:latin typeface="Arial"/>
                <a:ea typeface="Arial"/>
                <a:cs typeface="Arial"/>
              </a:defRPr>
            </a:pPr>
            <a:r>
              <a:rPr sz="1800" b="0">
                <a:solidFill>
                  <a:srgbClr val="142735"/>
                </a:solidFill>
                <a:latin typeface="Arial"/>
                <a:ea typeface="Arial"/>
                <a:cs typeface="Arial"/>
              </a:rPr>
              <a:t>Linear SVM has higher ROC-AUC and AP. KNN trades lower recall for higher precision.</a:t>
            </a:r>
          </a:p>
        </p:txBody>
      </p:sp>
    </p:spTree>
    <p:extLst>
      <p:ext uri="{BB962C8B-B14F-4D97-AF65-F5344CB8AC3E}">
        <p14:creationId xmlns:p14="http://schemas.microsoft.com/office/powerpoint/2010/main" val="19768963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EB4FDB-9DEF-420C-A33B-57B6E0E25E3B}"/>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735"/>
                </a:solidFill>
                <a:latin typeface="Arial"/>
                <a:ea typeface="Arial"/>
                <a:cs typeface="Arial"/>
              </a:defRPr>
            </a:pPr>
            <a:r>
              <a:rPr sz="3300" b="1">
                <a:solidFill>
                  <a:srgbClr val="142735"/>
                </a:solidFill>
                <a:latin typeface="Arial"/>
                <a:ea typeface="Arial"/>
                <a:cs typeface="Arial"/>
              </a:rPr>
              <a:t>Errors in the selected tree</a:t>
            </a:r>
          </a:p>
        </p:txBody>
      </p:sp>
      <p:sp>
        <p:nvSpPr>
          <p:cNvPr id="2" name="">
            <a:extLst xmlns:a="http://schemas.openxmlformats.org/drawingml/2006/main">
              <a:ext uri="{FF2B5EF4-FFF2-40B4-BE49-F238E27FC236}">
                <a16:creationId xmlns:a16="http://schemas.microsoft.com/office/drawing/2014/main" id="{6D18ADAC-A9BF-4725-9D07-E4BB10EE5461}"/>
              </a:ext>
            </a:extLst>
          </p:cNvPr>
          <p:cNvSpPr>
            <a:spLocks xmlns:a="http://schemas.openxmlformats.org/drawingml/2006/main" noGrp="1"/>
          </p:cNvSpPr>
          <p:nvPr/>
        </p:nvSpPr>
        <p:spPr>
          <a:xfrm xmlns:a="http://schemas.openxmlformats.org/drawingml/2006/main">
            <a:off x="609600" y="1143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748B"/>
                </a:solidFill>
                <a:latin typeface="Arial"/>
                <a:ea typeface="Arial"/>
                <a:cs typeface="Arial"/>
              </a:defRPr>
            </a:pPr>
            <a:r>
              <a:rPr sz="1725" b="0">
                <a:solidFill>
                  <a:srgbClr val="64748B"/>
                </a:solidFill>
                <a:latin typeface="Arial"/>
                <a:ea typeface="Arial"/>
                <a:cs typeface="Arial"/>
              </a:rPr>
              <a:t>Validation confusion matrix, using the default decision rule</a:t>
            </a:r>
          </a:p>
        </p:txBody>
      </p:sp>
      <p:sp>
        <p:nvSpPr>
          <p:cNvPr id="3" name="">
            <a:extLst xmlns:a="http://schemas.openxmlformats.org/drawingml/2006/main">
              <a:ext uri="{FF2B5EF4-FFF2-40B4-BE49-F238E27FC236}">
                <a16:creationId xmlns:a16="http://schemas.microsoft.com/office/drawing/2014/main" id="{3579284C-6294-4E31-848D-67BA0D1BF620}"/>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4748B"/>
                </a:solidFill>
                <a:latin typeface="Arial"/>
                <a:ea typeface="Arial"/>
                <a:cs typeface="Arial"/>
              </a:defRPr>
            </a:pPr>
            <a:r>
              <a:rPr sz="1350" b="0">
                <a:solidFill>
                  <a:srgbClr val="64748B"/>
                </a:solidFill>
                <a:latin typeface="Arial"/>
                <a:ea typeface="Arial"/>
                <a:cs typeface="Arial"/>
              </a:rPr>
              <a:t>09</a:t>
            </a:r>
          </a:p>
        </p:txBody>
      </p:sp>
      <p:graphicFrame>
        <p:nvGraphicFramePr>
          <p:cNvPr id="14" name=""/>
          <p:cNvGraphicFramePr/>
          <p:nvPr/>
        </p:nvGraphicFramePr>
        <p:xfrm>
          <a:off xmlns:a="http://schemas.openxmlformats.org/drawingml/2006/main" x="609600" y="1971675"/>
          <a:ext xmlns:a="http://schemas.openxmlformats.org/drawingml/2006/main" cx="6534150" cy="2914650"/>
        </p:xfrm>
        <a:graphic xmlns:a="http://schemas.openxmlformats.org/drawingml/2006/main">
          <a:graphicData uri="http://schemas.openxmlformats.org/drawingml/2006/table">
            <a:tbl>
              <a:tblPr firstRow="0" bandRow="0"/>
              <a:tblGrid>
                <a:gridCol w="2343150"/>
                <a:gridCol w="2095500"/>
                <a:gridCol w="2095500"/>
              </a:tblGrid>
              <a:tr h="971550">
                <a:tc>
                  <a:txBody>
                    <a:bodyPr>
                      <a:noAutofit/>
                    </a:bodyPr>
                    <a:lstStyle/>
                    <a:p>
                      <a:pPr algn="l"/>
                      <a:r>
                        <a:rPr sz="1800" b="1">
                          <a:solidFill>
                            <a:srgbClr val="FFFFFF"/>
                          </a:solidFill>
                          <a:latin typeface="Arial"/>
                          <a:ea typeface="Arial"/>
                          <a:cs typeface="Arial"/>
                        </a:rPr>
                        <a:t>Actual / predicted</a:t>
                      </a:r>
                    </a:p>
                  </a:txBody>
                  <a:tcPr marL="95250" marR="95250" marT="38100" marB="38100" anchor="ctr">
                    <a:solidFill>
                      <a:srgbClr val="147D92"/>
                    </a:solidFill>
                  </a:tcPr>
                </a:tc>
                <a:tc>
                  <a:txBody>
                    <a:bodyPr>
                      <a:noAutofit/>
                    </a:bodyPr>
                    <a:lstStyle/>
                    <a:p>
                      <a:pPr algn="ctr"/>
                      <a:r>
                        <a:rPr sz="1800" b="1">
                          <a:solidFill>
                            <a:srgbClr val="FFFFFF"/>
                          </a:solidFill>
                          <a:latin typeface="Arial"/>
                          <a:ea typeface="Arial"/>
                          <a:cs typeface="Arial"/>
                        </a:rPr>
                        <a:t>No deposit</a:t>
                      </a:r>
                    </a:p>
                  </a:txBody>
                  <a:tcPr marL="95250" marR="95250" marT="38100" marB="38100" anchor="ctr">
                    <a:solidFill>
                      <a:srgbClr val="147D92"/>
                    </a:solidFill>
                  </a:tcPr>
                </a:tc>
                <a:tc>
                  <a:txBody>
                    <a:bodyPr>
                      <a:noAutofit/>
                    </a:bodyPr>
                    <a:lstStyle/>
                    <a:p>
                      <a:pPr algn="ctr"/>
                      <a:r>
                        <a:rPr sz="1800" b="1">
                          <a:solidFill>
                            <a:srgbClr val="FFFFFF"/>
                          </a:solidFill>
                          <a:latin typeface="Arial"/>
                          <a:ea typeface="Arial"/>
                          <a:cs typeface="Arial"/>
                        </a:rPr>
                        <a:t>Deposit</a:t>
                      </a:r>
                    </a:p>
                  </a:txBody>
                  <a:tcPr marL="95250" marR="95250" marT="38100" marB="38100" anchor="ctr">
                    <a:solidFill>
                      <a:srgbClr val="147D92"/>
                    </a:solidFill>
                  </a:tcPr>
                </a:tc>
              </a:tr>
              <a:tr h="971550">
                <a:tc>
                  <a:txBody>
                    <a:bodyPr>
                      <a:noAutofit/>
                    </a:bodyPr>
                    <a:lstStyle/>
                    <a:p>
                      <a:pPr algn="l"/>
                      <a:r>
                        <a:rPr sz="1800" b="0">
                          <a:solidFill>
                            <a:srgbClr val="142735"/>
                          </a:solidFill>
                          <a:latin typeface="Arial"/>
                          <a:ea typeface="Arial"/>
                          <a:cs typeface="Arial"/>
                        </a:rPr>
                        <a:t>No deposit</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6,251</a:t>
                      </a:r>
                    </a:p>
                    <a:p>
                      <a:pPr algn="ctr"/>
                      <a:r>
                        <a:rPr sz="1800" b="0">
                          <a:solidFill>
                            <a:srgbClr val="142735"/>
                          </a:solidFill>
                          <a:latin typeface="Arial"/>
                          <a:ea typeface="Arial"/>
                          <a:cs typeface="Arial"/>
                        </a:rPr>
                        <a:t>True negatives</a:t>
                      </a:r>
                    </a:p>
                  </a:txBody>
                  <a:tcPr marL="95250" marR="95250" marT="38100" marB="38100" anchor="ctr">
                    <a:solidFill>
                      <a:srgbClr val="D9E9EF"/>
                    </a:solidFill>
                  </a:tcPr>
                </a:tc>
                <a:tc>
                  <a:txBody>
                    <a:bodyPr>
                      <a:noAutofit/>
                    </a:bodyPr>
                    <a:lstStyle/>
                    <a:p>
                      <a:pPr algn="ctr"/>
                      <a:r>
                        <a:rPr sz="1800" b="0">
                          <a:solidFill>
                            <a:srgbClr val="142735"/>
                          </a:solidFill>
                          <a:latin typeface="Arial"/>
                          <a:ea typeface="Arial"/>
                          <a:cs typeface="Arial"/>
                        </a:rPr>
                        <a:t>1,059</a:t>
                      </a:r>
                    </a:p>
                    <a:p>
                      <a:pPr algn="ctr"/>
                      <a:r>
                        <a:rPr sz="1800" b="0">
                          <a:solidFill>
                            <a:srgbClr val="142735"/>
                          </a:solidFill>
                          <a:latin typeface="Arial"/>
                          <a:ea typeface="Arial"/>
                          <a:cs typeface="Arial"/>
                        </a:rPr>
                        <a:t>False positives</a:t>
                      </a:r>
                    </a:p>
                  </a:txBody>
                  <a:tcPr marL="95250" marR="95250" marT="38100" marB="38100" anchor="ctr">
                    <a:solidFill>
                      <a:srgbClr val="FFFFFF"/>
                    </a:solidFill>
                  </a:tcPr>
                </a:tc>
              </a:tr>
              <a:tr h="971550">
                <a:tc>
                  <a:txBody>
                    <a:bodyPr>
                      <a:noAutofit/>
                    </a:bodyPr>
                    <a:lstStyle/>
                    <a:p>
                      <a:pPr algn="l"/>
                      <a:r>
                        <a:rPr sz="1800" b="0">
                          <a:solidFill>
                            <a:srgbClr val="142735"/>
                          </a:solidFill>
                          <a:latin typeface="Arial"/>
                          <a:ea typeface="Arial"/>
                          <a:cs typeface="Arial"/>
                        </a:rPr>
                        <a:t>Deposit</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351</a:t>
                      </a:r>
                    </a:p>
                    <a:p>
                      <a:pPr algn="ctr"/>
                      <a:r>
                        <a:rPr sz="1800" b="0">
                          <a:solidFill>
                            <a:srgbClr val="142735"/>
                          </a:solidFill>
                          <a:latin typeface="Arial"/>
                          <a:ea typeface="Arial"/>
                          <a:cs typeface="Arial"/>
                        </a:rPr>
                        <a:t>False negatives</a:t>
                      </a:r>
                    </a:p>
                  </a:txBody>
                  <a:tcPr marL="95250" marR="95250" marT="38100" marB="38100" anchor="ctr">
                    <a:solidFill>
                      <a:srgbClr val="FFFFFF"/>
                    </a:solidFill>
                  </a:tcPr>
                </a:tc>
                <a:tc>
                  <a:txBody>
                    <a:bodyPr>
                      <a:noAutofit/>
                    </a:bodyPr>
                    <a:lstStyle/>
                    <a:p>
                      <a:pPr algn="ctr"/>
                      <a:r>
                        <a:rPr sz="1800" b="0">
                          <a:solidFill>
                            <a:srgbClr val="142735"/>
                          </a:solidFill>
                          <a:latin typeface="Arial"/>
                          <a:ea typeface="Arial"/>
                          <a:cs typeface="Arial"/>
                        </a:rPr>
                        <a:t>577</a:t>
                      </a:r>
                    </a:p>
                    <a:p>
                      <a:pPr algn="ctr"/>
                      <a:r>
                        <a:rPr sz="1800" b="0">
                          <a:solidFill>
                            <a:srgbClr val="142735"/>
                          </a:solidFill>
                          <a:latin typeface="Arial"/>
                          <a:ea typeface="Arial"/>
                          <a:cs typeface="Arial"/>
                        </a:rPr>
                        <a:t>True positives</a:t>
                      </a:r>
                    </a:p>
                  </a:txBody>
                  <a:tcPr marL="95250" marR="95250" marT="38100" marB="38100" anchor="ctr">
                    <a:solidFill>
                      <a:srgbClr val="C5E0E4"/>
                    </a:solidFill>
                  </a:tcPr>
                </a:tc>
              </a:tr>
            </a:tbl>
          </a:graphicData>
        </a:graphic>
      </p:graphicFrame>
      <p:sp>
        <p:nvSpPr>
          <p:cNvPr id="5" name="">
            <a:extLst xmlns:a="http://schemas.openxmlformats.org/drawingml/2006/main">
              <a:ext uri="{FF2B5EF4-FFF2-40B4-BE49-F238E27FC236}">
                <a16:creationId xmlns:a16="http://schemas.microsoft.com/office/drawing/2014/main" id="{844CE6ED-C2AC-4B88-88EF-B69EC975AEDC}"/>
              </a:ext>
            </a:extLst>
          </p:cNvPr>
          <p:cNvSpPr>
            <a:spLocks xmlns:a="http://schemas.openxmlformats.org/drawingml/2006/main" noGrp="1"/>
          </p:cNvSpPr>
          <p:nvPr/>
        </p:nvSpPr>
        <p:spPr>
          <a:xfrm xmlns:a="http://schemas.openxmlformats.org/drawingml/2006/main">
            <a:off x="7858125" y="20574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147D92"/>
                </a:solidFill>
                <a:latin typeface="Arial"/>
                <a:ea typeface="Arial"/>
                <a:cs typeface="Arial"/>
              </a:defRPr>
            </a:pPr>
            <a:r>
              <a:rPr sz="4200" b="1">
                <a:solidFill>
                  <a:srgbClr val="147D92"/>
                </a:solidFill>
                <a:latin typeface="Arial"/>
                <a:ea typeface="Arial"/>
                <a:cs typeface="Arial"/>
              </a:rPr>
              <a:t>62.2%</a:t>
            </a:r>
          </a:p>
        </p:txBody>
      </p:sp>
      <p:sp>
        <p:nvSpPr>
          <p:cNvPr id="6" name="">
            <a:extLst xmlns:a="http://schemas.openxmlformats.org/drawingml/2006/main">
              <a:ext uri="{FF2B5EF4-FFF2-40B4-BE49-F238E27FC236}">
                <a16:creationId xmlns:a16="http://schemas.microsoft.com/office/drawing/2014/main" id="{2CA616BE-84B2-4511-882B-76F7573C535F}"/>
              </a:ext>
            </a:extLst>
          </p:cNvPr>
          <p:cNvSpPr>
            <a:spLocks xmlns:a="http://schemas.openxmlformats.org/drawingml/2006/main" noGrp="1"/>
          </p:cNvSpPr>
          <p:nvPr/>
        </p:nvSpPr>
        <p:spPr>
          <a:xfrm xmlns:a="http://schemas.openxmlformats.org/drawingml/2006/main">
            <a:off x="7858125" y="27241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of actual subscriptions found</a:t>
            </a:r>
          </a:p>
        </p:txBody>
      </p:sp>
      <p:sp>
        <p:nvSpPr>
          <p:cNvPr id="7" name="">
            <a:extLst xmlns:a="http://schemas.openxmlformats.org/drawingml/2006/main">
              <a:ext uri="{FF2B5EF4-FFF2-40B4-BE49-F238E27FC236}">
                <a16:creationId xmlns:a16="http://schemas.microsoft.com/office/drawing/2014/main" id="{039F0272-F69B-4873-B3C5-1EF4CDAF62F7}"/>
              </a:ext>
            </a:extLst>
          </p:cNvPr>
          <p:cNvSpPr>
            <a:spLocks xmlns:a="http://schemas.openxmlformats.org/drawingml/2006/main" noGrp="1"/>
          </p:cNvSpPr>
          <p:nvPr/>
        </p:nvSpPr>
        <p:spPr>
          <a:xfrm xmlns:a="http://schemas.openxmlformats.org/drawingml/2006/main">
            <a:off x="7858125" y="355282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D97B47"/>
                </a:solidFill>
                <a:latin typeface="Arial"/>
                <a:ea typeface="Arial"/>
                <a:cs typeface="Arial"/>
              </a:defRPr>
            </a:pPr>
            <a:r>
              <a:rPr sz="4200" b="1">
                <a:solidFill>
                  <a:srgbClr val="D97B47"/>
                </a:solidFill>
                <a:latin typeface="Arial"/>
                <a:ea typeface="Arial"/>
                <a:cs typeface="Arial"/>
              </a:rPr>
              <a:t>35.3%</a:t>
            </a:r>
          </a:p>
        </p:txBody>
      </p:sp>
      <p:sp>
        <p:nvSpPr>
          <p:cNvPr id="8" name="">
            <a:extLst xmlns:a="http://schemas.openxmlformats.org/drawingml/2006/main">
              <a:ext uri="{FF2B5EF4-FFF2-40B4-BE49-F238E27FC236}">
                <a16:creationId xmlns:a16="http://schemas.microsoft.com/office/drawing/2014/main" id="{9006F3FC-CD38-40D0-A305-1D4C5CA2FBDD}"/>
              </a:ext>
            </a:extLst>
          </p:cNvPr>
          <p:cNvSpPr>
            <a:spLocks xmlns:a="http://schemas.openxmlformats.org/drawingml/2006/main" noGrp="1"/>
          </p:cNvSpPr>
          <p:nvPr/>
        </p:nvSpPr>
        <p:spPr>
          <a:xfrm xmlns:a="http://schemas.openxmlformats.org/drawingml/2006/main">
            <a:off x="7858125" y="42195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735"/>
                </a:solidFill>
                <a:latin typeface="Arial"/>
                <a:ea typeface="Arial"/>
                <a:cs typeface="Arial"/>
              </a:defRPr>
            </a:pPr>
            <a:r>
              <a:rPr sz="1875" b="0">
                <a:solidFill>
                  <a:srgbClr val="142735"/>
                </a:solidFill>
                <a:latin typeface="Arial"/>
                <a:ea typeface="Arial"/>
                <a:cs typeface="Arial"/>
              </a:rPr>
              <a:t>of positive predictions correct</a:t>
            </a:r>
          </a:p>
        </p:txBody>
      </p:sp>
      <p:sp>
        <p:nvSpPr>
          <p:cNvPr id="9" name="">
            <a:extLst xmlns:a="http://schemas.openxmlformats.org/drawingml/2006/main">
              <a:ext uri="{FF2B5EF4-FFF2-40B4-BE49-F238E27FC236}">
                <a16:creationId xmlns:a16="http://schemas.microsoft.com/office/drawing/2014/main" id="{D230D170-8C4C-4F36-A811-C4719ABA8C0C}"/>
              </a:ext>
            </a:extLst>
          </p:cNvPr>
          <p:cNvSpPr>
            <a:spLocks xmlns:a="http://schemas.openxmlformats.org/drawingml/2006/main" noGrp="1"/>
          </p:cNvSpPr>
          <p:nvPr/>
        </p:nvSpPr>
        <p:spPr>
          <a:xfrm xmlns:a="http://schemas.openxmlformats.org/drawingml/2006/main">
            <a:off x="609600" y="52673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42735"/>
                </a:solidFill>
                <a:latin typeface="Arial"/>
                <a:ea typeface="Arial"/>
                <a:cs typeface="Arial"/>
              </a:defRPr>
            </a:pPr>
            <a:r>
              <a:rPr sz="2100" b="1">
                <a:solidFill>
                  <a:srgbClr val="142735"/>
                </a:solidFill>
                <a:latin typeface="Arial"/>
                <a:ea typeface="Arial"/>
                <a:cs typeface="Arial"/>
              </a:rPr>
              <a:t>351 missed subscriptions and 1,059 false alarms show the contact trade-off.</a:t>
            </a:r>
          </a:p>
        </p:txBody>
      </p:sp>
      <p:sp>
        <p:nvSpPr>
          <p:cNvPr id="10" name="">
            <a:extLst xmlns:a="http://schemas.openxmlformats.org/drawingml/2006/main">
              <a:ext uri="{FF2B5EF4-FFF2-40B4-BE49-F238E27FC236}">
                <a16:creationId xmlns:a16="http://schemas.microsoft.com/office/drawing/2014/main" id="{1E8566E4-7028-4672-AE61-F5FD1CEC8082}"/>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4748B"/>
                </a:solidFill>
                <a:latin typeface="Arial"/>
                <a:ea typeface="Arial"/>
                <a:cs typeface="Arial"/>
              </a:defRPr>
            </a:pPr>
            <a:r>
              <a:rPr sz="1800" b="0">
                <a:solidFill>
                  <a:srgbClr val="64748B"/>
                </a:solidFill>
                <a:latin typeface="Arial"/>
                <a:ea typeface="Arial"/>
                <a:cs typeface="Arial"/>
              </a:rPr>
              <a:t>KNN also shows a large train/validation F1 gap: 0.972 versus 0.373.</a:t>
            </a:r>
          </a:p>
        </p:txBody>
      </p:sp>
    </p:spTree>
    <p:extLst>
      <p:ext uri="{BB962C8B-B14F-4D97-AF65-F5344CB8AC3E}">
        <p14:creationId xmlns:p14="http://schemas.microsoft.com/office/powerpoint/2010/main" val="1532379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C9EA51-EDAD-426A-A312-C70F6F6BE4A2}"/>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735"/>
                </a:solidFill>
                <a:latin typeface="Arial"/>
                <a:ea typeface="Arial"/>
                <a:cs typeface="Arial"/>
              </a:defRPr>
            </a:pPr>
            <a:r>
              <a:rPr sz="3300" b="1">
                <a:solidFill>
                  <a:srgbClr val="142735"/>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59D4E0AF-BFD3-49F2-9C2B-F5626CA43E60}"/>
              </a:ext>
            </a:extLst>
          </p:cNvPr>
          <p:cNvSpPr>
            <a:spLocks xmlns:a="http://schemas.openxmlformats.org/drawingml/2006/main" noGrp="1"/>
          </p:cNvSpPr>
          <p:nvPr/>
        </p:nvSpPr>
        <p:spPr>
          <a:xfrm xmlns:a="http://schemas.openxmlformats.org/drawingml/2006/main">
            <a:off x="111442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4748B"/>
                </a:solidFill>
                <a:latin typeface="Arial"/>
                <a:ea typeface="Arial"/>
                <a:cs typeface="Arial"/>
              </a:defRPr>
            </a:pPr>
            <a:r>
              <a:rPr sz="1350" b="0">
                <a:solidFill>
                  <a:srgbClr val="64748B"/>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1331E254-643A-461C-9204-C8E2198E9A30}"/>
              </a:ext>
            </a:extLst>
          </p:cNvPr>
          <p:cNvSpPr>
            <a:spLocks xmlns:a="http://schemas.openxmlformats.org/drawingml/2006/main" noGrp="1"/>
          </p:cNvSpPr>
          <p:nvPr/>
        </p:nvSpPr>
        <p:spPr>
          <a:xfrm xmlns:a="http://schemas.openxmlformats.org/drawingml/2006/main">
            <a:off x="609600" y="1724025"/>
            <a:ext cx="62103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735"/>
                </a:solidFill>
                <a:latin typeface="Arial"/>
                <a:ea typeface="Arial"/>
                <a:cs typeface="Arial"/>
              </a:defRPr>
            </a:pPr>
            <a:r>
              <a:rPr sz="2625" b="1">
                <a:solidFill>
                  <a:srgbClr val="142735"/>
                </a:solidFill>
                <a:latin typeface="Arial"/>
                <a:ea typeface="Arial"/>
                <a:cs typeface="Arial"/>
              </a:rPr>
              <a:t>The models identify subscribers</a:t>
            </a:r>
          </a:p>
          <a:p xmlns:a="http://schemas.openxmlformats.org/drawingml/2006/main">
            <a:pPr algn="l">
              <a:defRPr sz="2625" b="1">
                <a:solidFill>
                  <a:srgbClr val="142735"/>
                </a:solidFill>
                <a:latin typeface="Arial"/>
                <a:ea typeface="Arial"/>
                <a:cs typeface="Arial"/>
              </a:defRPr>
            </a:pPr>
            <a:r>
              <a:rPr sz="2625" b="1">
                <a:solidFill>
                  <a:srgbClr val="142735"/>
                </a:solidFill>
                <a:latin typeface="Arial"/>
                <a:ea typeface="Arial"/>
                <a:cs typeface="Arial"/>
              </a:rPr>
              <a:t>better than the majority baseline</a:t>
            </a:r>
          </a:p>
          <a:p xmlns:a="http://schemas.openxmlformats.org/drawingml/2006/main">
            <a:pPr algn="l">
              <a:defRPr sz="2625" b="1">
                <a:solidFill>
                  <a:srgbClr val="142735"/>
                </a:solidFill>
                <a:latin typeface="Arial"/>
                <a:ea typeface="Arial"/>
                <a:cs typeface="Arial"/>
              </a:defRPr>
            </a:pPr>
            <a:r>
              <a:rPr sz="2625" b="1">
                <a:solidFill>
                  <a:srgbClr val="142735"/>
                </a:solidFill>
                <a:latin typeface="Arial"/>
                <a:ea typeface="Arial"/>
                <a:cs typeface="Arial"/>
              </a:rPr>
              <a:t>on positive-class F1.</a:t>
            </a:r>
          </a:p>
        </p:txBody>
      </p:sp>
      <p:sp>
        <p:nvSpPr>
          <p:cNvPr id="4" name="">
            <a:extLst xmlns:a="http://schemas.openxmlformats.org/drawingml/2006/main">
              <a:ext uri="{FF2B5EF4-FFF2-40B4-BE49-F238E27FC236}">
                <a16:creationId xmlns:a16="http://schemas.microsoft.com/office/drawing/2014/main" id="{E93413A4-5E4E-4BE5-B032-4162C780519C}"/>
              </a:ext>
            </a:extLst>
          </p:cNvPr>
          <p:cNvSpPr>
            <a:spLocks xmlns:a="http://schemas.openxmlformats.org/drawingml/2006/main" noGrp="1"/>
          </p:cNvSpPr>
          <p:nvPr/>
        </p:nvSpPr>
        <p:spPr>
          <a:xfrm xmlns:a="http://schemas.openxmlformats.org/drawingml/2006/main">
            <a:off x="609600" y="3543300"/>
            <a:ext cx="619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47D92"/>
                </a:solidFill>
                <a:latin typeface="Arial"/>
                <a:ea typeface="Arial"/>
                <a:cs typeface="Arial"/>
              </a:defRPr>
            </a:pPr>
            <a:r>
              <a:rPr sz="2850" b="1">
                <a:solidFill>
                  <a:srgbClr val="147D92"/>
                </a:solidFill>
                <a:latin typeface="Arial"/>
                <a:ea typeface="Arial"/>
                <a:cs typeface="Arial"/>
              </a:rPr>
              <a:t>Decision Tree: 0.450 F1</a:t>
            </a:r>
          </a:p>
          <a:p xmlns:a="http://schemas.openxmlformats.org/drawingml/2006/main">
            <a:pPr algn="l">
              <a:defRPr sz="2850" b="1">
                <a:solidFill>
                  <a:srgbClr val="147D92"/>
                </a:solidFill>
                <a:latin typeface="Arial"/>
                <a:ea typeface="Arial"/>
                <a:cs typeface="Arial"/>
              </a:defRPr>
            </a:pPr>
            <a:r>
              <a:rPr sz="2850" b="1">
                <a:solidFill>
                  <a:srgbClr val="147D92"/>
                </a:solidFill>
                <a:latin typeface="Arial"/>
                <a:ea typeface="Arial"/>
                <a:cs typeface="Arial"/>
              </a:rPr>
              <a:t>Linear SVM: 0.448 F1</a:t>
            </a:r>
          </a:p>
        </p:txBody>
      </p:sp>
      <p:sp>
        <p:nvSpPr>
          <p:cNvPr id="5" name="">
            <a:extLst xmlns:a="http://schemas.openxmlformats.org/drawingml/2006/main">
              <a:ext uri="{FF2B5EF4-FFF2-40B4-BE49-F238E27FC236}">
                <a16:creationId xmlns:a16="http://schemas.microsoft.com/office/drawing/2014/main" id="{54BE1228-437D-4893-8045-AE9858EA6AE4}"/>
              </a:ext>
            </a:extLst>
          </p:cNvPr>
          <p:cNvSpPr>
            <a:spLocks xmlns:a="http://schemas.openxmlformats.org/drawingml/2006/main" noGrp="1"/>
          </p:cNvSpPr>
          <p:nvPr/>
        </p:nvSpPr>
        <p:spPr>
          <a:xfrm xmlns:a="http://schemas.openxmlformats.org/drawingml/2006/main">
            <a:off x="609600" y="4981575"/>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735"/>
                </a:solidFill>
                <a:latin typeface="Arial"/>
                <a:ea typeface="Arial"/>
                <a:cs typeface="Arial"/>
              </a:defRPr>
            </a:pPr>
            <a:r>
              <a:rPr sz="1950" b="0">
                <a:solidFill>
                  <a:srgbClr val="142735"/>
                </a:solidFill>
                <a:latin typeface="Arial"/>
                <a:ea typeface="Arial"/>
                <a:cs typeface="Arial"/>
              </a:rPr>
              <a:t>Their narrow gap supports keeping</a:t>
            </a:r>
          </a:p>
          <a:p xmlns:a="http://schemas.openxmlformats.org/drawingml/2006/main">
            <a:pPr algn="l">
              <a:defRPr sz="1950" b="0">
                <a:solidFill>
                  <a:srgbClr val="142735"/>
                </a:solidFill>
                <a:latin typeface="Arial"/>
                <a:ea typeface="Arial"/>
                <a:cs typeface="Arial"/>
              </a:defRPr>
            </a:pPr>
            <a:r>
              <a:rPr sz="1950" b="0">
                <a:solidFill>
                  <a:srgbClr val="142735"/>
                </a:solidFill>
                <a:latin typeface="Arial"/>
                <a:ea typeface="Arial"/>
                <a:cs typeface="Arial"/>
              </a:rPr>
              <a:t>both as candidates for the final stage.</a:t>
            </a:r>
          </a:p>
        </p:txBody>
      </p:sp>
      <p:sp>
        <p:nvSpPr>
          <p:cNvPr id="6" name="">
            <a:extLst xmlns:a="http://schemas.openxmlformats.org/drawingml/2006/main">
              <a:ext uri="{FF2B5EF4-FFF2-40B4-BE49-F238E27FC236}">
                <a16:creationId xmlns:a16="http://schemas.microsoft.com/office/drawing/2014/main" id="{D8E2F986-2CC8-4674-987A-0F4A3B104820}"/>
              </a:ext>
            </a:extLst>
          </p:cNvPr>
          <p:cNvSpPr>
            <a:spLocks xmlns:a="http://schemas.openxmlformats.org/drawingml/2006/main" noGrp="1"/>
          </p:cNvSpPr>
          <p:nvPr/>
        </p:nvSpPr>
        <p:spPr>
          <a:xfrm xmlns:a="http://schemas.openxmlformats.org/drawingml/2006/main">
            <a:off x="7419975" y="1762125"/>
            <a:ext cx="4171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2735"/>
                </a:solidFill>
                <a:latin typeface="Arial"/>
                <a:ea typeface="Arial"/>
                <a:cs typeface="Arial"/>
              </a:defRPr>
            </a:pPr>
            <a:r>
              <a:rPr sz="2250" b="1">
                <a:solidFill>
                  <a:srgbClr val="142735"/>
                </a:solidFill>
                <a:latin typeface="Arial"/>
                <a:ea typeface="Arial"/>
                <a:cs typeface="Arial"/>
              </a:rPr>
              <a:t>Final-stage plan</a:t>
            </a:r>
          </a:p>
        </p:txBody>
      </p:sp>
      <p:sp>
        <p:nvSpPr>
          <p:cNvPr id="7" name="">
            <a:extLst xmlns:a="http://schemas.openxmlformats.org/drawingml/2006/main">
              <a:ext uri="{FF2B5EF4-FFF2-40B4-BE49-F238E27FC236}">
                <a16:creationId xmlns:a16="http://schemas.microsoft.com/office/drawing/2014/main" id="{871D9948-19A5-4565-A610-A171B0BB3A7A}"/>
              </a:ext>
            </a:extLst>
          </p:cNvPr>
          <p:cNvSpPr>
            <a:spLocks xmlns:a="http://schemas.openxmlformats.org/drawingml/2006/main" noGrp="1"/>
          </p:cNvSpPr>
          <p:nvPr/>
        </p:nvSpPr>
        <p:spPr>
          <a:xfrm xmlns:a="http://schemas.openxmlformats.org/drawingml/2006/main">
            <a:off x="7419975" y="2428875"/>
            <a:ext cx="417195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4748B"/>
                </a:solidFill>
                <a:latin typeface="Arial"/>
                <a:ea typeface="Arial"/>
                <a:cs typeface="Arial"/>
              </a:defRPr>
            </a:pPr>
            <a:r>
              <a:rPr sz="1950" b="0">
                <a:solidFill>
                  <a:srgbClr val="64748B"/>
                </a:solidFill>
                <a:latin typeface="Arial"/>
                <a:ea typeface="Arial"/>
                <a:cs typeface="Arial"/>
              </a:rPr>
              <a:t>Check temporal stability</a:t>
            </a:r>
          </a:p>
          <a:p xmlns:a="http://schemas.openxmlformats.org/drawingml/2006/main">
            <a:pPr algn="l">
              <a:defRPr sz="1950" b="0">
                <a:solidFill>
                  <a:srgbClr val="64748B"/>
                </a:solidFill>
                <a:latin typeface="Arial"/>
                <a:ea typeface="Arial"/>
                <a:cs typeface="Arial"/>
              </a:defRPr>
            </a:pPr>
            <a:r>
              <a:rPr sz="1950" b="0">
                <a:solidFill>
                  <a:srgbClr val="64748B"/>
                </a:solidFill>
                <a:latin typeface="Arial"/>
                <a:ea typeface="Arial"/>
                <a:cs typeface="Arial"/>
              </a:rPr>
              <a:t>and feature availability.</a:t>
            </a:r>
          </a:p>
          <a:p xmlns:a="http://schemas.openxmlformats.org/drawingml/2006/main">
            <a:r>
              <a:t/>
            </a:r>
          </a:p>
          <a:p xmlns:a="http://schemas.openxmlformats.org/drawingml/2006/main">
            <a:pPr algn="l">
              <a:defRPr sz="1950" b="0">
                <a:solidFill>
                  <a:srgbClr val="64748B"/>
                </a:solidFill>
                <a:latin typeface="Arial"/>
                <a:ea typeface="Arial"/>
                <a:cs typeface="Arial"/>
              </a:defRPr>
            </a:pPr>
            <a:r>
              <a:rPr sz="1950" b="0">
                <a:solidFill>
                  <a:srgbClr val="64748B"/>
                </a:solidFill>
                <a:latin typeface="Arial"/>
                <a:ea typeface="Arial"/>
                <a:cs typeface="Arial"/>
              </a:rPr>
              <a:t>Choose a threshold from</a:t>
            </a:r>
          </a:p>
          <a:p xmlns:a="http://schemas.openxmlformats.org/drawingml/2006/main">
            <a:pPr algn="l">
              <a:defRPr sz="1950" b="0">
                <a:solidFill>
                  <a:srgbClr val="64748B"/>
                </a:solidFill>
                <a:latin typeface="Arial"/>
                <a:ea typeface="Arial"/>
                <a:cs typeface="Arial"/>
              </a:defRPr>
            </a:pPr>
            <a:r>
              <a:rPr sz="1950" b="0">
                <a:solidFill>
                  <a:srgbClr val="64748B"/>
                </a:solidFill>
                <a:latin typeface="Arial"/>
                <a:ea typeface="Arial"/>
                <a:cs typeface="Arial"/>
              </a:rPr>
              <a:t>development data.</a:t>
            </a:r>
          </a:p>
          <a:p xmlns:a="http://schemas.openxmlformats.org/drawingml/2006/main">
            <a:r>
              <a:t/>
            </a:r>
          </a:p>
          <a:p xmlns:a="http://schemas.openxmlformats.org/drawingml/2006/main">
            <a:pPr algn="l">
              <a:defRPr sz="1950" b="0">
                <a:solidFill>
                  <a:srgbClr val="64748B"/>
                </a:solidFill>
                <a:latin typeface="Arial"/>
                <a:ea typeface="Arial"/>
                <a:cs typeface="Arial"/>
              </a:defRPr>
            </a:pPr>
            <a:r>
              <a:rPr sz="1950" b="0">
                <a:solidFill>
                  <a:srgbClr val="64748B"/>
                </a:solidFill>
                <a:latin typeface="Arial"/>
                <a:ea typeface="Arial"/>
                <a:cs typeface="Arial"/>
              </a:rPr>
              <a:t>Freeze decisions, then evaluate</a:t>
            </a:r>
          </a:p>
          <a:p xmlns:a="http://schemas.openxmlformats.org/drawingml/2006/main">
            <a:pPr algn="l">
              <a:defRPr sz="1950" b="0">
                <a:solidFill>
                  <a:srgbClr val="64748B"/>
                </a:solidFill>
                <a:latin typeface="Arial"/>
                <a:ea typeface="Arial"/>
                <a:cs typeface="Arial"/>
              </a:defRPr>
            </a:pPr>
            <a:r>
              <a:rPr sz="1950" b="0">
                <a:solidFill>
                  <a:srgbClr val="64748B"/>
                </a:solidFill>
                <a:latin typeface="Arial"/>
                <a:ea typeface="Arial"/>
                <a:cs typeface="Arial"/>
              </a:rPr>
              <a:t>the reserved test partition.</a:t>
            </a:r>
          </a:p>
        </p:txBody>
      </p:sp>
      <p:sp>
        <p:nvSpPr>
          <p:cNvPr id="8" name="">
            <a:extLst xmlns:a="http://schemas.openxmlformats.org/drawingml/2006/main">
              <a:ext uri="{FF2B5EF4-FFF2-40B4-BE49-F238E27FC236}">
                <a16:creationId xmlns:a16="http://schemas.microsoft.com/office/drawing/2014/main" id="{FF0DF9BE-AEBC-43F5-A2E0-1A84008951A0}"/>
              </a:ext>
            </a:extLst>
          </p:cNvPr>
          <p:cNvSpPr>
            <a:spLocks xmlns:a="http://schemas.openxmlformats.org/drawingml/2006/main" noGrp="1"/>
          </p:cNvSpPr>
          <p:nvPr/>
        </p:nvSpPr>
        <p:spPr>
          <a:xfrm xmlns:a="http://schemas.openxmlformats.org/drawingml/2006/main">
            <a:off x="609600" y="6105525"/>
            <a:ext cx="10572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748B"/>
                </a:solidFill>
                <a:latin typeface="Arial"/>
                <a:ea typeface="Arial"/>
                <a:cs typeface="Arial"/>
              </a:defRPr>
            </a:pPr>
            <a:r>
              <a:rPr sz="1725" b="0">
                <a:solidFill>
                  <a:srgbClr val="64748B"/>
                </a:solidFill>
                <a:latin typeface="Arial"/>
                <a:ea typeface="Arial"/>
                <a:cs typeface="Arial"/>
              </a:rPr>
              <a:t>Historical data and missing client IDs limit generalization.</a:t>
            </a:r>
          </a:p>
        </p:txBody>
      </p:sp>
    </p:spTree>
    <p:extLst>
      <p:ext uri="{BB962C8B-B14F-4D97-AF65-F5344CB8AC3E}">
        <p14:creationId xmlns:p14="http://schemas.microsoft.com/office/powerpoint/2010/main" val="9763931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2026-10-06T22:31:20.7770000Z</dcterms:created>
  <dcterms:modified xsi:type="dcterms:W3CDTF">2026-10-06T22:31:20.7770000Z</dcterms:modified>
</coreProperties>
</file>